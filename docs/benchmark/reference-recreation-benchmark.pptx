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2a1a8b6274895" /><Relationship Type="http://schemas.openxmlformats.org/officeDocument/2006/relationships/extended-properties" Target="/docProps/app.xml" Id="Rf2884c18c6f94952" /><Relationship Type="http://schemas.openxmlformats.org/officeDocument/2006/relationships/officeDocument" Target="/ppt/presentation.xml" Id="Ra42165b6c110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0ad3b5428435c"/>
  </p:sldMasterIdLst>
  <p:notesMasterIdLst>
    <p:notesMasterId xmlns:r="http://schemas.openxmlformats.org/officeDocument/2006/relationships" r:id="Rfaa1677ecbd2487c"/>
  </p:notesMasterIdLst>
  <p:sldIdLst>
    <p:sldId xmlns:r="http://schemas.openxmlformats.org/officeDocument/2006/relationships" id="256" r:id="R3f1e74958d3243c4"/>
    <p:sldId xmlns:r="http://schemas.openxmlformats.org/officeDocument/2006/relationships" id="257" r:id="R3b2aaa8fceab4e5e"/>
    <p:sldId xmlns:r="http://schemas.openxmlformats.org/officeDocument/2006/relationships" id="258" r:id="R15a83fef04a44210"/>
    <p:sldId xmlns:r="http://schemas.openxmlformats.org/officeDocument/2006/relationships" id="259" r:id="Rcefbd59442d74114"/>
    <p:sldId xmlns:r="http://schemas.openxmlformats.org/officeDocument/2006/relationships" id="260" r:id="R02ecde826ff44d7c"/>
    <p:sldId xmlns:r="http://schemas.openxmlformats.org/officeDocument/2006/relationships" id="261" r:id="R36286cd2113c49d2"/>
    <p:sldId xmlns:r="http://schemas.openxmlformats.org/officeDocument/2006/relationships" id="262" r:id="R2041e823b63d48fb"/>
    <p:sldId xmlns:r="http://schemas.openxmlformats.org/officeDocument/2006/relationships" id="263" r:id="Rfc7366d6ef77492c"/>
    <p:sldId xmlns:r="http://schemas.openxmlformats.org/officeDocument/2006/relationships" id="264" r:id="R4ad1d6f0fe494725"/>
    <p:sldId xmlns:r="http://schemas.openxmlformats.org/officeDocument/2006/relationships" id="265" r:id="R8fbd1dbcf55d4149"/>
  </p:sldIdLst>
  <p:sldSz cx="11430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57d01e87f64ae4" /><Relationship Type="http://schemas.openxmlformats.org/officeDocument/2006/relationships/slideMaster" Target="/ppt/slideMasters/slideMaster1.xml" Id="Rbe80ad3b5428435c" /><Relationship Type="http://schemas.openxmlformats.org/officeDocument/2006/relationships/notesMaster" Target="/ppt/notesMasters/notesMaster1.xml" Id="Rfaa1677ecbd2487c" /><Relationship Type="http://schemas.openxmlformats.org/officeDocument/2006/relationships/presProps" Target="/ppt/presProps.xml" Id="R694e86d72fa4449a" /><Relationship Type="http://schemas.openxmlformats.org/officeDocument/2006/relationships/tableStyles" Target="/ppt/tableStyles.xml" Id="Rd1fdaf7ee2f14211" /><Relationship Type="http://schemas.openxmlformats.org/officeDocument/2006/relationships/slide" Target="/ppt/slides/slide1.xml" Id="R3f1e74958d3243c4" /><Relationship Type="http://schemas.openxmlformats.org/officeDocument/2006/relationships/slide" Target="/ppt/slides/slide2.xml" Id="R3b2aaa8fceab4e5e" /><Relationship Type="http://schemas.openxmlformats.org/officeDocument/2006/relationships/slide" Target="/ppt/slides/slide3.xml" Id="R15a83fef04a44210" /><Relationship Type="http://schemas.openxmlformats.org/officeDocument/2006/relationships/slide" Target="/ppt/slides/slide4.xml" Id="Rcefbd59442d74114" /><Relationship Type="http://schemas.openxmlformats.org/officeDocument/2006/relationships/slide" Target="/ppt/slides/slide5.xml" Id="R02ecde826ff44d7c" /><Relationship Type="http://schemas.openxmlformats.org/officeDocument/2006/relationships/slide" Target="/ppt/slides/slide6.xml" Id="R36286cd2113c49d2" /><Relationship Type="http://schemas.openxmlformats.org/officeDocument/2006/relationships/slide" Target="/ppt/slides/slide7.xml" Id="R2041e823b63d48fb" /><Relationship Type="http://schemas.openxmlformats.org/officeDocument/2006/relationships/slide" Target="/ppt/slides/slide8.xml" Id="Rfc7366d6ef77492c" /><Relationship Type="http://schemas.openxmlformats.org/officeDocument/2006/relationships/slide" Target="/ppt/slides/slide9.xml" Id="R4ad1d6f0fe494725" /><Relationship Type="http://schemas.openxmlformats.org/officeDocument/2006/relationships/slide" Target="/ppt/slides/slide10.xml" Id="R8fbd1dbcf55d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dc7417f9c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f99ba0afdb493a" /><Relationship Type="http://schemas.openxmlformats.org/officeDocument/2006/relationships/notesMaster" Target="/ppt/notesMasters/notesMaster1.xml" Id="R248b41d61a244b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6cbb0943974ad3" /><Relationship Type="http://schemas.openxmlformats.org/officeDocument/2006/relationships/notesMaster" Target="/ppt/notesMasters/notesMaster1.xml" Id="R9bf004691089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7be47807040c6" /><Relationship Type="http://schemas.openxmlformats.org/officeDocument/2006/relationships/notesMaster" Target="/ppt/notesMasters/notesMaster1.xml" Id="R8841ebdd6cff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5df00225146cf" /><Relationship Type="http://schemas.openxmlformats.org/officeDocument/2006/relationships/notesMaster" Target="/ppt/notesMasters/notesMaster1.xml" Id="R6ac9a00b8e0341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184b884a2b42e0" /><Relationship Type="http://schemas.openxmlformats.org/officeDocument/2006/relationships/notesMaster" Target="/ppt/notesMasters/notesMaster1.xml" Id="R44d14214799b45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05f82005c34092" /><Relationship Type="http://schemas.openxmlformats.org/officeDocument/2006/relationships/notesMaster" Target="/ppt/notesMasters/notesMaster1.xml" Id="R1ce10360a77b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484ff40ccf4ca0" /><Relationship Type="http://schemas.openxmlformats.org/officeDocument/2006/relationships/notesMaster" Target="/ppt/notesMasters/notesMaster1.xml" Id="R36fb75954f54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c13c3a48a0472d" /><Relationship Type="http://schemas.openxmlformats.org/officeDocument/2006/relationships/notesMaster" Target="/ppt/notesMasters/notesMaster1.xml" Id="R2361d2ac398f41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12fd0a5dff44d3" /><Relationship Type="http://schemas.openxmlformats.org/officeDocument/2006/relationships/notesMaster" Target="/ppt/notesMasters/notesMaster1.xml" Id="Rc272645b121f4a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62496e7524816" /><Relationship Type="http://schemas.openxmlformats.org/officeDocument/2006/relationships/notesMaster" Target="/ppt/notesMasters/notesMaster1.xml" Id="R41e6ce6b5e67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MMICL: Empowering Vision-language Model with Multi-Modal In-Context Learning, ICLR 2024, Figure 2: https://openreview.net/forum?id=5KojubHBr8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 Unified Sampling Framework for Solver Searching of Diffusion Probabilistic Models, ICLR 2024, Figure 4: https://openreview.net/forum?id=W2d3LZbhhI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Diffusion of Thought: Chain-of-Thought Reasoning in Diffusion Language Models, NeurIPS 2024, Figure 2: https://proceedings.neurips.cc/paper_files/paper/2024/hash/be30024e7fa2c29cac7a6dafcbb8571f-Abstract-Conference.html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TransliCo: A Contrastive Learning Framework to Address the Script Barrier in Multilingual Pretrained Language Models, ACL 2024, Figure 2: https://aclanthology.org/2024.acl-long.136/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the Loop: Learning to Generate Writing Feedback via Language Model Simulated Student Revisions, EMNLP 2024, Figure 1: https://aclanthology.org/2024.emnlp-main.928/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Deciphering Oracle Bone Language with Diffusion Models, ACL 2024, Figure 2: https://aclanthology.org/2024.acl-long.831/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FiT: Flexible Vision Transformer for Diffusion Model, ICML 2024, Figure 2: https://proceedings.mlr.press/v235/lu24k.html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SNED: Superposition Network Architecture Search for Efficient Video Diffusion Model, CVPR 2024, Figure 1: https://openaccess.thecvf.com/content/CVPR2024/html/Li_SNED_Superposition_Network_Architecture_Search_for_Efficient_Video_Diffusion_Model_CVPR_2024_paper.html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ControlMLLM: Training-Free Visual Prompt Learning for Multimodal Large Language Models, NeurIPS 2024, Figure 1: https://proceedings.neurips.cc/paper_files/paper/2024/hash/4fd96b997454b5b02698595df70fccaf-Abstract-Conference.html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 Simple Early Exiting Framework for Accelerated Sampling in Diffusion Models, ICML 2024, Figure 2: https://proceedings.mlr.press/v235/moon24a.html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4850f9db446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4308325b24320" /><Relationship Type="http://schemas.openxmlformats.org/officeDocument/2006/relationships/slideLayout" Target="/ppt/slideLayouts/slideLayout1.xml" Id="R16f579eaa2414c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579eaa2414c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e60272554247" /><Relationship Type="http://schemas.openxmlformats.org/officeDocument/2006/relationships/notesSlide" Target="/ppt/notesSlides/notesSlide1.xml" Id="R7ae7b3d0f8ef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7ff4ce8745a7" /><Relationship Type="http://schemas.openxmlformats.org/officeDocument/2006/relationships/notesSlide" Target="/ppt/notesSlides/notesSlide2.xml" Id="Rc85b0e8d82be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51f4ea40e4483" /><Relationship Type="http://schemas.openxmlformats.org/officeDocument/2006/relationships/notesSlide" Target="/ppt/notesSlides/notesSlide3.xml" Id="R35ee7279636d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e20a826bc4a5d" /><Relationship Type="http://schemas.openxmlformats.org/officeDocument/2006/relationships/notesSlide" Target="/ppt/notesSlides/notesSlide4.xml" Id="R670188bcb39a4d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1d073a94649be" /><Relationship Type="http://schemas.openxmlformats.org/officeDocument/2006/relationships/notesSlide" Target="/ppt/notesSlides/notesSlide5.xml" Id="R76c8668be7ba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a7e18a998460d" /><Relationship Type="http://schemas.openxmlformats.org/officeDocument/2006/relationships/notesSlide" Target="/ppt/notesSlides/notesSlide6.xml" Id="R09a710c3783340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ae106b78a4c5f" /><Relationship Type="http://schemas.openxmlformats.org/officeDocument/2006/relationships/notesSlide" Target="/ppt/notesSlides/notesSlide7.xml" Id="R9605517f3e13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f201792754eee" /><Relationship Type="http://schemas.openxmlformats.org/officeDocument/2006/relationships/notesSlide" Target="/ppt/notesSlides/notesSlide8.xml" Id="R8efd47e1698f4f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a874e9ed141c0" /><Relationship Type="http://schemas.openxmlformats.org/officeDocument/2006/relationships/notesSlide" Target="/ppt/notesSlides/notesSlide9.xml" Id="R3148a018def8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1d4b413794b9f" /><Relationship Type="http://schemas.openxmlformats.org/officeDocument/2006/relationships/notesSlide" Target="/ppt/notesSlides/notesSlide10.xml" Id="R5e2dc358c945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.comparison">
            <a:extLst xmlns:a="http://schemas.openxmlformats.org/drawingml/2006/main">
              <a:ext uri="{FF2B5EF4-FFF2-40B4-BE49-F238E27FC236}">
                <a16:creationId xmlns:a16="http://schemas.microsoft.com/office/drawing/2014/main" id="{E598277D-F70E-4734-A2BE-32EBE65C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Comparison of different VLM architectures</a:t>
            </a:r>
          </a:p>
        </p:txBody>
      </p:sp>
      <p:sp>
        <p:nvSpPr>
          <p:cNvPr id="2" name="panel.single">
            <a:extLst xmlns:a="http://schemas.openxmlformats.org/drawingml/2006/main">
              <a:ext uri="{FF2B5EF4-FFF2-40B4-BE49-F238E27FC236}">
                <a16:creationId xmlns:a16="http://schemas.microsoft.com/office/drawing/2014/main" id="{40C2A2E1-5717-49F5-A536-BD2762C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3190875" cy="409575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3" name="panel.few-shot">
            <a:extLst xmlns:a="http://schemas.openxmlformats.org/drawingml/2006/main">
              <a:ext uri="{FF2B5EF4-FFF2-40B4-BE49-F238E27FC236}">
                <a16:creationId xmlns:a16="http://schemas.microsoft.com/office/drawing/2014/main" id="{E8A2D896-DD00-459D-A596-707F143B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81050"/>
            <a:ext cx="3190875" cy="409575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4" name="panel.mmicl">
            <a:extLst xmlns:a="http://schemas.openxmlformats.org/drawingml/2006/main">
              <a:ext uri="{FF2B5EF4-FFF2-40B4-BE49-F238E27FC236}">
                <a16:creationId xmlns:a16="http://schemas.microsoft.com/office/drawing/2014/main" id="{AF42FCE2-9B17-4001-A5EE-4276BEA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81050"/>
            <a:ext cx="3190875" cy="409575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5" name="module.single.llm">
            <a:extLst xmlns:a="http://schemas.openxmlformats.org/drawingml/2006/main">
              <a:ext uri="{FF2B5EF4-FFF2-40B4-BE49-F238E27FC236}">
                <a16:creationId xmlns:a16="http://schemas.microsoft.com/office/drawing/2014/main" id="{9F79B431-BB73-4F28-BA1F-78DF46E3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76375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2EA8D4"/>
          </a:solidFill>
          <a:ln xmlns:a="http://schemas.openxmlformats.org/drawingml/2006/main" w="14288">
            <a:solidFill>
              <a:srgbClr val="1688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6" name="module.few-shot.llm">
            <a:extLst xmlns:a="http://schemas.openxmlformats.org/drawingml/2006/main">
              <a:ext uri="{FF2B5EF4-FFF2-40B4-BE49-F238E27FC236}">
                <a16:creationId xmlns:a16="http://schemas.microsoft.com/office/drawing/2014/main" id="{B0A5E0CE-5771-4D5A-AA7C-B831955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76375"/>
            <a:ext cx="204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2EA8D4"/>
          </a:solidFill>
          <a:ln xmlns:a="http://schemas.openxmlformats.org/drawingml/2006/main" w="14288">
            <a:solidFill>
              <a:srgbClr val="1688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7" name="module.mmicl.llm">
            <a:extLst xmlns:a="http://schemas.openxmlformats.org/drawingml/2006/main">
              <a:ext uri="{FF2B5EF4-FFF2-40B4-BE49-F238E27FC236}">
                <a16:creationId xmlns:a16="http://schemas.microsoft.com/office/drawing/2014/main" id="{30A9378E-42C5-4FC1-AFFE-454EF701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0"/>
            <a:ext cx="223837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2EA8D4"/>
          </a:solidFill>
          <a:ln xmlns:a="http://schemas.openxmlformats.org/drawingml/2006/main" w="14288">
            <a:solidFill>
              <a:srgbClr val="1688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8" name="module.single.vpg">
            <a:extLst xmlns:a="http://schemas.openxmlformats.org/drawingml/2006/main">
              <a:ext uri="{FF2B5EF4-FFF2-40B4-BE49-F238E27FC236}">
                <a16:creationId xmlns:a16="http://schemas.microsoft.com/office/drawing/2014/main" id="{363780DF-481E-4B04-89A9-3A4A703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24200"/>
            <a:ext cx="1238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8FD08F"/>
          </a:solidFill>
          <a:ln xmlns:a="http://schemas.openxmlformats.org/drawingml/2006/main" w="14288">
            <a:solidFill>
              <a:srgbClr val="579E5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VPG</a:t>
            </a:r>
          </a:p>
        </p:txBody>
      </p:sp>
      <p:sp>
        <p:nvSpPr>
          <p:cNvPr id="9" name="module.few-shot.vpg-1">
            <a:extLst xmlns:a="http://schemas.openxmlformats.org/drawingml/2006/main">
              <a:ext uri="{FF2B5EF4-FFF2-40B4-BE49-F238E27FC236}">
                <a16:creationId xmlns:a16="http://schemas.microsoft.com/office/drawing/2014/main" id="{74810B6D-3A85-44E0-ACDD-4D091BB4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8FD08F"/>
          </a:solidFill>
          <a:ln xmlns:a="http://schemas.openxmlformats.org/drawingml/2006/main" w="14288">
            <a:solidFill>
              <a:srgbClr val="579E5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VPG</a:t>
            </a:r>
          </a:p>
        </p:txBody>
      </p:sp>
      <p:sp>
        <p:nvSpPr>
          <p:cNvPr id="10" name="module.few-shot.vpg-2">
            <a:extLst xmlns:a="http://schemas.openxmlformats.org/drawingml/2006/main">
              <a:ext uri="{FF2B5EF4-FFF2-40B4-BE49-F238E27FC236}">
                <a16:creationId xmlns:a16="http://schemas.microsoft.com/office/drawing/2014/main" id="{118518FC-CB72-48BD-9F94-7609265D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43250"/>
            <a:ext cx="10477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8FD08F"/>
          </a:solidFill>
          <a:ln xmlns:a="http://schemas.openxmlformats.org/drawingml/2006/main" w="14288">
            <a:solidFill>
              <a:srgbClr val="579E5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VPG</a:t>
            </a:r>
          </a:p>
        </p:txBody>
      </p:sp>
      <p:sp>
        <p:nvSpPr>
          <p:cNvPr id="11" name="module.mmicl.vpg-1">
            <a:extLst xmlns:a="http://schemas.openxmlformats.org/drawingml/2006/main">
              <a:ext uri="{FF2B5EF4-FFF2-40B4-BE49-F238E27FC236}">
                <a16:creationId xmlns:a16="http://schemas.microsoft.com/office/drawing/2014/main" id="{0C44D5B7-AD62-49DB-8CA0-678BFEF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9144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8FD08F"/>
          </a:solidFill>
          <a:ln xmlns:a="http://schemas.openxmlformats.org/drawingml/2006/main" w="14288">
            <a:solidFill>
              <a:srgbClr val="579E5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VPG</a:t>
            </a:r>
          </a:p>
        </p:txBody>
      </p:sp>
      <p:sp>
        <p:nvSpPr>
          <p:cNvPr id="12" name="module.mmicl.vpg-2">
            <a:extLst xmlns:a="http://schemas.openxmlformats.org/drawingml/2006/main">
              <a:ext uri="{FF2B5EF4-FFF2-40B4-BE49-F238E27FC236}">
                <a16:creationId xmlns:a16="http://schemas.microsoft.com/office/drawing/2014/main" id="{B9B8EC08-2B0C-4B0B-B6D7-DC4E64D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219450"/>
            <a:ext cx="9144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8FD08F"/>
          </a:solidFill>
          <a:ln xmlns:a="http://schemas.openxmlformats.org/drawingml/2006/main" w="14288">
            <a:solidFill>
              <a:srgbClr val="579E5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VPG</a:t>
            </a:r>
          </a:p>
        </p:txBody>
      </p:sp>
      <p:sp>
        <p:nvSpPr>
          <p:cNvPr id="13" name="tokens.single.text.01.01">
            <a:extLst xmlns:a="http://schemas.openxmlformats.org/drawingml/2006/main">
              <a:ext uri="{FF2B5EF4-FFF2-40B4-BE49-F238E27FC236}">
                <a16:creationId xmlns:a16="http://schemas.microsoft.com/office/drawing/2014/main" id="{9A4B7287-73EF-427B-8273-2F6FA81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395288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827"/>
                </a:solidFill>
              </a:defRPr>
            </a:pPr>
            <a:r>
              <a:rPr sz="825" b="0" i="0">
                <a:solidFill>
                  <a:srgbClr val="111827"/>
                </a:solidFill>
              </a:rPr>
              <a:t>embed</a:t>
            </a:r>
          </a:p>
        </p:txBody>
      </p:sp>
      <p:sp>
        <p:nvSpPr>
          <p:cNvPr id="14" name="tokens.single.text.01.02">
            <a:extLst xmlns:a="http://schemas.openxmlformats.org/drawingml/2006/main">
              <a:ext uri="{FF2B5EF4-FFF2-40B4-BE49-F238E27FC236}">
                <a16:creationId xmlns:a16="http://schemas.microsoft.com/office/drawing/2014/main" id="{8EE9E96A-2366-432D-9014-0F7393E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2457450"/>
            <a:ext cx="395288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827"/>
                </a:solidFill>
              </a:defRPr>
            </a:pPr>
            <a:r>
              <a:rPr sz="82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15" name="tokens.single.text.01.03">
            <a:extLst xmlns:a="http://schemas.openxmlformats.org/drawingml/2006/main">
              <a:ext uri="{FF2B5EF4-FFF2-40B4-BE49-F238E27FC236}">
                <a16:creationId xmlns:a16="http://schemas.microsoft.com/office/drawing/2014/main" id="{F62676AF-979D-456D-BC47-A22048E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57450"/>
            <a:ext cx="395288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827"/>
                </a:solidFill>
              </a:defRPr>
            </a:pPr>
            <a:r>
              <a:rPr sz="82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16" name="tokens.single.text.01.04">
            <a:extLst xmlns:a="http://schemas.openxmlformats.org/drawingml/2006/main">
              <a:ext uri="{FF2B5EF4-FFF2-40B4-BE49-F238E27FC236}">
                <a16:creationId xmlns:a16="http://schemas.microsoft.com/office/drawing/2014/main" id="{3E7FDBF7-A668-47C6-9BB8-19726942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663" y="2457450"/>
            <a:ext cx="395288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827"/>
                </a:solidFill>
              </a:defRPr>
            </a:pPr>
            <a:r>
              <a:rPr sz="82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17" name="tokens.few-shot.text.01.01">
            <a:extLst xmlns:a="http://schemas.openxmlformats.org/drawingml/2006/main">
              <a:ext uri="{FF2B5EF4-FFF2-40B4-BE49-F238E27FC236}">
                <a16:creationId xmlns:a16="http://schemas.microsoft.com/office/drawing/2014/main" id="{F463F917-4E4D-40D7-BB84-9411CC9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embed</a:t>
            </a:r>
          </a:p>
        </p:txBody>
      </p:sp>
      <p:sp>
        <p:nvSpPr>
          <p:cNvPr id="18" name="tokens.few-shot.text.01.02">
            <a:extLst xmlns:a="http://schemas.openxmlformats.org/drawingml/2006/main">
              <a:ext uri="{FF2B5EF4-FFF2-40B4-BE49-F238E27FC236}">
                <a16:creationId xmlns:a16="http://schemas.microsoft.com/office/drawing/2014/main" id="{45F20007-3799-4A90-9545-84A61765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38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19" name="tokens.few-shot.text.01.03">
            <a:extLst xmlns:a="http://schemas.openxmlformats.org/drawingml/2006/main">
              <a:ext uri="{FF2B5EF4-FFF2-40B4-BE49-F238E27FC236}">
                <a16:creationId xmlns:a16="http://schemas.microsoft.com/office/drawing/2014/main" id="{F232B073-2F91-4106-B2EB-763F4615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75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0" name="tokens.few-shot.text.01.04">
            <a:extLst xmlns:a="http://schemas.openxmlformats.org/drawingml/2006/main">
              <a:ext uri="{FF2B5EF4-FFF2-40B4-BE49-F238E27FC236}">
                <a16:creationId xmlns:a16="http://schemas.microsoft.com/office/drawing/2014/main" id="{CA659CC6-4073-455D-9369-187A5EA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embed</a:t>
            </a:r>
          </a:p>
        </p:txBody>
      </p:sp>
      <p:sp>
        <p:nvSpPr>
          <p:cNvPr id="21" name="tokens.few-shot.text.01.05">
            <a:extLst xmlns:a="http://schemas.openxmlformats.org/drawingml/2006/main">
              <a:ext uri="{FF2B5EF4-FFF2-40B4-BE49-F238E27FC236}">
                <a16:creationId xmlns:a16="http://schemas.microsoft.com/office/drawing/2014/main" id="{7C389960-FB41-4065-9F28-C11974A3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50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2" name="tokens.few-shot.text.01.06">
            <a:extLst xmlns:a="http://schemas.openxmlformats.org/drawingml/2006/main">
              <a:ext uri="{FF2B5EF4-FFF2-40B4-BE49-F238E27FC236}">
                <a16:creationId xmlns:a16="http://schemas.microsoft.com/office/drawing/2014/main" id="{2F023905-F286-4965-B613-3E4C94F6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387" y="2457450"/>
            <a:ext cx="373063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3" name="tokens.mmicl.text.01.01">
            <a:extLst xmlns:a="http://schemas.openxmlformats.org/drawingml/2006/main">
              <a:ext uri="{FF2B5EF4-FFF2-40B4-BE49-F238E27FC236}">
                <a16:creationId xmlns:a16="http://schemas.microsoft.com/office/drawing/2014/main" id="{6212DBAA-4EFD-48A1-858A-6CF5A0C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Image</a:t>
            </a:r>
          </a:p>
        </p:txBody>
      </p:sp>
      <p:sp>
        <p:nvSpPr>
          <p:cNvPr id="24" name="tokens.mmicl.text.01.02">
            <a:extLst xmlns:a="http://schemas.openxmlformats.org/drawingml/2006/main">
              <a:ext uri="{FF2B5EF4-FFF2-40B4-BE49-F238E27FC236}">
                <a16:creationId xmlns:a16="http://schemas.microsoft.com/office/drawing/2014/main" id="{58BA66DF-90C1-4130-928E-3933BE76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243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5" name="tokens.mmicl.text.01.03">
            <a:extLst xmlns:a="http://schemas.openxmlformats.org/drawingml/2006/main">
              <a:ext uri="{FF2B5EF4-FFF2-40B4-BE49-F238E27FC236}">
                <a16:creationId xmlns:a16="http://schemas.microsoft.com/office/drawing/2014/main" id="{CC641A54-AE36-4366-9428-6BB326F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686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Image</a:t>
            </a:r>
          </a:p>
        </p:txBody>
      </p:sp>
      <p:sp>
        <p:nvSpPr>
          <p:cNvPr id="26" name="tokens.mmicl.text.01.04">
            <a:extLst xmlns:a="http://schemas.openxmlformats.org/drawingml/2006/main">
              <a:ext uri="{FF2B5EF4-FFF2-40B4-BE49-F238E27FC236}">
                <a16:creationId xmlns:a16="http://schemas.microsoft.com/office/drawing/2014/main" id="{227AE8DA-9EE6-470F-A348-293C93B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129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7" name="tokens.mmicl.text.01.05">
            <a:extLst xmlns:a="http://schemas.openxmlformats.org/drawingml/2006/main">
              <a:ext uri="{FF2B5EF4-FFF2-40B4-BE49-F238E27FC236}">
                <a16:creationId xmlns:a16="http://schemas.microsoft.com/office/drawing/2014/main" id="{EF56ACC6-2525-4229-8667-86FDA785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571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0EAF8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Image</a:t>
            </a:r>
          </a:p>
        </p:txBody>
      </p:sp>
      <p:sp>
        <p:nvSpPr>
          <p:cNvPr id="28" name="tokens.mmicl.text.01.06">
            <a:extLst xmlns:a="http://schemas.openxmlformats.org/drawingml/2006/main">
              <a:ext uri="{FF2B5EF4-FFF2-40B4-BE49-F238E27FC236}">
                <a16:creationId xmlns:a16="http://schemas.microsoft.com/office/drawing/2014/main" id="{EBBC9158-435F-43F2-AACA-9EBA5877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014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29" name="tokens.mmicl.text.01.07">
            <a:extLst xmlns:a="http://schemas.openxmlformats.org/drawingml/2006/main">
              <a:ext uri="{FF2B5EF4-FFF2-40B4-BE49-F238E27FC236}">
                <a16:creationId xmlns:a16="http://schemas.microsoft.com/office/drawing/2014/main" id="{E57B435B-423C-4ABA-B4D1-E1B60F90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457" y="2495550"/>
            <a:ext cx="329293" cy="457200"/>
          </a:xfrm>
          <a:prstGeom xmlns:a="http://schemas.openxmlformats.org/drawingml/2006/main" prst="roundRect">
            <a:avLst>
              <a:gd name="adj" fmla="val 8678"/>
            </a:avLst>
          </a:prstGeom>
          <a:solidFill xmlns:a="http://schemas.openxmlformats.org/drawingml/2006/main">
            <a:srgbClr val="F8EDBE"/>
          </a:solidFill>
          <a:ln xmlns:a="http://schemas.openxmlformats.org/drawingml/2006/main" w="7620">
            <a:solidFill>
              <a:srgbClr val="C9B7D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827"/>
                </a:solidFill>
              </a:defRPr>
            </a:pPr>
            <a:r>
              <a:rPr sz="675" b="0" i="0">
                <a:solidFill>
                  <a:srgbClr val="111827"/>
                </a:solidFill>
              </a:rPr>
              <a:t>Text</a:t>
            </a:r>
          </a:p>
        </p:txBody>
      </p:sp>
      <p:sp>
        <p:nvSpPr>
          <p:cNvPr id="30" name="input.single.image">
            <a:extLst xmlns:a="http://schemas.openxmlformats.org/drawingml/2006/main">
              <a:ext uri="{FF2B5EF4-FFF2-40B4-BE49-F238E27FC236}">
                <a16:creationId xmlns:a16="http://schemas.microsoft.com/office/drawing/2014/main" id="{C9905FB9-CEC5-4917-8DBE-DF74D01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000500"/>
            <a:ext cx="99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8"/>
          </a:solidFill>
          <a:ln xmlns:a="http://schemas.openxmlformats.org/drawingml/2006/main" w="14288">
            <a:solidFill>
              <a:srgbClr val="6E94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Img</a:t>
            </a:r>
          </a:p>
        </p:txBody>
      </p:sp>
      <p:sp>
        <p:nvSpPr>
          <p:cNvPr id="31" name="input.few-shot.image-1">
            <a:extLst xmlns:a="http://schemas.openxmlformats.org/drawingml/2006/main">
              <a:ext uri="{FF2B5EF4-FFF2-40B4-BE49-F238E27FC236}">
                <a16:creationId xmlns:a16="http://schemas.microsoft.com/office/drawing/2014/main" id="{F7CC804E-7E54-40B3-9FFC-2E787F84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933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BD"/>
          </a:solidFill>
          <a:ln xmlns:a="http://schemas.openxmlformats.org/drawingml/2006/main" w="14288">
            <a:solidFill>
              <a:srgbClr val="78966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Img</a:t>
            </a:r>
          </a:p>
        </p:txBody>
      </p:sp>
      <p:sp>
        <p:nvSpPr>
          <p:cNvPr id="32" name="input.few-shot.image-2">
            <a:extLst xmlns:a="http://schemas.openxmlformats.org/drawingml/2006/main">
              <a:ext uri="{FF2B5EF4-FFF2-40B4-BE49-F238E27FC236}">
                <a16:creationId xmlns:a16="http://schemas.microsoft.com/office/drawing/2014/main" id="{BC6AA136-159B-4C37-BAE4-54D1C28E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000500"/>
            <a:ext cx="933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AF"/>
          </a:solidFill>
          <a:ln xmlns:a="http://schemas.openxmlformats.org/drawingml/2006/main" w="14288">
            <a:solidFill>
              <a:srgbClr val="A476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Img</a:t>
            </a:r>
          </a:p>
        </p:txBody>
      </p:sp>
      <p:sp>
        <p:nvSpPr>
          <p:cNvPr id="33" name="input.mmicl.image-1">
            <a:extLst xmlns:a="http://schemas.openxmlformats.org/drawingml/2006/main">
              <a:ext uri="{FF2B5EF4-FFF2-40B4-BE49-F238E27FC236}">
                <a16:creationId xmlns:a16="http://schemas.microsoft.com/office/drawing/2014/main" id="{C1C22659-004F-40CC-A63D-12B440C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8"/>
          </a:solidFill>
          <a:ln xmlns:a="http://schemas.openxmlformats.org/drawingml/2006/main" w="14288">
            <a:solidFill>
              <a:srgbClr val="6E94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Img</a:t>
            </a:r>
          </a:p>
        </p:txBody>
      </p:sp>
      <p:sp>
        <p:nvSpPr>
          <p:cNvPr id="34" name="input.mmicl.image-2">
            <a:extLst xmlns:a="http://schemas.openxmlformats.org/drawingml/2006/main">
              <a:ext uri="{FF2B5EF4-FFF2-40B4-BE49-F238E27FC236}">
                <a16:creationId xmlns:a16="http://schemas.microsoft.com/office/drawing/2014/main" id="{9BA89129-C7C9-4B74-993A-7DAC194A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AF"/>
          </a:solidFill>
          <a:ln xmlns:a="http://schemas.openxmlformats.org/drawingml/2006/main" w="14288">
            <a:solidFill>
              <a:srgbClr val="A476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Img</a:t>
            </a:r>
          </a:p>
        </p:txBody>
      </p:sp>
      <p:sp>
        <p:nvSpPr>
          <p:cNvPr id="35" name="caption.single">
            <a:extLst xmlns:a="http://schemas.openxmlformats.org/drawingml/2006/main">
              <a:ext uri="{FF2B5EF4-FFF2-40B4-BE49-F238E27FC236}">
                <a16:creationId xmlns:a16="http://schemas.microsoft.com/office/drawing/2014/main" id="{FBF2F2B9-35F0-462E-B575-E127293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(a) VLMs focused on a single image</a:t>
            </a:r>
          </a:p>
        </p:txBody>
      </p:sp>
      <p:sp>
        <p:nvSpPr>
          <p:cNvPr id="36" name="caption.few-shot">
            <a:extLst xmlns:a="http://schemas.openxmlformats.org/drawingml/2006/main">
              <a:ext uri="{FF2B5EF4-FFF2-40B4-BE49-F238E27FC236}">
                <a16:creationId xmlns:a16="http://schemas.microsoft.com/office/drawing/2014/main" id="{7908A695-D39C-4C00-A03E-D72091D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101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(b) VLMs with few-shot ability</a:t>
            </a:r>
          </a:p>
        </p:txBody>
      </p:sp>
      <p:sp>
        <p:nvSpPr>
          <p:cNvPr id="37" name="caption.mmicl">
            <a:extLst xmlns:a="http://schemas.openxmlformats.org/drawingml/2006/main">
              <a:ext uri="{FF2B5EF4-FFF2-40B4-BE49-F238E27FC236}">
                <a16:creationId xmlns:a16="http://schemas.microsoft.com/office/drawing/2014/main" id="{B0A3646C-2827-4062-B170-B1A8A6EA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101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(c) MMICL</a:t>
            </a:r>
          </a:p>
        </p:txBody>
      </p:sp>
      <p:cxnSp>
        <p:nvCxnSpPr>
          <p:cNvPr id="85" name="arrow.single.image-to-vpg"/>
          <p:cNvCxnSpPr>
            <a:stCxn xmlns:a="http://schemas.openxmlformats.org/drawingml/2006/main" id="3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2124075" y="3638550"/>
            <a:ext cx="190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86" name="arrow.single.vpg-to-llm"/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119313" y="2162175"/>
            <a:ext cx="4763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87" name="arrow.few-shot.image1-to-vpg1"/>
          <p:cNvCxnSpPr>
            <a:stCxn xmlns:a="http://schemas.openxmlformats.org/drawingml/2006/main" id="31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5038725" y="3619500"/>
            <a:ext cx="476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88" name="arrow.few-shot.image2-to-vpg2"/>
          <p:cNvCxnSpPr>
            <a:stCxn xmlns:a="http://schemas.openxmlformats.org/drawingml/2006/main" id="3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400800" y="36195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89" name="arrow.few-shot.vpg1-to-llm"/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038725" y="2162175"/>
            <a:ext cx="671513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0" name="arrow.few-shot.vpg2-to-llm"/>
          <p:cNvCxnSpPr>
            <a:stCxn xmlns:a="http://schemas.openxmlformats.org/drawingml/2006/main" id="10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5710238" y="2162175"/>
            <a:ext cx="690563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1" name="arrow.mmicl.image1-to-vpg1"/>
          <p:cNvCxnSpPr>
            <a:stCxn xmlns:a="http://schemas.openxmlformats.org/drawingml/2006/main" id="3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8401050" y="3676650"/>
            <a:ext cx="952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2" name="arrow.mmicl.image2-to-vpg2"/>
          <p:cNvCxnSpPr>
            <a:stCxn xmlns:a="http://schemas.openxmlformats.org/drawingml/2006/main" id="3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0067925" y="36766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3" name="arrow.mmicl.vpg1-to-llm"/>
          <p:cNvCxnSpPr>
            <a:stCxn xmlns:a="http://schemas.openxmlformats.org/drawingml/2006/main" id="1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8410575" y="2152650"/>
            <a:ext cx="8810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4" name="arrow.mmicl.vpg2-to-llm"/>
          <p:cNvCxnSpPr>
            <a:stCxn xmlns:a="http://schemas.openxmlformats.org/drawingml/2006/main" id="1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9291638" y="2152650"/>
            <a:ext cx="776288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807938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itle.workflow">
            <a:extLst xmlns:a="http://schemas.openxmlformats.org/drawingml/2006/main">
              <a:ext uri="{FF2B5EF4-FFF2-40B4-BE49-F238E27FC236}">
                <a16:creationId xmlns:a16="http://schemas.microsoft.com/office/drawing/2014/main" id="{B2365995-2852-4FA8-BE9E-EAAFE91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Iterative workflow of predictor-based multi-stage search</a:t>
            </a:r>
          </a:p>
        </p:txBody>
      </p:sp>
      <p:sp>
        <p:nvSpPr>
          <p:cNvPr id="2" name="group.evaluated">
            <a:extLst xmlns:a="http://schemas.openxmlformats.org/drawingml/2006/main">
              <a:ext uri="{FF2B5EF4-FFF2-40B4-BE49-F238E27FC236}">
                <a16:creationId xmlns:a16="http://schemas.microsoft.com/office/drawing/2014/main" id="{B9D3F60B-5C62-466E-B8D7-89791B20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66750"/>
            <a:ext cx="23812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B5563"/>
            </a:solidFill>
            <a:prstDash val="dash"/>
          </a:ln>
        </p:spPr>
      </p:sp>
      <p:sp>
        <p:nvSpPr>
          <p:cNvPr id="3" name="label.evaluated">
            <a:extLst xmlns:a="http://schemas.openxmlformats.org/drawingml/2006/main">
              <a:ext uri="{FF2B5EF4-FFF2-40B4-BE49-F238E27FC236}">
                <a16:creationId xmlns:a16="http://schemas.microsoft.com/office/drawing/2014/main" id="{673F3225-06BB-4804-9AE5-1E4B94D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Dataset of Evaluated Schedules</a:t>
            </a:r>
          </a:p>
        </p:txBody>
      </p:sp>
      <p:sp>
        <p:nvSpPr>
          <p:cNvPr id="4" name="record.score-1">
            <a:extLst xmlns:a="http://schemas.openxmlformats.org/drawingml/2006/main">
              <a:ext uri="{FF2B5EF4-FFF2-40B4-BE49-F238E27FC236}">
                <a16:creationId xmlns:a16="http://schemas.microsoft.com/office/drawing/2014/main" id="{B32E2BBA-9920-40AE-AB92-60401DC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85825"/>
            <a:ext cx="190500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728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S₁    Score: F₁</a:t>
            </a:r>
          </a:p>
        </p:txBody>
      </p:sp>
      <p:sp>
        <p:nvSpPr>
          <p:cNvPr id="5" name="record.score-2">
            <a:extLst xmlns:a="http://schemas.openxmlformats.org/drawingml/2006/main">
              <a:ext uri="{FF2B5EF4-FFF2-40B4-BE49-F238E27FC236}">
                <a16:creationId xmlns:a16="http://schemas.microsoft.com/office/drawing/2014/main" id="{5279E12F-F2BE-4DF7-8102-0D9158E1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9700"/>
            <a:ext cx="190500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728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S₂    Score: F₂</a:t>
            </a:r>
          </a:p>
        </p:txBody>
      </p:sp>
      <p:sp>
        <p:nvSpPr>
          <p:cNvPr id="6" name="population.sampled">
            <a:extLst xmlns:a="http://schemas.openxmlformats.org/drawingml/2006/main">
              <a:ext uri="{FF2B5EF4-FFF2-40B4-BE49-F238E27FC236}">
                <a16:creationId xmlns:a16="http://schemas.microsoft.com/office/drawing/2014/main" id="{8C0A0DB6-A410-4A91-94E0-937808A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43125"/>
            <a:ext cx="2238375" cy="2238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280"/>
            </a:solidFill>
            <a:prstDash val="dash"/>
          </a:ln>
        </p:spPr>
      </p:sp>
      <p:sp>
        <p:nvSpPr>
          <p:cNvPr id="7" name="population.search">
            <a:extLst xmlns:a="http://schemas.openxmlformats.org/drawingml/2006/main">
              <a:ext uri="{FF2B5EF4-FFF2-40B4-BE49-F238E27FC236}">
                <a16:creationId xmlns:a16="http://schemas.microsoft.com/office/drawing/2014/main" id="{8E4B59CB-057D-433D-AE4E-5B4B51F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2476500" cy="1952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280"/>
            </a:solidFill>
            <a:prstDash val="dash"/>
          </a:ln>
        </p:spPr>
      </p:sp>
      <p:sp>
        <p:nvSpPr>
          <p:cNvPr id="8" name="module.predictor">
            <a:extLst xmlns:a="http://schemas.openxmlformats.org/drawingml/2006/main">
              <a:ext uri="{FF2B5EF4-FFF2-40B4-BE49-F238E27FC236}">
                <a16:creationId xmlns:a16="http://schemas.microsoft.com/office/drawing/2014/main" id="{8C3A0CEF-9DDE-4494-B4CF-84406BC6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238375" cy="22383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7EC3D8"/>
          </a:solidFill>
          <a:ln xmlns:a="http://schemas.openxmlformats.org/drawingml/2006/main" w="14288">
            <a:solidFill>
              <a:srgbClr val="7EC3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Predictor</a:t>
            </a:r>
          </a:p>
        </p:txBody>
      </p:sp>
      <p:sp>
        <p:nvSpPr>
          <p:cNvPr id="9" name="solver.sampled.01.01">
            <a:extLst xmlns:a="http://schemas.openxmlformats.org/drawingml/2006/main">
              <a:ext uri="{FF2B5EF4-FFF2-40B4-BE49-F238E27FC236}">
                <a16:creationId xmlns:a16="http://schemas.microsoft.com/office/drawing/2014/main" id="{781A6841-0925-4705-B1E1-C320856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19375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olver.sampled.01.02">
            <a:extLst xmlns:a="http://schemas.openxmlformats.org/drawingml/2006/main">
              <a:ext uri="{FF2B5EF4-FFF2-40B4-BE49-F238E27FC236}">
                <a16:creationId xmlns:a16="http://schemas.microsoft.com/office/drawing/2014/main" id="{BC649C61-658F-476C-A6D9-40C02D14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2619375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olver.sampled.02.01">
            <a:extLst xmlns:a="http://schemas.openxmlformats.org/drawingml/2006/main">
              <a:ext uri="{FF2B5EF4-FFF2-40B4-BE49-F238E27FC236}">
                <a16:creationId xmlns:a16="http://schemas.microsoft.com/office/drawing/2014/main" id="{6F440670-E652-49E4-B41C-C5AE3F5C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86100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olver.sampled.02.02">
            <a:extLst xmlns:a="http://schemas.openxmlformats.org/drawingml/2006/main">
              <a:ext uri="{FF2B5EF4-FFF2-40B4-BE49-F238E27FC236}">
                <a16:creationId xmlns:a16="http://schemas.microsoft.com/office/drawing/2014/main" id="{A19960C7-F29F-487A-9BCF-66550B5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3086100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solver.sampled.03.01">
            <a:extLst xmlns:a="http://schemas.openxmlformats.org/drawingml/2006/main">
              <a:ext uri="{FF2B5EF4-FFF2-40B4-BE49-F238E27FC236}">
                <a16:creationId xmlns:a16="http://schemas.microsoft.com/office/drawing/2014/main" id="{36D46C81-9D06-4B15-BC30-8E68C566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52825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olver.sampled.03.02">
            <a:extLst xmlns:a="http://schemas.openxmlformats.org/drawingml/2006/main">
              <a:ext uri="{FF2B5EF4-FFF2-40B4-BE49-F238E27FC236}">
                <a16:creationId xmlns:a16="http://schemas.microsoft.com/office/drawing/2014/main" id="{CB0E346D-1824-4246-AC41-182E43A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3552825"/>
            <a:ext cx="547688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40351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olver.search.01.01">
            <a:extLst xmlns:a="http://schemas.openxmlformats.org/drawingml/2006/main">
              <a:ext uri="{FF2B5EF4-FFF2-40B4-BE49-F238E27FC236}">
                <a16:creationId xmlns:a16="http://schemas.microsoft.com/office/drawing/2014/main" id="{A5762747-9649-4EC6-84D0-6BEC061D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solver.search.01.02">
            <a:extLst xmlns:a="http://schemas.openxmlformats.org/drawingml/2006/main">
              <a:ext uri="{FF2B5EF4-FFF2-40B4-BE49-F238E27FC236}">
                <a16:creationId xmlns:a16="http://schemas.microsoft.com/office/drawing/2014/main" id="{15BE4B54-EDAD-44BA-926D-ADF402D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275" y="378142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olver.search.01.03">
            <a:extLst xmlns:a="http://schemas.openxmlformats.org/drawingml/2006/main">
              <a:ext uri="{FF2B5EF4-FFF2-40B4-BE49-F238E27FC236}">
                <a16:creationId xmlns:a16="http://schemas.microsoft.com/office/drawing/2014/main" id="{A6F251D3-388D-4C64-A53E-70AA5BF8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175" y="378142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olver.search.02.01">
            <a:extLst xmlns:a="http://schemas.openxmlformats.org/drawingml/2006/main">
              <a:ext uri="{FF2B5EF4-FFF2-40B4-BE49-F238E27FC236}">
                <a16:creationId xmlns:a16="http://schemas.microsoft.com/office/drawing/2014/main" id="{83B34C5D-14B2-47E2-921C-27847340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16400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olver.search.02.02">
            <a:extLst xmlns:a="http://schemas.openxmlformats.org/drawingml/2006/main">
              <a:ext uri="{FF2B5EF4-FFF2-40B4-BE49-F238E27FC236}">
                <a16:creationId xmlns:a16="http://schemas.microsoft.com/office/drawing/2014/main" id="{9597ACEF-CFF7-48FF-880D-33E6E0A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275" y="4216400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olver.search.02.03">
            <a:extLst xmlns:a="http://schemas.openxmlformats.org/drawingml/2006/main">
              <a:ext uri="{FF2B5EF4-FFF2-40B4-BE49-F238E27FC236}">
                <a16:creationId xmlns:a16="http://schemas.microsoft.com/office/drawing/2014/main" id="{EDC23FC1-4B94-4205-A8F9-05FDACAF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175" y="4216400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olver.search.03.01">
            <a:extLst xmlns:a="http://schemas.openxmlformats.org/drawingml/2006/main">
              <a:ext uri="{FF2B5EF4-FFF2-40B4-BE49-F238E27FC236}">
                <a16:creationId xmlns:a16="http://schemas.microsoft.com/office/drawing/2014/main" id="{4A6FAC4E-15FC-4AE8-9336-7C9267F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5137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olver.search.03.02">
            <a:extLst xmlns:a="http://schemas.openxmlformats.org/drawingml/2006/main">
              <a:ext uri="{FF2B5EF4-FFF2-40B4-BE49-F238E27FC236}">
                <a16:creationId xmlns:a16="http://schemas.microsoft.com/office/drawing/2014/main" id="{B6549C4B-4DB8-46E7-AA6E-A0F3A60B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275" y="465137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olver.search.03.03">
            <a:extLst xmlns:a="http://schemas.openxmlformats.org/drawingml/2006/main">
              <a:ext uri="{FF2B5EF4-FFF2-40B4-BE49-F238E27FC236}">
                <a16:creationId xmlns:a16="http://schemas.microsoft.com/office/drawing/2014/main" id="{C1AF2B96-6509-47C6-AC91-F7F09C44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175" y="4651375"/>
            <a:ext cx="425450" cy="320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7620">
            <a:solidFill>
              <a:srgbClr val="6256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label.sampled">
            <a:extLst xmlns:a="http://schemas.openxmlformats.org/drawingml/2006/main">
              <a:ext uri="{FF2B5EF4-FFF2-40B4-BE49-F238E27FC236}">
                <a16:creationId xmlns:a16="http://schemas.microsoft.com/office/drawing/2014/main" id="{CB7E77C3-6B45-4F07-A5DC-DA9EDBC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Sampled Schedules</a:t>
            </a:r>
          </a:p>
        </p:txBody>
      </p:sp>
      <p:sp>
        <p:nvSpPr>
          <p:cNvPr id="25" name="label.search">
            <a:extLst xmlns:a="http://schemas.openxmlformats.org/drawingml/2006/main">
              <a:ext uri="{FF2B5EF4-FFF2-40B4-BE49-F238E27FC236}">
                <a16:creationId xmlns:a16="http://schemas.microsoft.com/office/drawing/2014/main" id="{DADF4893-93D1-4B90-90F0-9C69BE9A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54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Search Space</a:t>
            </a:r>
          </a:p>
        </p:txBody>
      </p:sp>
      <p:sp>
        <p:nvSpPr>
          <p:cNvPr id="26" name="step.one">
            <a:extLst xmlns:a="http://schemas.openxmlformats.org/drawingml/2006/main">
              <a:ext uri="{FF2B5EF4-FFF2-40B4-BE49-F238E27FC236}">
                <a16:creationId xmlns:a16="http://schemas.microsoft.com/office/drawing/2014/main" id="{F4ABA32B-AD96-4F50-85F5-73DDF715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1. Sample a subset of schedules</a:t>
            </a:r>
          </a:p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through evolutionary search</a:t>
            </a:r>
          </a:p>
        </p:txBody>
      </p:sp>
      <p:sp>
        <p:nvSpPr>
          <p:cNvPr id="27" name="step.two">
            <a:extLst xmlns:a="http://schemas.openxmlformats.org/drawingml/2006/main">
              <a:ext uri="{FF2B5EF4-FFF2-40B4-BE49-F238E27FC236}">
                <a16:creationId xmlns:a16="http://schemas.microsoft.com/office/drawing/2014/main" id="{B4089052-62BA-486D-96A3-E871D4A2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47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2. Evaluate the true performance</a:t>
            </a:r>
          </a:p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of sampled schedules</a:t>
            </a:r>
          </a:p>
        </p:txBody>
      </p:sp>
      <p:sp>
        <p:nvSpPr>
          <p:cNvPr id="28" name="step.three">
            <a:extLst xmlns:a="http://schemas.openxmlformats.org/drawingml/2006/main">
              <a:ext uri="{FF2B5EF4-FFF2-40B4-BE49-F238E27FC236}">
                <a16:creationId xmlns:a16="http://schemas.microsoft.com/office/drawing/2014/main" id="{01719C0E-1783-404D-B078-0D671CD1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57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3. Train the predictor</a:t>
            </a:r>
          </a:p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with all evaluated schedules</a:t>
            </a:r>
          </a:p>
        </p:txBody>
      </p:sp>
      <p:sp>
        <p:nvSpPr>
          <p:cNvPr id="29" name="step.four">
            <a:extLst xmlns:a="http://schemas.openxmlformats.org/drawingml/2006/main">
              <a:ext uri="{FF2B5EF4-FFF2-40B4-BE49-F238E27FC236}">
                <a16:creationId xmlns:a16="http://schemas.microsoft.com/office/drawing/2014/main" id="{C60752BF-5923-4FB5-8520-B73E145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4. Use the trained predictor to guide</a:t>
            </a:r>
          </a:p>
          <a:p xmlns:a="http://schemas.openxmlformats.org/drawingml/2006/main">
            <a:pPr algn="ctr">
              <a:defRPr sz="1350" b="1" i="0">
                <a:solidFill>
                  <a:srgbClr val="E28437"/>
                </a:solidFill>
              </a:defRPr>
            </a:pPr>
            <a:r>
              <a:rPr sz="1350" b="1" i="0">
                <a:solidFill>
                  <a:srgbClr val="E28437"/>
                </a:solidFill>
              </a:rPr>
              <a:t>the evolutionary search</a:t>
            </a:r>
          </a:p>
        </p:txBody>
      </p:sp>
      <p:sp>
        <p:nvSpPr>
          <p:cNvPr id="30" name="arrow.sampled-to-evaluated">
            <a:extLst xmlns:a="http://schemas.openxmlformats.org/drawingml/2006/main">
              <a:ext uri="{FF2B5EF4-FFF2-40B4-BE49-F238E27FC236}">
                <a16:creationId xmlns:a16="http://schemas.microsoft.com/office/drawing/2014/main" id="{0D001903-A1B5-40AD-A597-978AF8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11430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77466"/>
            </a:solidFill>
            <a:prstDash val="solid"/>
          </a:ln>
        </p:spPr>
      </p:sp>
      <p:sp>
        <p:nvSpPr>
          <p:cNvPr id="31" name="arrow.sampled-to-evaluated.arrow-end">
            <a:extLst xmlns:a="http://schemas.openxmlformats.org/drawingml/2006/main">
              <a:ext uri="{FF2B5EF4-FFF2-40B4-BE49-F238E27FC236}">
                <a16:creationId xmlns:a16="http://schemas.microsoft.com/office/drawing/2014/main" id="{0B575E68-8431-4978-9AFB-7360A4CD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360" y="1575435"/>
            <a:ext cx="182880" cy="1828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row.evaluated-to-predictor">
            <a:extLst xmlns:a="http://schemas.openxmlformats.org/drawingml/2006/main">
              <a:ext uri="{FF2B5EF4-FFF2-40B4-BE49-F238E27FC236}">
                <a16:creationId xmlns:a16="http://schemas.microsoft.com/office/drawing/2014/main" id="{19A9B75F-C3DA-4FCC-8F78-20C53721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138112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77466"/>
            </a:solidFill>
            <a:prstDash val="solid"/>
          </a:ln>
        </p:spPr>
      </p:sp>
      <p:sp>
        <p:nvSpPr>
          <p:cNvPr id="33" name="arrow.evaluated-to-predictor.arrow-end">
            <a:extLst xmlns:a="http://schemas.openxmlformats.org/drawingml/2006/main">
              <a:ext uri="{FF2B5EF4-FFF2-40B4-BE49-F238E27FC236}">
                <a16:creationId xmlns:a16="http://schemas.microsoft.com/office/drawing/2014/main" id="{FE155C96-EB6F-495B-BED4-72E2342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935" y="2308860"/>
            <a:ext cx="182880" cy="1828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row.predictor-to-search">
            <a:extLst xmlns:a="http://schemas.openxmlformats.org/drawingml/2006/main">
              <a:ext uri="{FF2B5EF4-FFF2-40B4-BE49-F238E27FC236}">
                <a16:creationId xmlns:a16="http://schemas.microsoft.com/office/drawing/2014/main" id="{4B099D60-FC65-478C-BAA0-237AE9E6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1533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77466"/>
            </a:solidFill>
            <a:prstDash val="solid"/>
          </a:ln>
        </p:spPr>
      </p:sp>
      <p:sp>
        <p:nvSpPr>
          <p:cNvPr id="35" name="arrow.predictor-to-search.arrow-end">
            <a:extLst xmlns:a="http://schemas.openxmlformats.org/drawingml/2006/main">
              <a:ext uri="{FF2B5EF4-FFF2-40B4-BE49-F238E27FC236}">
                <a16:creationId xmlns:a16="http://schemas.microsoft.com/office/drawing/2014/main" id="{58259FFF-5360-4F08-AC5E-38B627F2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660" y="4547235"/>
            <a:ext cx="182880" cy="1828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row.search-to-sampled">
            <a:extLst xmlns:a="http://schemas.openxmlformats.org/drawingml/2006/main">
              <a:ext uri="{FF2B5EF4-FFF2-40B4-BE49-F238E27FC236}">
                <a16:creationId xmlns:a16="http://schemas.microsoft.com/office/drawing/2014/main" id="{C2D394DA-11AF-46B1-9970-986B9A4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109537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77466"/>
            </a:solidFill>
            <a:prstDash val="solid"/>
          </a:ln>
        </p:spPr>
      </p:sp>
      <p:sp>
        <p:nvSpPr>
          <p:cNvPr id="37" name="arrow.search-to-sampled.arrow-end">
            <a:extLst xmlns:a="http://schemas.openxmlformats.org/drawingml/2006/main">
              <a:ext uri="{FF2B5EF4-FFF2-40B4-BE49-F238E27FC236}">
                <a16:creationId xmlns:a16="http://schemas.microsoft.com/office/drawing/2014/main" id="{ECA2244E-0283-4451-B74E-C2BAD25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935" y="3928110"/>
            <a:ext cx="182880" cy="1828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egend.solver">
            <a:extLst xmlns:a="http://schemas.openxmlformats.org/drawingml/2006/main">
              <a:ext uri="{FF2B5EF4-FFF2-40B4-BE49-F238E27FC236}">
                <a16:creationId xmlns:a16="http://schemas.microsoft.com/office/drawing/2014/main" id="{AE6B338A-7149-474E-AD43-68EB33A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E45"/>
          </a:solidFill>
          <a:ln xmlns:a="http://schemas.openxmlformats.org/drawingml/2006/main" w="14288">
            <a:solidFill>
              <a:srgbClr val="40351F"/>
            </a:solidFill>
            <a:prstDash val="solid"/>
          </a:ln>
        </p:spPr>
      </p:sp>
      <p:sp>
        <p:nvSpPr>
          <p:cNvPr id="39" name="legend.label">
            <a:extLst xmlns:a="http://schemas.openxmlformats.org/drawingml/2006/main">
              <a:ext uri="{FF2B5EF4-FFF2-40B4-BE49-F238E27FC236}">
                <a16:creationId xmlns:a16="http://schemas.microsoft.com/office/drawing/2014/main" id="{BFB0A94F-9AE1-45CE-84A4-30DBB314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Solver Schedules</a:t>
            </a:r>
          </a:p>
        </p:txBody>
      </p:sp>
    </p:spTree>
    <p:extLst>
      <p:ext uri="{BB962C8B-B14F-4D97-AF65-F5344CB8AC3E}">
        <p14:creationId xmlns:p14="http://schemas.microsoft.com/office/powerpoint/2010/main" val="318793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panel.task">
            <a:extLst xmlns:a="http://schemas.openxmlformats.org/drawingml/2006/main">
              <a:ext uri="{FF2B5EF4-FFF2-40B4-BE49-F238E27FC236}">
                <a16:creationId xmlns:a16="http://schemas.microsoft.com/office/drawing/2014/main" id="{06F902C7-2060-423E-8D8C-5220C8E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85800"/>
            <a:ext cx="2381250" cy="4286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14288">
            <a:solidFill>
              <a:srgbClr val="D6D3C4"/>
            </a:solidFill>
            <a:prstDash val="solid"/>
          </a:ln>
        </p:spPr>
      </p:sp>
      <p:sp>
        <p:nvSpPr>
          <p:cNvPr id="2" name="panel.single">
            <a:extLst xmlns:a="http://schemas.openxmlformats.org/drawingml/2006/main">
              <a:ext uri="{FF2B5EF4-FFF2-40B4-BE49-F238E27FC236}">
                <a16:creationId xmlns:a16="http://schemas.microsoft.com/office/drawing/2014/main" id="{5E3EA18D-505D-414E-8F90-79AFB0CB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85800"/>
            <a:ext cx="2381250" cy="4286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14288">
            <a:solidFill>
              <a:srgbClr val="D6D3C4"/>
            </a:solidFill>
            <a:prstDash val="solid"/>
          </a:ln>
        </p:spPr>
      </p:sp>
      <p:sp>
        <p:nvSpPr>
          <p:cNvPr id="3" name="panel.multi">
            <a:extLst xmlns:a="http://schemas.openxmlformats.org/drawingml/2006/main">
              <a:ext uri="{FF2B5EF4-FFF2-40B4-BE49-F238E27FC236}">
                <a16:creationId xmlns:a16="http://schemas.microsoft.com/office/drawing/2014/main" id="{BD0AE085-55B0-4F53-AAC4-9AC70C1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85800"/>
            <a:ext cx="333375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14288">
            <a:solidFill>
              <a:srgbClr val="D6D3C4"/>
            </a:solidFill>
            <a:prstDash val="solid"/>
          </a:ln>
        </p:spPr>
      </p:sp>
      <p:sp>
        <p:nvSpPr>
          <p:cNvPr id="4" name="panel.correction">
            <a:extLst xmlns:a="http://schemas.openxmlformats.org/drawingml/2006/main">
              <a:ext uri="{FF2B5EF4-FFF2-40B4-BE49-F238E27FC236}">
                <a16:creationId xmlns:a16="http://schemas.microsoft.com/office/drawing/2014/main" id="{47868320-6456-49A6-8CE5-5BEE2055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85800"/>
            <a:ext cx="2143125" cy="4286250"/>
          </a:xfrm>
          <a:prstGeom xmlns:a="http://schemas.openxmlformats.org/drawingml/2006/main" prst="roundRect">
            <a:avLst>
              <a:gd name="adj" fmla="val 6222"/>
            </a:avLst>
          </a:prstGeom>
          <a:solidFill xmlns:a="http://schemas.openxmlformats.org/drawingml/2006/main">
            <a:srgbClr val="F4FBF1"/>
          </a:solidFill>
          <a:ln xmlns:a="http://schemas.openxmlformats.org/drawingml/2006/main" w="14288">
            <a:solidFill>
              <a:srgbClr val="B7D7AC"/>
            </a:solidFill>
            <a:prstDash val="solid"/>
          </a:ln>
        </p:spPr>
      </p:sp>
      <p:sp>
        <p:nvSpPr>
          <p:cNvPr id="5" name="title.task">
            <a:extLst xmlns:a="http://schemas.openxmlformats.org/drawingml/2006/main">
              <a:ext uri="{FF2B5EF4-FFF2-40B4-BE49-F238E27FC236}">
                <a16:creationId xmlns:a16="http://schemas.microsoft.com/office/drawing/2014/main" id="{4E2427AF-1E43-426E-BEF1-8F1DF54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Problem-solving tasks</a:t>
            </a:r>
          </a:p>
        </p:txBody>
      </p:sp>
      <p:sp>
        <p:nvSpPr>
          <p:cNvPr id="6" name="task.prompt">
            <a:extLst xmlns:a="http://schemas.openxmlformats.org/drawingml/2006/main">
              <a:ext uri="{FF2B5EF4-FFF2-40B4-BE49-F238E27FC236}">
                <a16:creationId xmlns:a16="http://schemas.microsoft.com/office/drawing/2014/main" id="{E3F5254C-BC05-401B-8AE0-BA46886C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1952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14288">
            <a:solidFill>
              <a:srgbClr val="E4B4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B66556"/>
                </a:solidFill>
              </a:defRPr>
            </a:pPr>
            <a:r>
              <a:rPr sz="1125" b="0" i="0">
                <a:solidFill>
                  <a:srgbClr val="B66556"/>
                </a:solidFill>
              </a:rPr>
              <a:t>A robe takes 2 bolts</a:t>
            </a:r>
          </a:p>
          <a:p xmlns:a="http://schemas.openxmlformats.org/drawingml/2006/main">
            <a:pPr algn="ctr">
              <a:defRPr sz="1125" b="0" i="0">
                <a:solidFill>
                  <a:srgbClr val="B66556"/>
                </a:solidFill>
              </a:defRPr>
            </a:pPr>
            <a:r>
              <a:rPr sz="1125" b="0" i="0">
                <a:solidFill>
                  <a:srgbClr val="B66556"/>
                </a:solidFill>
              </a:rPr>
              <a:t>of blue fiber and</a:t>
            </a:r>
          </a:p>
          <a:p xmlns:a="http://schemas.openxmlformats.org/drawingml/2006/main">
            <a:pPr algn="ctr">
              <a:defRPr sz="1125" b="0" i="0">
                <a:solidFill>
                  <a:srgbClr val="B66556"/>
                </a:solidFill>
              </a:defRPr>
            </a:pPr>
            <a:r>
              <a:rPr sz="1125" b="0" i="0">
                <a:solidFill>
                  <a:srgbClr val="B66556"/>
                </a:solidFill>
              </a:rPr>
              <a:t>half that much white.</a:t>
            </a:r>
          </a:p>
          <a:p xmlns:a="http://schemas.openxmlformats.org/drawingml/2006/main">
            <a:pPr algn="ctr">
              <a:defRPr sz="1125" b="0" i="0">
                <a:solidFill>
                  <a:srgbClr val="B66556"/>
                </a:solidFill>
              </a:defRPr>
            </a:pPr>
            <a:r>
              <a:rPr sz="1125" b="0" i="0">
                <a:solidFill>
                  <a:srgbClr val="B66556"/>
                </a:solidFill>
              </a:rPr>
              <a:t>How many bolts total?</a:t>
            </a:r>
          </a:p>
        </p:txBody>
      </p:sp>
      <p:sp>
        <p:nvSpPr>
          <p:cNvPr id="7" name="task.label-rationale">
            <a:extLst xmlns:a="http://schemas.openxmlformats.org/drawingml/2006/main">
              <a:ext uri="{FF2B5EF4-FFF2-40B4-BE49-F238E27FC236}">
                <a16:creationId xmlns:a16="http://schemas.microsoft.com/office/drawing/2014/main" id="{5B696B7A-29C5-4FF4-99AA-AC7E7023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827"/>
                </a:solidFill>
              </a:defRPr>
            </a:pPr>
            <a:r>
              <a:rPr sz="1125" b="0" i="1">
                <a:solidFill>
                  <a:srgbClr val="111827"/>
                </a:solidFill>
              </a:rPr>
              <a:t>Rationales</a:t>
            </a:r>
          </a:p>
        </p:txBody>
      </p:sp>
      <p:sp>
        <p:nvSpPr>
          <p:cNvPr id="8" name="task.rationales.03">
            <a:extLst xmlns:a="http://schemas.openxmlformats.org/drawingml/2006/main">
              <a:ext uri="{FF2B5EF4-FFF2-40B4-BE49-F238E27FC236}">
                <a16:creationId xmlns:a16="http://schemas.microsoft.com/office/drawing/2014/main" id="{2272CA31-0B5D-4395-9392-282312A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1430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5EAD7"/>
          </a:solidFill>
          <a:ln xmlns:a="http://schemas.openxmlformats.org/drawingml/2006/main" w="14288">
            <a:solidFill>
              <a:srgbClr val="A9A1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827"/>
                </a:solidFill>
              </a:defRPr>
            </a:pPr>
            <a:r>
              <a:rPr sz="975" b="0" i="0">
                <a:solidFill>
                  <a:srgbClr val="111827"/>
                </a:solidFill>
              </a:rPr>
              <a:t>3 bolts</a:t>
            </a:r>
          </a:p>
        </p:txBody>
      </p:sp>
      <p:sp>
        <p:nvSpPr>
          <p:cNvPr id="9" name="task.rationales.02">
            <a:extLst xmlns:a="http://schemas.openxmlformats.org/drawingml/2006/main">
              <a:ext uri="{FF2B5EF4-FFF2-40B4-BE49-F238E27FC236}">
                <a16:creationId xmlns:a16="http://schemas.microsoft.com/office/drawing/2014/main" id="{9E1C09FE-FFB8-486E-8118-BC890EC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1430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5EDF8"/>
          </a:solidFill>
          <a:ln xmlns:a="http://schemas.openxmlformats.org/drawingml/2006/main" w="14288">
            <a:solidFill>
              <a:srgbClr val="A9A1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827"/>
                </a:solidFill>
              </a:defRPr>
            </a:pPr>
            <a:r>
              <a:rPr sz="975" b="0" i="0">
                <a:solidFill>
                  <a:srgbClr val="111827"/>
                </a:solidFill>
              </a:rPr>
              <a:t>2+2/2</a:t>
            </a:r>
          </a:p>
        </p:txBody>
      </p:sp>
      <p:sp>
        <p:nvSpPr>
          <p:cNvPr id="10" name="task.rationales.01">
            <a:extLst xmlns:a="http://schemas.openxmlformats.org/drawingml/2006/main">
              <a:ext uri="{FF2B5EF4-FFF2-40B4-BE49-F238E27FC236}">
                <a16:creationId xmlns:a16="http://schemas.microsoft.com/office/drawing/2014/main" id="{4E59A106-AB79-4090-9068-DDBDCF4A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1430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DE7F7"/>
          </a:solidFill>
          <a:ln xmlns:a="http://schemas.openxmlformats.org/drawingml/2006/main" w="14288">
            <a:solidFill>
              <a:srgbClr val="A9A1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827"/>
                </a:solidFill>
              </a:defRPr>
            </a:pPr>
            <a:r>
              <a:rPr sz="975" b="0" i="0">
                <a:solidFill>
                  <a:srgbClr val="111827"/>
                </a:solidFill>
              </a:rPr>
              <a:t>2+1=3</a:t>
            </a:r>
          </a:p>
        </p:txBody>
      </p:sp>
      <p:sp>
        <p:nvSpPr>
          <p:cNvPr id="11" name="task.answer">
            <a:extLst xmlns:a="http://schemas.openxmlformats.org/drawingml/2006/main">
              <a:ext uri="{FF2B5EF4-FFF2-40B4-BE49-F238E27FC236}">
                <a16:creationId xmlns:a16="http://schemas.microsoft.com/office/drawing/2014/main" id="{9FF70450-8E30-4A10-8126-7AF50AEB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4F6"/>
          </a:solidFill>
          <a:ln xmlns:a="http://schemas.openxmlformats.org/drawingml/2006/main" w="14288">
            <a:solidFill>
              <a:srgbClr val="8296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a</a:t>
            </a:r>
          </a:p>
        </p:txBody>
      </p:sp>
      <p:sp>
        <p:nvSpPr>
          <p:cNvPr id="12" name="title.single">
            <a:extLst xmlns:a="http://schemas.openxmlformats.org/drawingml/2006/main">
              <a:ext uri="{FF2B5EF4-FFF2-40B4-BE49-F238E27FC236}">
                <a16:creationId xmlns:a16="http://schemas.microsoft.com/office/drawing/2014/main" id="{542F8390-A377-4DDF-AE18-267C977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3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Diffusion-of-Thoughts (DoT)</a:t>
            </a:r>
          </a:p>
        </p:txBody>
      </p:sp>
      <p:sp>
        <p:nvSpPr>
          <p:cNvPr id="13" name="single.t1.01.01">
            <a:extLst xmlns:a="http://schemas.openxmlformats.org/drawingml/2006/main">
              <a:ext uri="{FF2B5EF4-FFF2-40B4-BE49-F238E27FC236}">
                <a16:creationId xmlns:a16="http://schemas.microsoft.com/office/drawing/2014/main" id="{0172D03D-495F-4EA8-827C-0202712F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970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8B5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ingle.t1.01.02">
            <a:extLst xmlns:a="http://schemas.openxmlformats.org/drawingml/2006/main">
              <a:ext uri="{FF2B5EF4-FFF2-40B4-BE49-F238E27FC236}">
                <a16:creationId xmlns:a16="http://schemas.microsoft.com/office/drawing/2014/main" id="{E9430BE9-725C-4200-A83E-DFC5D5BE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140970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9D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ingle.t1.01.03">
            <a:extLst xmlns:a="http://schemas.openxmlformats.org/drawingml/2006/main">
              <a:ext uri="{FF2B5EF4-FFF2-40B4-BE49-F238E27FC236}">
                <a16:creationId xmlns:a16="http://schemas.microsoft.com/office/drawing/2014/main" id="{79F9B837-C9A6-4FA0-90EF-F1A1EF5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40970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9F0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single.t1.01.04">
            <a:extLst xmlns:a="http://schemas.openxmlformats.org/drawingml/2006/main">
              <a:ext uri="{FF2B5EF4-FFF2-40B4-BE49-F238E27FC236}">
                <a16:creationId xmlns:a16="http://schemas.microsoft.com/office/drawing/2014/main" id="{A6172DB2-62A7-4935-A9ED-C6F724AA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40970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8B5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ingle.t1.01.05">
            <a:extLst xmlns:a="http://schemas.openxmlformats.org/drawingml/2006/main">
              <a:ext uri="{FF2B5EF4-FFF2-40B4-BE49-F238E27FC236}">
                <a16:creationId xmlns:a16="http://schemas.microsoft.com/office/drawing/2014/main" id="{D4C6D41D-9D2A-439B-8B31-6788BDB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140970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9D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ingle.t0.01.01">
            <a:extLst xmlns:a="http://schemas.openxmlformats.org/drawingml/2006/main">
              <a:ext uri="{FF2B5EF4-FFF2-40B4-BE49-F238E27FC236}">
                <a16:creationId xmlns:a16="http://schemas.microsoft.com/office/drawing/2014/main" id="{06090ACD-553E-4A82-9D2C-A089EA65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7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ingle.t0.01.02">
            <a:extLst xmlns:a="http://schemas.openxmlformats.org/drawingml/2006/main">
              <a:ext uri="{FF2B5EF4-FFF2-40B4-BE49-F238E27FC236}">
                <a16:creationId xmlns:a16="http://schemas.microsoft.com/office/drawing/2014/main" id="{F5276138-0A35-43BE-A189-31973E87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314325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7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ingle.t0.01.03">
            <a:extLst xmlns:a="http://schemas.openxmlformats.org/drawingml/2006/main">
              <a:ext uri="{FF2B5EF4-FFF2-40B4-BE49-F238E27FC236}">
                <a16:creationId xmlns:a16="http://schemas.microsoft.com/office/drawing/2014/main" id="{8C147FFA-7A89-44EC-A138-995DE46E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14325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7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ingle.t0.01.04">
            <a:extLst xmlns:a="http://schemas.openxmlformats.org/drawingml/2006/main">
              <a:ext uri="{FF2B5EF4-FFF2-40B4-BE49-F238E27FC236}">
                <a16:creationId xmlns:a16="http://schemas.microsoft.com/office/drawing/2014/main" id="{8BDAAC61-5AF5-46A6-B557-B832BED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14325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7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ingle.t0.01.05">
            <a:extLst xmlns:a="http://schemas.openxmlformats.org/drawingml/2006/main">
              <a:ext uri="{FF2B5EF4-FFF2-40B4-BE49-F238E27FC236}">
                <a16:creationId xmlns:a16="http://schemas.microsoft.com/office/drawing/2014/main" id="{26EFD626-4827-419B-8394-73C1F349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3143250"/>
            <a:ext cx="26289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7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ingle.t1-label">
            <a:extLst xmlns:a="http://schemas.openxmlformats.org/drawingml/2006/main">
              <a:ext uri="{FF2B5EF4-FFF2-40B4-BE49-F238E27FC236}">
                <a16:creationId xmlns:a16="http://schemas.microsoft.com/office/drawing/2014/main" id="{18239A92-2A59-4BC4-B85D-B9365AFA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85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827"/>
                </a:solidFill>
              </a:defRPr>
            </a:pPr>
            <a:r>
              <a:rPr sz="1050" b="0" i="0">
                <a:solidFill>
                  <a:srgbClr val="111827"/>
                </a:solidFill>
              </a:rPr>
              <a:t>t=1</a:t>
            </a:r>
          </a:p>
        </p:txBody>
      </p:sp>
      <p:sp>
        <p:nvSpPr>
          <p:cNvPr id="24" name="single.t0-label">
            <a:extLst xmlns:a="http://schemas.openxmlformats.org/drawingml/2006/main">
              <a:ext uri="{FF2B5EF4-FFF2-40B4-BE49-F238E27FC236}">
                <a16:creationId xmlns:a16="http://schemas.microsoft.com/office/drawing/2014/main" id="{D60D8C46-69AC-4E74-B7C1-79575B1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827"/>
                </a:solidFill>
              </a:defRPr>
            </a:pPr>
            <a:r>
              <a:rPr sz="1050" b="0" i="0">
                <a:solidFill>
                  <a:srgbClr val="111827"/>
                </a:solidFill>
              </a:rPr>
              <a:t>t=0</a:t>
            </a:r>
          </a:p>
        </p:txBody>
      </p:sp>
      <p:sp>
        <p:nvSpPr>
          <p:cNvPr id="25" name="single.diffuse">
            <a:extLst xmlns:a="http://schemas.openxmlformats.org/drawingml/2006/main">
              <a:ext uri="{FF2B5EF4-FFF2-40B4-BE49-F238E27FC236}">
                <a16:creationId xmlns:a16="http://schemas.microsoft.com/office/drawing/2014/main" id="{EFE7DACB-8473-4953-BBFA-13EC03FC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A9B6D"/>
            </a:solidFill>
            <a:prstDash val="solid"/>
          </a:ln>
        </p:spPr>
      </p:sp>
      <p:sp>
        <p:nvSpPr>
          <p:cNvPr id="26" name="single.diffuse.arrow-end">
            <a:extLst xmlns:a="http://schemas.openxmlformats.org/drawingml/2006/main">
              <a:ext uri="{FF2B5EF4-FFF2-40B4-BE49-F238E27FC236}">
                <a16:creationId xmlns:a16="http://schemas.microsoft.com/office/drawing/2014/main" id="{1459A903-E5F0-411F-A850-F55E977D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2939415"/>
            <a:ext cx="121920" cy="1219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A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tle.multi">
            <a:extLst xmlns:a="http://schemas.openxmlformats.org/drawingml/2006/main">
              <a:ext uri="{FF2B5EF4-FFF2-40B4-BE49-F238E27FC236}">
                <a16:creationId xmlns:a16="http://schemas.microsoft.com/office/drawing/2014/main" id="{533ADDA5-761A-44F3-AE5C-6C64690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Multi-pass DoT</a:t>
            </a:r>
          </a:p>
        </p:txBody>
      </p:sp>
      <p:sp>
        <p:nvSpPr>
          <p:cNvPr id="28" name="multi.pass1.t1.01.01">
            <a:extLst xmlns:a="http://schemas.openxmlformats.org/drawingml/2006/main">
              <a:ext uri="{FF2B5EF4-FFF2-40B4-BE49-F238E27FC236}">
                <a16:creationId xmlns:a16="http://schemas.microsoft.com/office/drawing/2014/main" id="{40833376-2950-420B-8E9D-6755B071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B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multi.pass1.t1.01.02">
            <a:extLst xmlns:a="http://schemas.openxmlformats.org/drawingml/2006/main">
              <a:ext uri="{FF2B5EF4-FFF2-40B4-BE49-F238E27FC236}">
                <a16:creationId xmlns:a16="http://schemas.microsoft.com/office/drawing/2014/main" id="{06855DCC-C106-4F17-AB79-616C7323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044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multi.pass1.t1.01.03">
            <a:extLst xmlns:a="http://schemas.openxmlformats.org/drawingml/2006/main">
              <a:ext uri="{FF2B5EF4-FFF2-40B4-BE49-F238E27FC236}">
                <a16:creationId xmlns:a16="http://schemas.microsoft.com/office/drawing/2014/main" id="{C2ACA4B5-EEF8-4414-8A96-0E1DCCEA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B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multi.pass1.t1.01.04">
            <a:extLst xmlns:a="http://schemas.openxmlformats.org/drawingml/2006/main">
              <a:ext uri="{FF2B5EF4-FFF2-40B4-BE49-F238E27FC236}">
                <a16:creationId xmlns:a16="http://schemas.microsoft.com/office/drawing/2014/main" id="{2A255891-AB7F-4B35-8049-7709E15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multi.pass2.t1.01.01">
            <a:extLst xmlns:a="http://schemas.openxmlformats.org/drawingml/2006/main">
              <a:ext uri="{FF2B5EF4-FFF2-40B4-BE49-F238E27FC236}">
                <a16:creationId xmlns:a16="http://schemas.microsoft.com/office/drawing/2014/main" id="{E01755E3-CF6E-4B54-8428-88B3AEAE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B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multi.pass2.t1.01.02">
            <a:extLst xmlns:a="http://schemas.openxmlformats.org/drawingml/2006/main">
              <a:ext uri="{FF2B5EF4-FFF2-40B4-BE49-F238E27FC236}">
                <a16:creationId xmlns:a16="http://schemas.microsoft.com/office/drawing/2014/main" id="{F4F3DD6D-BD8F-4EB8-9E5A-4D2F72C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669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multi.pass2.t1.01.03">
            <a:extLst xmlns:a="http://schemas.openxmlformats.org/drawingml/2006/main">
              <a:ext uri="{FF2B5EF4-FFF2-40B4-BE49-F238E27FC236}">
                <a16:creationId xmlns:a16="http://schemas.microsoft.com/office/drawing/2014/main" id="{F582EB3D-DA85-4E1E-BB1D-12E8CE2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B2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multi.pass2.t1.01.04">
            <a:extLst xmlns:a="http://schemas.openxmlformats.org/drawingml/2006/main">
              <a:ext uri="{FF2B5EF4-FFF2-40B4-BE49-F238E27FC236}">
                <a16:creationId xmlns:a16="http://schemas.microsoft.com/office/drawing/2014/main" id="{94C6BBDF-CAF1-42A5-803A-4714EDC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506" y="138112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7620">
            <a:solidFill>
              <a:srgbClr val="A7A7A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multi.pass1.t0.01.01">
            <a:extLst xmlns:a="http://schemas.openxmlformats.org/drawingml/2006/main">
              <a:ext uri="{FF2B5EF4-FFF2-40B4-BE49-F238E27FC236}">
                <a16:creationId xmlns:a16="http://schemas.microsoft.com/office/drawing/2014/main" id="{9FCF53A7-4C4B-40AB-B63D-E56C464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multi.pass1.t0.01.02">
            <a:extLst xmlns:a="http://schemas.openxmlformats.org/drawingml/2006/main">
              <a:ext uri="{FF2B5EF4-FFF2-40B4-BE49-F238E27FC236}">
                <a16:creationId xmlns:a16="http://schemas.microsoft.com/office/drawing/2014/main" id="{A0BBD715-4D79-4C1B-8956-DF14337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044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multi.pass1.t0.01.03">
            <a:extLst xmlns:a="http://schemas.openxmlformats.org/drawingml/2006/main">
              <a:ext uri="{FF2B5EF4-FFF2-40B4-BE49-F238E27FC236}">
                <a16:creationId xmlns:a16="http://schemas.microsoft.com/office/drawing/2014/main" id="{C870F733-4756-4F7E-ABDE-A504D5CD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multi.pass1.t0.01.04">
            <a:extLst xmlns:a="http://schemas.openxmlformats.org/drawingml/2006/main">
              <a:ext uri="{FF2B5EF4-FFF2-40B4-BE49-F238E27FC236}">
                <a16:creationId xmlns:a16="http://schemas.microsoft.com/office/drawing/2014/main" id="{B4E232DE-012B-43A4-B38F-E85B19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E4"/>
          </a:solidFill>
          <a:ln xmlns:a="http://schemas.openxmlformats.org/drawingml/2006/main" w="7620">
            <a:solidFill>
              <a:srgbClr val="91A9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multi.pass2.t0.01.01">
            <a:extLst xmlns:a="http://schemas.openxmlformats.org/drawingml/2006/main">
              <a:ext uri="{FF2B5EF4-FFF2-40B4-BE49-F238E27FC236}">
                <a16:creationId xmlns:a16="http://schemas.microsoft.com/office/drawing/2014/main" id="{2CB15385-7209-47E1-809A-4BA033A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C2"/>
          </a:solidFill>
          <a:ln xmlns:a="http://schemas.openxmlformats.org/drawingml/2006/main" w="7620">
            <a:solidFill>
              <a:srgbClr val="B995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multi.pass2.t0.01.02">
            <a:extLst xmlns:a="http://schemas.openxmlformats.org/drawingml/2006/main">
              <a:ext uri="{FF2B5EF4-FFF2-40B4-BE49-F238E27FC236}">
                <a16:creationId xmlns:a16="http://schemas.microsoft.com/office/drawing/2014/main" id="{F724E7FB-3D85-4F56-BF03-ECBD4F5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669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C2"/>
          </a:solidFill>
          <a:ln xmlns:a="http://schemas.openxmlformats.org/drawingml/2006/main" w="7620">
            <a:solidFill>
              <a:srgbClr val="B995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multi.pass2.t0.01.03">
            <a:extLst xmlns:a="http://schemas.openxmlformats.org/drawingml/2006/main">
              <a:ext uri="{FF2B5EF4-FFF2-40B4-BE49-F238E27FC236}">
                <a16:creationId xmlns:a16="http://schemas.microsoft.com/office/drawing/2014/main" id="{5DDC0097-12E8-41A7-B819-5E40C683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C2"/>
          </a:solidFill>
          <a:ln xmlns:a="http://schemas.openxmlformats.org/drawingml/2006/main" w="7620">
            <a:solidFill>
              <a:srgbClr val="B995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multi.pass2.t0.01.04">
            <a:extLst xmlns:a="http://schemas.openxmlformats.org/drawingml/2006/main">
              <a:ext uri="{FF2B5EF4-FFF2-40B4-BE49-F238E27FC236}">
                <a16:creationId xmlns:a16="http://schemas.microsoft.com/office/drawing/2014/main" id="{8DD0C4FE-A0CE-40BA-801E-CFA46201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506" y="3190875"/>
            <a:ext cx="235744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C2"/>
          </a:solidFill>
          <a:ln xmlns:a="http://schemas.openxmlformats.org/drawingml/2006/main" w="7620">
            <a:solidFill>
              <a:srgbClr val="B995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multi.pass1">
            <a:extLst xmlns:a="http://schemas.openxmlformats.org/drawingml/2006/main">
              <a:ext uri="{FF2B5EF4-FFF2-40B4-BE49-F238E27FC236}">
                <a16:creationId xmlns:a16="http://schemas.microsoft.com/office/drawing/2014/main" id="{4E21EAFA-0B51-4DE6-9AB2-DDC7C0C9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A9B6D"/>
            </a:solidFill>
            <a:prstDash val="solid"/>
          </a:ln>
        </p:spPr>
      </p:sp>
      <p:sp>
        <p:nvSpPr>
          <p:cNvPr id="45" name="multi.pass1.arrow-end">
            <a:extLst xmlns:a="http://schemas.openxmlformats.org/drawingml/2006/main">
              <a:ext uri="{FF2B5EF4-FFF2-40B4-BE49-F238E27FC236}">
                <a16:creationId xmlns:a16="http://schemas.microsoft.com/office/drawing/2014/main" id="{46243B12-4D94-4337-8452-82604A1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165" y="2987040"/>
            <a:ext cx="121920" cy="1219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A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ulti.pass2">
            <a:extLst xmlns:a="http://schemas.openxmlformats.org/drawingml/2006/main">
              <a:ext uri="{FF2B5EF4-FFF2-40B4-BE49-F238E27FC236}">
                <a16:creationId xmlns:a16="http://schemas.microsoft.com/office/drawing/2014/main" id="{BF35AD82-D9AC-4DCF-92C0-907FA66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A9B6D"/>
            </a:solidFill>
            <a:prstDash val="solid"/>
          </a:ln>
        </p:spPr>
      </p:sp>
      <p:sp>
        <p:nvSpPr>
          <p:cNvPr id="47" name="multi.pass2.arrow-end">
            <a:extLst xmlns:a="http://schemas.openxmlformats.org/drawingml/2006/main">
              <a:ext uri="{FF2B5EF4-FFF2-40B4-BE49-F238E27FC236}">
                <a16:creationId xmlns:a16="http://schemas.microsoft.com/office/drawing/2014/main" id="{D587747D-0134-490A-9C8E-12D48549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790" y="2987040"/>
            <a:ext cx="121920" cy="1219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A9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ulti.causal">
            <a:extLst xmlns:a="http://schemas.openxmlformats.org/drawingml/2006/main">
              <a:ext uri="{FF2B5EF4-FFF2-40B4-BE49-F238E27FC236}">
                <a16:creationId xmlns:a16="http://schemas.microsoft.com/office/drawing/2014/main" id="{FB03263E-9035-4F11-AA1B-64A47D4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099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8E40"/>
            </a:solidFill>
            <a:prstDash val="solid"/>
          </a:ln>
        </p:spPr>
      </p:sp>
      <p:sp>
        <p:nvSpPr>
          <p:cNvPr id="49" name="multi.causal.arrow-end">
            <a:extLst xmlns:a="http://schemas.openxmlformats.org/drawingml/2006/main">
              <a:ext uri="{FF2B5EF4-FFF2-40B4-BE49-F238E27FC236}">
                <a16:creationId xmlns:a16="http://schemas.microsoft.com/office/drawing/2014/main" id="{291FFB54-7534-46CA-B2D8-3B89751E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863" y="335756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28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ulti.causal-label">
            <a:extLst xmlns:a="http://schemas.openxmlformats.org/drawingml/2006/main">
              <a:ext uri="{FF2B5EF4-FFF2-40B4-BE49-F238E27FC236}">
                <a16:creationId xmlns:a16="http://schemas.microsoft.com/office/drawing/2014/main" id="{6A486D5B-2948-41B4-AA41-E2E140DB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27C2E"/>
                </a:solidFill>
              </a:defRPr>
            </a:pPr>
            <a:r>
              <a:rPr sz="975" b="0" i="0">
                <a:solidFill>
                  <a:srgbClr val="C27C2E"/>
                </a:solidFill>
              </a:rPr>
              <a:t>causal bias</a:t>
            </a:r>
          </a:p>
        </p:txBody>
      </p:sp>
      <p:sp>
        <p:nvSpPr>
          <p:cNvPr id="51" name="title.correction">
            <a:extLst xmlns:a="http://schemas.openxmlformats.org/drawingml/2006/main">
              <a:ext uri="{FF2B5EF4-FFF2-40B4-BE49-F238E27FC236}">
                <a16:creationId xmlns:a16="http://schemas.microsoft.com/office/drawing/2014/main" id="{62D02D2F-0B92-4E74-8781-9EA693E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38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Self-correction</a:t>
            </a:r>
          </a:p>
        </p:txBody>
      </p:sp>
      <p:sp>
        <p:nvSpPr>
          <p:cNvPr id="52" name="correction.table">
            <a:extLst xmlns:a="http://schemas.openxmlformats.org/drawingml/2006/main">
              <a:ext uri="{FF2B5EF4-FFF2-40B4-BE49-F238E27FC236}">
                <a16:creationId xmlns:a16="http://schemas.microsoft.com/office/drawing/2014/main" id="{8D5BC74B-F0B4-4FA9-AAFA-D7A42FC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71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Training</a:t>
            </a:r>
          </a:p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Expected  →  Predicted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Inference</a:t>
            </a:r>
          </a:p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T=7     2+2 = 4</a:t>
            </a:r>
          </a:p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T=4     2+3 = 5</a:t>
            </a:r>
          </a:p>
          <a:p xmlns:a="http://schemas.openxmlformats.org/drawingml/2006/main">
            <a:pPr algn="l">
              <a:defRPr sz="1125" b="0" i="0">
                <a:solidFill>
                  <a:srgbClr val="377A4B"/>
                </a:solidFill>
              </a:defRPr>
            </a:pPr>
            <a:r>
              <a:rPr sz="1125" b="0" i="0">
                <a:solidFill>
                  <a:srgbClr val="377A4B"/>
                </a:solidFill>
              </a:rPr>
              <a:t>T=0     2+1 = 3</a:t>
            </a:r>
          </a:p>
        </p:txBody>
      </p:sp>
      <p:sp>
        <p:nvSpPr>
          <p:cNvPr id="53" name="arrow.task-to-single">
            <a:extLst xmlns:a="http://schemas.openxmlformats.org/drawingml/2006/main">
              <a:ext uri="{FF2B5EF4-FFF2-40B4-BE49-F238E27FC236}">
                <a16:creationId xmlns:a16="http://schemas.microsoft.com/office/drawing/2014/main" id="{5E8A6223-AF13-4192-A76D-0A9AC91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4748B"/>
            </a:solidFill>
            <a:prstDash val="solid"/>
          </a:ln>
        </p:spPr>
      </p:sp>
      <p:sp>
        <p:nvSpPr>
          <p:cNvPr id="54" name="arrow.task-to-single.arrow-end">
            <a:extLst xmlns:a="http://schemas.openxmlformats.org/drawingml/2006/main">
              <a:ext uri="{FF2B5EF4-FFF2-40B4-BE49-F238E27FC236}">
                <a16:creationId xmlns:a16="http://schemas.microsoft.com/office/drawing/2014/main" id="{C3ED758A-837E-4424-9D32-C31C0E6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28051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arrow.single-to-multi">
            <a:extLst xmlns:a="http://schemas.openxmlformats.org/drawingml/2006/main">
              <a:ext uri="{FF2B5EF4-FFF2-40B4-BE49-F238E27FC236}">
                <a16:creationId xmlns:a16="http://schemas.microsoft.com/office/drawing/2014/main" id="{F788A4AD-A53E-402E-9C58-5A4353E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4748B"/>
            </a:solidFill>
            <a:prstDash val="solid"/>
          </a:ln>
        </p:spPr>
      </p:sp>
      <p:sp>
        <p:nvSpPr>
          <p:cNvPr id="56" name="arrow.single-to-multi.arrow-end">
            <a:extLst xmlns:a="http://schemas.openxmlformats.org/drawingml/2006/main">
              <a:ext uri="{FF2B5EF4-FFF2-40B4-BE49-F238E27FC236}">
                <a16:creationId xmlns:a16="http://schemas.microsoft.com/office/drawing/2014/main" id="{CFAFC5FD-9F1C-4439-9D96-E9C8749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28051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arrow.multi-to-correction">
            <a:extLst xmlns:a="http://schemas.openxmlformats.org/drawingml/2006/main">
              <a:ext uri="{FF2B5EF4-FFF2-40B4-BE49-F238E27FC236}">
                <a16:creationId xmlns:a16="http://schemas.microsoft.com/office/drawing/2014/main" id="{7951BCF8-9FA5-4DB2-A9C4-685D363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4748B"/>
            </a:solidFill>
            <a:prstDash val="solid"/>
          </a:ln>
        </p:spPr>
      </p:sp>
      <p:sp>
        <p:nvSpPr>
          <p:cNvPr id="58" name="arrow.multi-to-correction.arrow-end">
            <a:extLst xmlns:a="http://schemas.openxmlformats.org/drawingml/2006/main">
              <a:ext uri="{FF2B5EF4-FFF2-40B4-BE49-F238E27FC236}">
                <a16:creationId xmlns:a16="http://schemas.microsoft.com/office/drawing/2014/main" id="{5EBA8276-F3C7-48F6-B9DD-6C3F7EC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8051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legend.tokens">
            <a:extLst xmlns:a="http://schemas.openxmlformats.org/drawingml/2006/main">
              <a:ext uri="{FF2B5EF4-FFF2-40B4-BE49-F238E27FC236}">
                <a16:creationId xmlns:a16="http://schemas.microsoft.com/office/drawing/2014/main" id="{E3662A85-B577-4AF6-B08B-2F935E07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</a:defRPr>
            </a:pPr>
            <a:r>
              <a:rPr sz="1050" b="0" i="0">
                <a:solidFill>
                  <a:srgbClr val="6B7280"/>
                </a:solidFill>
              </a:rPr>
              <a:t>input space   •   hidden space   •   reasoning path</a:t>
            </a:r>
          </a:p>
        </p:txBody>
      </p:sp>
    </p:spTree>
    <p:extLst>
      <p:ext uri="{BB962C8B-B14F-4D97-AF65-F5344CB8AC3E}">
        <p14:creationId xmlns:p14="http://schemas.microsoft.com/office/powerpoint/2010/main" val="840939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branch.original.frame">
            <a:extLst xmlns:a="http://schemas.openxmlformats.org/drawingml/2006/main">
              <a:ext uri="{FF2B5EF4-FFF2-40B4-BE49-F238E27FC236}">
                <a16:creationId xmlns:a16="http://schemas.microsoft.com/office/drawing/2014/main" id="{1B9A2D7C-9BA4-4FAC-A40B-1363146D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72390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CDD4"/>
            </a:solidFill>
            <a:prstDash val="solid"/>
          </a:ln>
        </p:spPr>
      </p:sp>
      <p:sp>
        <p:nvSpPr>
          <p:cNvPr id="2" name="branch.translit.frame">
            <a:extLst xmlns:a="http://schemas.openxmlformats.org/drawingml/2006/main">
              <a:ext uri="{FF2B5EF4-FFF2-40B4-BE49-F238E27FC236}">
                <a16:creationId xmlns:a16="http://schemas.microsoft.com/office/drawing/2014/main" id="{8F6DB838-434B-4CDE-94B3-95C5096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72390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CDD4"/>
            </a:solidFill>
            <a:prstDash val="solid"/>
          </a:ln>
        </p:spPr>
      </p:sp>
      <p:sp>
        <p:nvSpPr>
          <p:cNvPr id="3" name="label.original">
            <a:extLst xmlns:a="http://schemas.openxmlformats.org/drawingml/2006/main">
              <a:ext uri="{FF2B5EF4-FFF2-40B4-BE49-F238E27FC236}">
                <a16:creationId xmlns:a16="http://schemas.microsoft.com/office/drawing/2014/main" id="{8C72E633-09B6-4014-9308-68D1325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original sentence: sui nicaq pirin.</a:t>
            </a:r>
          </a:p>
        </p:txBody>
      </p:sp>
      <p:sp>
        <p:nvSpPr>
          <p:cNvPr id="4" name="label.translit">
            <a:extLst xmlns:a="http://schemas.openxmlformats.org/drawingml/2006/main">
              <a:ext uri="{FF2B5EF4-FFF2-40B4-BE49-F238E27FC236}">
                <a16:creationId xmlns:a16="http://schemas.microsoft.com/office/drawing/2014/main" id="{6CF615C3-0067-4229-A3F6-E12FCC5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transliterate: sui yudi ivni.</a:t>
            </a:r>
          </a:p>
        </p:txBody>
      </p:sp>
      <p:sp>
        <p:nvSpPr>
          <p:cNvPr id="5" name="module.original.transformer">
            <a:extLst xmlns:a="http://schemas.openxmlformats.org/drawingml/2006/main">
              <a:ext uri="{FF2B5EF4-FFF2-40B4-BE49-F238E27FC236}">
                <a16:creationId xmlns:a16="http://schemas.microsoft.com/office/drawing/2014/main" id="{8F3C8893-5362-484F-874D-B5A5124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28700"/>
            <a:ext cx="31432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4E1"/>
          </a:solidFill>
          <a:ln xmlns:a="http://schemas.openxmlformats.org/drawingml/2006/main" w="14288">
            <a:solidFill>
              <a:srgbClr val="83A8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Transformer</a:t>
            </a:r>
          </a:p>
        </p:txBody>
      </p:sp>
      <p:sp>
        <p:nvSpPr>
          <p:cNvPr id="6" name="module.translit.transformer">
            <a:extLst xmlns:a="http://schemas.openxmlformats.org/drawingml/2006/main">
              <a:ext uri="{FF2B5EF4-FFF2-40B4-BE49-F238E27FC236}">
                <a16:creationId xmlns:a16="http://schemas.microsoft.com/office/drawing/2014/main" id="{C3BFBF2D-D059-4ED7-949F-B4E05FB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05200"/>
            <a:ext cx="31432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4E1"/>
          </a:solidFill>
          <a:ln xmlns:a="http://schemas.openxmlformats.org/drawingml/2006/main" w="14288">
            <a:solidFill>
              <a:srgbClr val="83A8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Transformer</a:t>
            </a:r>
          </a:p>
        </p:txBody>
      </p:sp>
      <p:sp>
        <p:nvSpPr>
          <p:cNvPr id="7" name="tokens.original.input.01.01">
            <a:extLst xmlns:a="http://schemas.openxmlformats.org/drawingml/2006/main">
              <a:ext uri="{FF2B5EF4-FFF2-40B4-BE49-F238E27FC236}">
                <a16:creationId xmlns:a16="http://schemas.microsoft.com/office/drawing/2014/main" id="{DFEEF308-1FE4-4841-93B2-7116486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&lt;cls&gt;</a:t>
            </a:r>
          </a:p>
        </p:txBody>
      </p:sp>
      <p:sp>
        <p:nvSpPr>
          <p:cNvPr id="8" name="tokens.original.input.01.02">
            <a:extLst xmlns:a="http://schemas.openxmlformats.org/drawingml/2006/main">
              <a:ext uri="{FF2B5EF4-FFF2-40B4-BE49-F238E27FC236}">
                <a16:creationId xmlns:a16="http://schemas.microsoft.com/office/drawing/2014/main" id="{77822D4E-DF5F-4662-8B56-E4673F1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sui</a:t>
            </a:r>
          </a:p>
        </p:txBody>
      </p:sp>
      <p:sp>
        <p:nvSpPr>
          <p:cNvPr id="9" name="tokens.original.input.01.03">
            <a:extLst xmlns:a="http://schemas.openxmlformats.org/drawingml/2006/main">
              <a:ext uri="{FF2B5EF4-FFF2-40B4-BE49-F238E27FC236}">
                <a16:creationId xmlns:a16="http://schemas.microsoft.com/office/drawing/2014/main" id="{6BB361CA-6CC5-44FC-8FC0-DBA9A6B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nicaq</a:t>
            </a:r>
          </a:p>
        </p:txBody>
      </p:sp>
      <p:sp>
        <p:nvSpPr>
          <p:cNvPr id="10" name="tokens.original.input.01.04">
            <a:extLst xmlns:a="http://schemas.openxmlformats.org/drawingml/2006/main">
              <a:ext uri="{FF2B5EF4-FFF2-40B4-BE49-F238E27FC236}">
                <a16:creationId xmlns:a16="http://schemas.microsoft.com/office/drawing/2014/main" id="{CF9FAA3B-CDF2-4165-8438-959EB5C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mask</a:t>
            </a:r>
          </a:p>
        </p:txBody>
      </p:sp>
      <p:sp>
        <p:nvSpPr>
          <p:cNvPr id="11" name="tokens.original.input.01.05">
            <a:extLst xmlns:a="http://schemas.openxmlformats.org/drawingml/2006/main">
              <a:ext uri="{FF2B5EF4-FFF2-40B4-BE49-F238E27FC236}">
                <a16:creationId xmlns:a16="http://schemas.microsoft.com/office/drawing/2014/main" id="{E941EF1B-87E7-4E08-90E1-53FEB373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pirin</a:t>
            </a:r>
          </a:p>
        </p:txBody>
      </p:sp>
      <p:sp>
        <p:nvSpPr>
          <p:cNvPr id="12" name="tokens.original.input.01.06">
            <a:extLst xmlns:a="http://schemas.openxmlformats.org/drawingml/2006/main">
              <a:ext uri="{FF2B5EF4-FFF2-40B4-BE49-F238E27FC236}">
                <a16:creationId xmlns:a16="http://schemas.microsoft.com/office/drawing/2014/main" id="{9A328526-E86A-4B7B-9788-54469A3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3" name="tokens.original.input.01.07">
            <a:extLst xmlns:a="http://schemas.openxmlformats.org/drawingml/2006/main">
              <a:ext uri="{FF2B5EF4-FFF2-40B4-BE49-F238E27FC236}">
                <a16:creationId xmlns:a16="http://schemas.microsoft.com/office/drawing/2014/main" id="{5248F26C-BF41-432B-B78D-90F2425E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tokens.original.input.01.08">
            <a:extLst xmlns:a="http://schemas.openxmlformats.org/drawingml/2006/main">
              <a:ext uri="{FF2B5EF4-FFF2-40B4-BE49-F238E27FC236}">
                <a16:creationId xmlns:a16="http://schemas.microsoft.com/office/drawing/2014/main" id="{D8E27270-5B1F-4BAF-B665-646D19A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9716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tokens.translit.input.01.01">
            <a:extLst xmlns:a="http://schemas.openxmlformats.org/drawingml/2006/main">
              <a:ext uri="{FF2B5EF4-FFF2-40B4-BE49-F238E27FC236}">
                <a16:creationId xmlns:a16="http://schemas.microsoft.com/office/drawing/2014/main" id="{D8A65942-8224-4ECF-ADBB-D91F707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&lt;cls&gt;</a:t>
            </a:r>
          </a:p>
        </p:txBody>
      </p:sp>
      <p:sp>
        <p:nvSpPr>
          <p:cNvPr id="16" name="tokens.translit.input.01.02">
            <a:extLst xmlns:a="http://schemas.openxmlformats.org/drawingml/2006/main">
              <a:ext uri="{FF2B5EF4-FFF2-40B4-BE49-F238E27FC236}">
                <a16:creationId xmlns:a16="http://schemas.microsoft.com/office/drawing/2014/main" id="{E91294CF-61B2-4053-A69D-BC483D6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sui</a:t>
            </a:r>
          </a:p>
        </p:txBody>
      </p:sp>
      <p:sp>
        <p:nvSpPr>
          <p:cNvPr id="17" name="tokens.translit.input.01.03">
            <a:extLst xmlns:a="http://schemas.openxmlformats.org/drawingml/2006/main">
              <a:ext uri="{FF2B5EF4-FFF2-40B4-BE49-F238E27FC236}">
                <a16:creationId xmlns:a16="http://schemas.microsoft.com/office/drawing/2014/main" id="{5C620F3C-34EB-4F5A-AEE5-7A73BE0A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yudi</a:t>
            </a:r>
          </a:p>
        </p:txBody>
      </p:sp>
      <p:sp>
        <p:nvSpPr>
          <p:cNvPr id="18" name="tokens.translit.input.01.04">
            <a:extLst xmlns:a="http://schemas.openxmlformats.org/drawingml/2006/main">
              <a:ext uri="{FF2B5EF4-FFF2-40B4-BE49-F238E27FC236}">
                <a16:creationId xmlns:a16="http://schemas.microsoft.com/office/drawing/2014/main" id="{1C0FE0F9-7783-43D0-B5DA-24378AE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mask</a:t>
            </a:r>
          </a:p>
        </p:txBody>
      </p:sp>
      <p:sp>
        <p:nvSpPr>
          <p:cNvPr id="19" name="tokens.translit.input.01.05">
            <a:extLst xmlns:a="http://schemas.openxmlformats.org/drawingml/2006/main">
              <a:ext uri="{FF2B5EF4-FFF2-40B4-BE49-F238E27FC236}">
                <a16:creationId xmlns:a16="http://schemas.microsoft.com/office/drawing/2014/main" id="{35D7593A-8F19-4238-8AA2-9B3416C0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ivni</a:t>
            </a:r>
          </a:p>
        </p:txBody>
      </p:sp>
      <p:sp>
        <p:nvSpPr>
          <p:cNvPr id="20" name="tokens.translit.input.01.06">
            <a:extLst xmlns:a="http://schemas.openxmlformats.org/drawingml/2006/main">
              <a:ext uri="{FF2B5EF4-FFF2-40B4-BE49-F238E27FC236}">
                <a16:creationId xmlns:a16="http://schemas.microsoft.com/office/drawing/2014/main" id="{22338EC1-C3A2-4D05-B24D-34B5AE8A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827"/>
                </a:solidFill>
              </a:defRPr>
            </a:pPr>
            <a:r>
              <a:rPr sz="750" b="0" i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21" name="tokens.translit.input.01.07">
            <a:extLst xmlns:a="http://schemas.openxmlformats.org/drawingml/2006/main">
              <a:ext uri="{FF2B5EF4-FFF2-40B4-BE49-F238E27FC236}">
                <a16:creationId xmlns:a16="http://schemas.microsoft.com/office/drawing/2014/main" id="{91B1FB5C-C507-41FE-B217-A614A4C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tokens.translit.input.01.08">
            <a:extLst xmlns:a="http://schemas.openxmlformats.org/drawingml/2006/main">
              <a:ext uri="{FF2B5EF4-FFF2-40B4-BE49-F238E27FC236}">
                <a16:creationId xmlns:a16="http://schemas.microsoft.com/office/drawing/2014/main" id="{CDB4F357-310C-404C-B785-2E94764E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4448175"/>
            <a:ext cx="490538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7620">
            <a:solidFill>
              <a:srgbClr val="9AAA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tokens.original.output.01.01">
            <a:extLst xmlns:a="http://schemas.openxmlformats.org/drawingml/2006/main">
              <a:ext uri="{FF2B5EF4-FFF2-40B4-BE49-F238E27FC236}">
                <a16:creationId xmlns:a16="http://schemas.microsoft.com/office/drawing/2014/main" id="{0F6D2AA8-8328-4A6A-99B2-5D974230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tokens.original.output.01.02">
            <a:extLst xmlns:a="http://schemas.openxmlformats.org/drawingml/2006/main">
              <a:ext uri="{FF2B5EF4-FFF2-40B4-BE49-F238E27FC236}">
                <a16:creationId xmlns:a16="http://schemas.microsoft.com/office/drawing/2014/main" id="{517C7A14-3940-4C86-9F3F-F0A6869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tokens.original.output.01.03">
            <a:extLst xmlns:a="http://schemas.openxmlformats.org/drawingml/2006/main">
              <a:ext uri="{FF2B5EF4-FFF2-40B4-BE49-F238E27FC236}">
                <a16:creationId xmlns:a16="http://schemas.microsoft.com/office/drawing/2014/main" id="{9697C012-2FF0-4DB4-B141-ACDCE30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tokens.original.output.01.04">
            <a:extLst xmlns:a="http://schemas.openxmlformats.org/drawingml/2006/main">
              <a:ext uri="{FF2B5EF4-FFF2-40B4-BE49-F238E27FC236}">
                <a16:creationId xmlns:a16="http://schemas.microsoft.com/office/drawing/2014/main" id="{5E7BEB19-404D-4B66-8B74-ED4BE55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tokens.original.output.01.05">
            <a:extLst xmlns:a="http://schemas.openxmlformats.org/drawingml/2006/main">
              <a:ext uri="{FF2B5EF4-FFF2-40B4-BE49-F238E27FC236}">
                <a16:creationId xmlns:a16="http://schemas.microsoft.com/office/drawing/2014/main" id="{F6DDCBE3-56DC-492D-BFCC-42108C9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tokens.original.output.01.06">
            <a:extLst xmlns:a="http://schemas.openxmlformats.org/drawingml/2006/main">
              <a:ext uri="{FF2B5EF4-FFF2-40B4-BE49-F238E27FC236}">
                <a16:creationId xmlns:a16="http://schemas.microsoft.com/office/drawing/2014/main" id="{7BCA9BB4-A232-4C83-A0B5-9389154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50" y="7429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tokens.translit.output.01.01">
            <a:extLst xmlns:a="http://schemas.openxmlformats.org/drawingml/2006/main">
              <a:ext uri="{FF2B5EF4-FFF2-40B4-BE49-F238E27FC236}">
                <a16:creationId xmlns:a16="http://schemas.microsoft.com/office/drawing/2014/main" id="{F5064972-1222-4B82-90CA-94A65C0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tokens.translit.output.01.02">
            <a:extLst xmlns:a="http://schemas.openxmlformats.org/drawingml/2006/main">
              <a:ext uri="{FF2B5EF4-FFF2-40B4-BE49-F238E27FC236}">
                <a16:creationId xmlns:a16="http://schemas.microsoft.com/office/drawing/2014/main" id="{1FA1C3EC-216B-4EAC-8303-BEBD64B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tokens.translit.output.01.03">
            <a:extLst xmlns:a="http://schemas.openxmlformats.org/drawingml/2006/main">
              <a:ext uri="{FF2B5EF4-FFF2-40B4-BE49-F238E27FC236}">
                <a16:creationId xmlns:a16="http://schemas.microsoft.com/office/drawing/2014/main" id="{D569743A-D6E3-4F7A-80B5-6D7D83B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tokens.translit.output.01.04">
            <a:extLst xmlns:a="http://schemas.openxmlformats.org/drawingml/2006/main">
              <a:ext uri="{FF2B5EF4-FFF2-40B4-BE49-F238E27FC236}">
                <a16:creationId xmlns:a16="http://schemas.microsoft.com/office/drawing/2014/main" id="{48CFFEB4-4E30-452D-A4DC-FA102E93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okens.translit.output.01.05">
            <a:extLst xmlns:a="http://schemas.openxmlformats.org/drawingml/2006/main">
              <a:ext uri="{FF2B5EF4-FFF2-40B4-BE49-F238E27FC236}">
                <a16:creationId xmlns:a16="http://schemas.microsoft.com/office/drawing/2014/main" id="{AB20375F-DC85-4FF7-9CFC-ADEA7DC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tokens.translit.output.01.06">
            <a:extLst xmlns:a="http://schemas.openxmlformats.org/drawingml/2006/main">
              <a:ext uri="{FF2B5EF4-FFF2-40B4-BE49-F238E27FC236}">
                <a16:creationId xmlns:a16="http://schemas.microsoft.com/office/drawing/2014/main" id="{34EA4062-534F-4470-B2B0-01B1DC5B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50" y="3219450"/>
            <a:ext cx="317500" cy="2476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0E2"/>
          </a:solidFill>
          <a:ln xmlns:a="http://schemas.openxmlformats.org/drawingml/2006/main" w="7620">
            <a:solidFill>
              <a:srgbClr val="92AC8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label.mlm">
            <a:extLst xmlns:a="http://schemas.openxmlformats.org/drawingml/2006/main">
              <a:ext uri="{FF2B5EF4-FFF2-40B4-BE49-F238E27FC236}">
                <a16:creationId xmlns:a16="http://schemas.microsoft.com/office/drawing/2014/main" id="{FB376127-E614-4AEA-AA88-5768C3D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66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Masked Language</a:t>
            </a:r>
          </a:p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Modeling</a:t>
            </a:r>
          </a:p>
        </p:txBody>
      </p:sp>
      <p:sp>
        <p:nvSpPr>
          <p:cNvPr id="36" name="representation.original">
            <a:extLst xmlns:a="http://schemas.openxmlformats.org/drawingml/2006/main">
              <a:ext uri="{FF2B5EF4-FFF2-40B4-BE49-F238E27FC236}">
                <a16:creationId xmlns:a16="http://schemas.microsoft.com/office/drawing/2014/main" id="{73948633-C2C8-405A-A155-A0A56A9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001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AF1"/>
          </a:solidFill>
          <a:ln xmlns:a="http://schemas.openxmlformats.org/drawingml/2006/main" w="14288">
            <a:solidFill>
              <a:srgbClr val="B595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sequence representation</a:t>
            </a:r>
          </a:p>
        </p:txBody>
      </p:sp>
      <p:sp>
        <p:nvSpPr>
          <p:cNvPr id="37" name="representation.translit">
            <a:extLst xmlns:a="http://schemas.openxmlformats.org/drawingml/2006/main">
              <a:ext uri="{FF2B5EF4-FFF2-40B4-BE49-F238E27FC236}">
                <a16:creationId xmlns:a16="http://schemas.microsoft.com/office/drawing/2014/main" id="{09AECDC0-D57B-40CD-86FD-1103DC44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AF1"/>
          </a:solidFill>
          <a:ln xmlns:a="http://schemas.openxmlformats.org/drawingml/2006/main" w="14288">
            <a:solidFill>
              <a:srgbClr val="B595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sequence representation</a:t>
            </a:r>
          </a:p>
        </p:txBody>
      </p:sp>
      <p:sp>
        <p:nvSpPr>
          <p:cNvPr id="38" name="label.pool-original">
            <a:extLst xmlns:a="http://schemas.openxmlformats.org/drawingml/2006/main">
              <a:ext uri="{FF2B5EF4-FFF2-40B4-BE49-F238E27FC236}">
                <a16:creationId xmlns:a16="http://schemas.microsoft.com/office/drawing/2014/main" id="{4D2F157F-E108-44DC-A39C-70CF43C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2668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827"/>
                </a:solidFill>
              </a:defRPr>
            </a:pPr>
            <a:r>
              <a:rPr sz="1050" b="0" i="0">
                <a:solidFill>
                  <a:srgbClr val="111827"/>
                </a:solidFill>
              </a:rPr>
              <a:t>mean pooling</a:t>
            </a:r>
          </a:p>
        </p:txBody>
      </p:sp>
      <p:sp>
        <p:nvSpPr>
          <p:cNvPr id="39" name="label.pool-translit">
            <a:extLst xmlns:a="http://schemas.openxmlformats.org/drawingml/2006/main">
              <a:ext uri="{FF2B5EF4-FFF2-40B4-BE49-F238E27FC236}">
                <a16:creationId xmlns:a16="http://schemas.microsoft.com/office/drawing/2014/main" id="{DC60AF99-3EFF-459C-8D84-8E58418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433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827"/>
                </a:solidFill>
              </a:defRPr>
            </a:pPr>
            <a:r>
              <a:rPr sz="1050" b="0" i="0">
                <a:solidFill>
                  <a:srgbClr val="111827"/>
                </a:solidFill>
              </a:rPr>
              <a:t>mean pooling</a:t>
            </a:r>
          </a:p>
        </p:txBody>
      </p:sp>
      <p:sp>
        <p:nvSpPr>
          <p:cNvPr id="40" name="arrow.original-input">
            <a:extLst xmlns:a="http://schemas.openxmlformats.org/drawingml/2006/main">
              <a:ext uri="{FF2B5EF4-FFF2-40B4-BE49-F238E27FC236}">
                <a16:creationId xmlns:a16="http://schemas.microsoft.com/office/drawing/2014/main" id="{1819DCB6-3D75-4533-9526-62FF7994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478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B5563"/>
            </a:solidFill>
            <a:prstDash val="solid"/>
          </a:ln>
        </p:spPr>
      </p:sp>
      <p:sp>
        <p:nvSpPr>
          <p:cNvPr id="41" name="arrow.original-input.arrow-end">
            <a:extLst xmlns:a="http://schemas.openxmlformats.org/drawingml/2006/main">
              <a:ext uri="{FF2B5EF4-FFF2-40B4-BE49-F238E27FC236}">
                <a16:creationId xmlns:a16="http://schemas.microsoft.com/office/drawing/2014/main" id="{6F183386-DA17-44C4-93A3-35480CA7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179546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rrow.translit-input">
            <a:extLst xmlns:a="http://schemas.openxmlformats.org/drawingml/2006/main">
              <a:ext uri="{FF2B5EF4-FFF2-40B4-BE49-F238E27FC236}">
                <a16:creationId xmlns:a16="http://schemas.microsoft.com/office/drawing/2014/main" id="{5235C34C-C0C8-418A-8626-7C795ACB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243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B5563"/>
            </a:solidFill>
            <a:prstDash val="solid"/>
          </a:ln>
        </p:spPr>
      </p:sp>
      <p:sp>
        <p:nvSpPr>
          <p:cNvPr id="43" name="arrow.translit-input.arrow-end">
            <a:extLst xmlns:a="http://schemas.openxmlformats.org/drawingml/2006/main">
              <a:ext uri="{FF2B5EF4-FFF2-40B4-BE49-F238E27FC236}">
                <a16:creationId xmlns:a16="http://schemas.microsoft.com/office/drawing/2014/main" id="{98FB951F-B4D6-4D01-AF57-A63A43F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427196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arrow.contrastive">
            <a:extLst xmlns:a="http://schemas.openxmlformats.org/drawingml/2006/main">
              <a:ext uri="{FF2B5EF4-FFF2-40B4-BE49-F238E27FC236}">
                <a16:creationId xmlns:a16="http://schemas.microsoft.com/office/drawing/2014/main" id="{FDC474B1-B5EE-44E6-B998-C37BADCB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74151"/>
            </a:solidFill>
            <a:prstDash val="solid"/>
          </a:ln>
        </p:spPr>
      </p:sp>
      <p:sp>
        <p:nvSpPr>
          <p:cNvPr id="45" name="arrow.contrastive.arrow-end">
            <a:extLst xmlns:a="http://schemas.openxmlformats.org/drawingml/2006/main">
              <a:ext uri="{FF2B5EF4-FFF2-40B4-BE49-F238E27FC236}">
                <a16:creationId xmlns:a16="http://schemas.microsoft.com/office/drawing/2014/main" id="{ACE7AEBE-589A-4C3D-B1FF-8B8FA6B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358616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bel.contrastive">
            <a:extLst xmlns:a="http://schemas.openxmlformats.org/drawingml/2006/main">
              <a:ext uri="{FF2B5EF4-FFF2-40B4-BE49-F238E27FC236}">
                <a16:creationId xmlns:a16="http://schemas.microsoft.com/office/drawing/2014/main" id="{0F9B4E2D-AD09-429D-A3AF-4A80603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Transliteration</a:t>
            </a:r>
          </a:p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Contrastive Modeling</a:t>
            </a:r>
          </a:p>
        </p:txBody>
      </p:sp>
      <p:sp>
        <p:nvSpPr>
          <p:cNvPr id="47" name="label.objectives">
            <a:extLst xmlns:a="http://schemas.openxmlformats.org/drawingml/2006/main">
              <a:ext uri="{FF2B5EF4-FFF2-40B4-BE49-F238E27FC236}">
                <a16:creationId xmlns:a16="http://schemas.microsoft.com/office/drawing/2014/main" id="{26401DA7-943F-4CA3-B9F5-9A0AACF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Fine-tuning objectives: Masked Language Modeling + Transliteration Contrastive Modeling</a:t>
            </a:r>
          </a:p>
        </p:txBody>
      </p:sp>
      <p:cxnSp>
        <p:nvCxnSpPr>
          <p:cNvPr id="97" name="arrow.original-transformer-to-rep"/>
          <p:cNvCxnSpPr>
            <a:stCxn xmlns:a="http://schemas.openxmlformats.org/drawingml/2006/main" id="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524625" y="1428750"/>
            <a:ext cx="20955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98" name="arrow.translit-transformer-to-rep"/>
          <p:cNvCxnSpPr>
            <a:stCxn xmlns:a="http://schemas.openxmlformats.org/drawingml/2006/main" id="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524625" y="3905250"/>
            <a:ext cx="20955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732719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.pipeline">
            <a:extLst xmlns:a="http://schemas.openxmlformats.org/drawingml/2006/main">
              <a:ext uri="{FF2B5EF4-FFF2-40B4-BE49-F238E27FC236}">
                <a16:creationId xmlns:a16="http://schemas.microsoft.com/office/drawing/2014/main" id="{E3D5DCBA-4984-4304-AA67-EDFB08E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5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PROF Pipeline</a:t>
            </a:r>
          </a:p>
        </p:txBody>
      </p:sp>
      <p:sp>
        <p:nvSpPr>
          <p:cNvPr id="2" name="subtitle.pipeline">
            <a:extLst xmlns:a="http://schemas.openxmlformats.org/drawingml/2006/main">
              <a:ext uri="{FF2B5EF4-FFF2-40B4-BE49-F238E27FC236}">
                <a16:creationId xmlns:a16="http://schemas.microsoft.com/office/drawing/2014/main" id="{31D10DBD-EA28-438E-92F0-90DD579D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858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579"/>
                </a:solidFill>
              </a:defRPr>
            </a:pPr>
            <a:r>
              <a:rPr sz="1275" b="0" i="0">
                <a:solidFill>
                  <a:srgbClr val="596579"/>
                </a:solidFill>
              </a:rPr>
              <a:t>Iterative optimization through simulated revisions and preference learning</a:t>
            </a:r>
          </a:p>
        </p:txBody>
      </p:sp>
      <p:sp>
        <p:nvSpPr>
          <p:cNvPr id="3" name="stage.initial-writings">
            <a:extLst xmlns:a="http://schemas.openxmlformats.org/drawingml/2006/main">
              <a:ext uri="{FF2B5EF4-FFF2-40B4-BE49-F238E27FC236}">
                <a16:creationId xmlns:a16="http://schemas.microsoft.com/office/drawing/2014/main" id="{C65EC62F-A1F2-451A-86D7-6359A35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14288">
            <a:solidFill>
              <a:srgbClr val="B8B1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Initial</a:t>
            </a:r>
          </a:p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Writings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{xᵢʲ}</a:t>
            </a:r>
          </a:p>
        </p:txBody>
      </p:sp>
      <p:sp>
        <p:nvSpPr>
          <p:cNvPr id="4" name="stage.feedback">
            <a:extLst xmlns:a="http://schemas.openxmlformats.org/drawingml/2006/main">
              <a:ext uri="{FF2B5EF4-FFF2-40B4-BE49-F238E27FC236}">
                <a16:creationId xmlns:a16="http://schemas.microsoft.com/office/drawing/2014/main" id="{C22CD1ED-33DF-4418-A318-678FFD46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9E9B8"/>
          </a:solidFill>
          <a:ln xmlns:a="http://schemas.openxmlformats.org/drawingml/2006/main" w="14288">
            <a:solidFill>
              <a:srgbClr val="CDAE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Generating</a:t>
            </a:r>
          </a:p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Mₜ</a:t>
            </a:r>
          </a:p>
        </p:txBody>
      </p:sp>
      <p:sp>
        <p:nvSpPr>
          <p:cNvPr id="5" name="stage.simulator">
            <a:extLst xmlns:a="http://schemas.openxmlformats.org/drawingml/2006/main">
              <a:ext uri="{FF2B5EF4-FFF2-40B4-BE49-F238E27FC236}">
                <a16:creationId xmlns:a16="http://schemas.microsoft.com/office/drawing/2014/main" id="{6B784CB9-890D-48D8-A24C-C173CF0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CFE0F1"/>
          </a:solidFill>
          <a:ln xmlns:a="http://schemas.openxmlformats.org/drawingml/2006/main" w="14288">
            <a:solidFill>
              <a:srgbClr val="7A9CB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Revisions from</a:t>
            </a:r>
          </a:p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Student Simulator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S</a:t>
            </a:r>
          </a:p>
        </p:txBody>
      </p:sp>
      <p:sp>
        <p:nvSpPr>
          <p:cNvPr id="6" name="stage.scoring">
            <a:extLst xmlns:a="http://schemas.openxmlformats.org/drawingml/2006/main">
              <a:ext uri="{FF2B5EF4-FFF2-40B4-BE49-F238E27FC236}">
                <a16:creationId xmlns:a16="http://schemas.microsoft.com/office/drawing/2014/main" id="{C1263CE5-A36F-496E-871E-45622E6F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9E3F2"/>
          </a:solidFill>
          <a:ln xmlns:a="http://schemas.openxmlformats.org/drawingml/2006/main" w="14288">
            <a:solidFill>
              <a:srgbClr val="A592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Scoring Revisions</a:t>
            </a:r>
          </a:p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for Preference</a:t>
            </a:r>
          </a:p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Pair Selection</a:t>
            </a:r>
          </a:p>
        </p:txBody>
      </p:sp>
      <p:sp>
        <p:nvSpPr>
          <p:cNvPr id="7" name="stage.preference">
            <a:extLst xmlns:a="http://schemas.openxmlformats.org/drawingml/2006/main">
              <a:ext uri="{FF2B5EF4-FFF2-40B4-BE49-F238E27FC236}">
                <a16:creationId xmlns:a16="http://schemas.microsoft.com/office/drawing/2014/main" id="{91592D7C-9676-463B-B894-DC3A0A2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4F1DF"/>
          </a:solidFill>
          <a:ln xmlns:a="http://schemas.openxmlformats.org/drawingml/2006/main" w="14288">
            <a:solidFill>
              <a:srgbClr val="8EB07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Preference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Relations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{x⁺, x⁻}</a:t>
            </a:r>
          </a:p>
        </p:txBody>
      </p:sp>
      <p:sp>
        <p:nvSpPr>
          <p:cNvPr id="8" name="stage.dpo">
            <a:extLst xmlns:a="http://schemas.openxmlformats.org/drawingml/2006/main">
              <a:ext uri="{FF2B5EF4-FFF2-40B4-BE49-F238E27FC236}">
                <a16:creationId xmlns:a16="http://schemas.microsoft.com/office/drawing/2014/main" id="{A77DBD80-BA00-43FA-BEE8-E7E927F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1285875" cy="1714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14288">
            <a:solidFill>
              <a:srgbClr val="A3A3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Mₜ₊₁</a:t>
            </a:r>
          </a:p>
        </p:txBody>
      </p:sp>
      <p:sp>
        <p:nvSpPr>
          <p:cNvPr id="9" name="stage.next">
            <a:extLst xmlns:a="http://schemas.openxmlformats.org/drawingml/2006/main">
              <a:ext uri="{FF2B5EF4-FFF2-40B4-BE49-F238E27FC236}">
                <a16:creationId xmlns:a16="http://schemas.microsoft.com/office/drawing/2014/main" id="{1C9A01B2-9618-4B12-AB43-0639EC4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14500"/>
            <a:ext cx="1143000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14288">
            <a:solidFill>
              <a:srgbClr val="B8B1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Next</a:t>
            </a:r>
          </a:p>
          <a:p xmlns:a="http://schemas.openxmlformats.org/drawingml/2006/main">
            <a:pPr algn="ctr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Iteration</a:t>
            </a:r>
          </a:p>
        </p:txBody>
      </p:sp>
      <p:sp>
        <p:nvSpPr>
          <p:cNvPr id="10" name="feedback.bottom">
            <a:extLst xmlns:a="http://schemas.openxmlformats.org/drawingml/2006/main">
              <a:ext uri="{FF2B5EF4-FFF2-40B4-BE49-F238E27FC236}">
                <a16:creationId xmlns:a16="http://schemas.microsoft.com/office/drawing/2014/main" id="{C8B7BBC4-EAE3-4CBF-965E-AEF01867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671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31B23"/>
            </a:solidFill>
            <a:prstDash val="solid"/>
          </a:ln>
        </p:spPr>
      </p:sp>
      <p:sp>
        <p:nvSpPr>
          <p:cNvPr id="11" name="feedback.return">
            <a:extLst xmlns:a="http://schemas.openxmlformats.org/drawingml/2006/main">
              <a:ext uri="{FF2B5EF4-FFF2-40B4-BE49-F238E27FC236}">
                <a16:creationId xmlns:a16="http://schemas.microsoft.com/office/drawing/2014/main" id="{EA11FC8B-88F7-4822-AF39-C4376BA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672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31B23"/>
            </a:solidFill>
            <a:prstDash val="solid"/>
          </a:ln>
        </p:spPr>
      </p:sp>
      <p:sp>
        <p:nvSpPr>
          <p:cNvPr id="12" name="feedback.up">
            <a:extLst xmlns:a="http://schemas.openxmlformats.org/drawingml/2006/main">
              <a:ext uri="{FF2B5EF4-FFF2-40B4-BE49-F238E27FC236}">
                <a16:creationId xmlns:a16="http://schemas.microsoft.com/office/drawing/2014/main" id="{6A0C0D7F-41DC-4F14-A5A6-17DDFEB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76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31B23"/>
            </a:solidFill>
            <a:prstDash val="solid"/>
          </a:ln>
        </p:spPr>
      </p:sp>
      <p:sp>
        <p:nvSpPr>
          <p:cNvPr id="13" name="feedback.up.arrow-end">
            <a:extLst xmlns:a="http://schemas.openxmlformats.org/drawingml/2006/main">
              <a:ext uri="{FF2B5EF4-FFF2-40B4-BE49-F238E27FC236}">
                <a16:creationId xmlns:a16="http://schemas.microsoft.com/office/drawing/2014/main" id="{5C4B0F90-72BD-4A3C-A2B3-E1AF64CD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415" y="3415665"/>
            <a:ext cx="121920" cy="1219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edback.label">
            <a:extLst xmlns:a="http://schemas.openxmlformats.org/drawingml/2006/main">
              <a:ext uri="{FF2B5EF4-FFF2-40B4-BE49-F238E27FC236}">
                <a16:creationId xmlns:a16="http://schemas.microsoft.com/office/drawing/2014/main" id="{B78A7AE9-97A1-4677-9A49-BBF66EAF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10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1820"/>
                </a:solidFill>
              </a:defRPr>
            </a:pPr>
            <a:r>
              <a:rPr sz="1275" b="1" i="0">
                <a:solidFill>
                  <a:srgbClr val="D31820"/>
                </a:solidFill>
              </a:rPr>
              <a:t>Model for next iteration</a:t>
            </a:r>
          </a:p>
        </p:txBody>
      </p:sp>
      <p:sp>
        <p:nvSpPr>
          <p:cNvPr id="15" name="caption.samples">
            <a:extLst xmlns:a="http://schemas.openxmlformats.org/drawingml/2006/main">
              <a:ext uri="{FF2B5EF4-FFF2-40B4-BE49-F238E27FC236}">
                <a16:creationId xmlns:a16="http://schemas.microsoft.com/office/drawing/2014/main" id="{B252032F-8D31-47EC-AB4D-1294241F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96579"/>
                </a:solidFill>
              </a:defRPr>
            </a:pPr>
            <a:r>
              <a:rPr sz="1350" b="0" i="0">
                <a:solidFill>
                  <a:srgbClr val="596579"/>
                </a:solidFill>
              </a:rPr>
              <a:t>Feedback produces multiple samples → revisions are scored → preference pairs update Mₜ with DPO</a:t>
            </a:r>
          </a:p>
        </p:txBody>
      </p:sp>
      <p:cxnSp>
        <p:nvCxnSpPr>
          <p:cNvPr id="37" name="arrow.initial-to-feedback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14500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38" name="arrow.feedback-to-simulator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6125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39" name="arrow.simulator-to-scoring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0" name="arrow.scoring-to-preference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29375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1" name="arrow.preference-to-dpo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2" name="arrow.dpo-to-next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572625" y="2571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13544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tage.initial">
            <a:extLst xmlns:a="http://schemas.openxmlformats.org/drawingml/2006/main">
              <a:ext uri="{FF2B5EF4-FFF2-40B4-BE49-F238E27FC236}">
                <a16:creationId xmlns:a16="http://schemas.microsoft.com/office/drawing/2014/main" id="{F4D4BE09-16A0-4D87-97D3-1295819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00125"/>
            <a:ext cx="4762500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8F3DC"/>
          </a:solidFill>
          <a:ln xmlns:a="http://schemas.openxmlformats.org/drawingml/2006/main" w="14288">
            <a:solidFill>
              <a:srgbClr val="E2D7A4"/>
            </a:solidFill>
            <a:prstDash val="solid"/>
          </a:ln>
        </p:spPr>
      </p:sp>
      <p:sp>
        <p:nvSpPr>
          <p:cNvPr id="2" name="stage.refinement">
            <a:extLst xmlns:a="http://schemas.openxmlformats.org/drawingml/2006/main">
              <a:ext uri="{FF2B5EF4-FFF2-40B4-BE49-F238E27FC236}">
                <a16:creationId xmlns:a16="http://schemas.microsoft.com/office/drawing/2014/main" id="{DAED2FC6-3FA5-4EAE-809D-8FDB578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3333750" cy="3429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BCD1E1"/>
            </a:solidFill>
            <a:prstDash val="solid"/>
          </a:ln>
        </p:spPr>
      </p:sp>
      <p:sp>
        <p:nvSpPr>
          <p:cNvPr id="3" name="title.initial">
            <a:extLst xmlns:a="http://schemas.openxmlformats.org/drawingml/2006/main">
              <a:ext uri="{FF2B5EF4-FFF2-40B4-BE49-F238E27FC236}">
                <a16:creationId xmlns:a16="http://schemas.microsoft.com/office/drawing/2014/main" id="{42AE579D-12D9-411A-BB56-66661C6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62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Initial Decipherment</a:t>
            </a:r>
          </a:p>
        </p:txBody>
      </p:sp>
      <p:sp>
        <p:nvSpPr>
          <p:cNvPr id="4" name="title.refinement">
            <a:extLst xmlns:a="http://schemas.openxmlformats.org/drawingml/2006/main">
              <a:ext uri="{FF2B5EF4-FFF2-40B4-BE49-F238E27FC236}">
                <a16:creationId xmlns:a16="http://schemas.microsoft.com/office/drawing/2014/main" id="{05E87EB9-9B83-4F3F-9793-C2823EB9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620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Zero-shot Refinement</a:t>
            </a:r>
          </a:p>
        </p:txBody>
      </p:sp>
      <p:sp>
        <p:nvSpPr>
          <p:cNvPr id="5" name="input.obs">
            <a:extLst xmlns:a="http://schemas.openxmlformats.org/drawingml/2006/main">
              <a:ext uri="{FF2B5EF4-FFF2-40B4-BE49-F238E27FC236}">
                <a16:creationId xmlns:a16="http://schemas.microsoft.com/office/drawing/2014/main" id="{E826906D-275A-4323-AE79-B22B2D44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𠂤</a:t>
            </a:r>
          </a:p>
        </p:txBody>
      </p:sp>
      <p:sp>
        <p:nvSpPr>
          <p:cNvPr id="6" name="label.obs">
            <a:extLst xmlns:a="http://schemas.openxmlformats.org/drawingml/2006/main">
              <a:ext uri="{FF2B5EF4-FFF2-40B4-BE49-F238E27FC236}">
                <a16:creationId xmlns:a16="http://schemas.microsoft.com/office/drawing/2014/main" id="{3DAE135D-7C17-4565-9B8F-8C7A5D2B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OBS Input</a:t>
            </a:r>
          </a:p>
        </p:txBody>
      </p:sp>
      <p:sp>
        <p:nvSpPr>
          <p:cNvPr id="7" name="module.diffusion-1.encoder">
            <a:extLst xmlns:a="http://schemas.openxmlformats.org/drawingml/2006/main">
              <a:ext uri="{FF2B5EF4-FFF2-40B4-BE49-F238E27FC236}">
                <a16:creationId xmlns:a16="http://schemas.microsoft.com/office/drawing/2014/main" id="{B33C776F-7996-43C8-A681-79EF645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143000" cy="1428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7FA774"/>
          </a:solidFill>
          <a:ln xmlns:a="http://schemas.openxmlformats.org/drawingml/2006/main" w="14288">
            <a:solidFill>
              <a:srgbClr val="587A52"/>
            </a:solidFill>
            <a:prstDash val="solid"/>
          </a:ln>
        </p:spPr>
      </p:sp>
      <p:sp>
        <p:nvSpPr>
          <p:cNvPr id="8" name="module.diffusion-1.decoder">
            <a:extLst xmlns:a="http://schemas.openxmlformats.org/drawingml/2006/main">
              <a:ext uri="{FF2B5EF4-FFF2-40B4-BE49-F238E27FC236}">
                <a16:creationId xmlns:a16="http://schemas.microsoft.com/office/drawing/2014/main" id="{C5489E99-7BB9-4E63-93AB-0BCC354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95500"/>
            <a:ext cx="1143000" cy="1428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7FA774"/>
          </a:solidFill>
          <a:ln xmlns:a="http://schemas.openxmlformats.org/drawingml/2006/main" w="14288">
            <a:solidFill>
              <a:srgbClr val="587A52"/>
            </a:solidFill>
            <a:prstDash val="solid"/>
          </a:ln>
        </p:spPr>
      </p:sp>
      <p:sp>
        <p:nvSpPr>
          <p:cNvPr id="9" name="label.local-sampling">
            <a:extLst xmlns:a="http://schemas.openxmlformats.org/drawingml/2006/main">
              <a:ext uri="{FF2B5EF4-FFF2-40B4-BE49-F238E27FC236}">
                <a16:creationId xmlns:a16="http://schemas.microsoft.com/office/drawing/2014/main" id="{442DDE50-FEAD-4F1C-838E-339F1F1A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Local Structural Sampling</a:t>
            </a:r>
          </a:p>
        </p:txBody>
      </p:sp>
      <p:sp>
        <p:nvSpPr>
          <p:cNvPr id="10" name="label.diffusion-1">
            <a:extLst xmlns:a="http://schemas.openxmlformats.org/drawingml/2006/main">
              <a:ext uri="{FF2B5EF4-FFF2-40B4-BE49-F238E27FC236}">
                <a16:creationId xmlns:a16="http://schemas.microsoft.com/office/drawing/2014/main" id="{DC95FD18-D25B-4249-A07F-7B121B62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Diffusion</a:t>
            </a:r>
          </a:p>
        </p:txBody>
      </p:sp>
      <p:sp>
        <p:nvSpPr>
          <p:cNvPr id="11" name="output.initial">
            <a:extLst xmlns:a="http://schemas.openxmlformats.org/drawingml/2006/main">
              <a:ext uri="{FF2B5EF4-FFF2-40B4-BE49-F238E27FC236}">
                <a16:creationId xmlns:a16="http://schemas.microsoft.com/office/drawing/2014/main" id="{3085F64C-3F21-4013-9502-747526E6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000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11827"/>
                </a:solidFill>
              </a:defRPr>
            </a:pPr>
            <a:r>
              <a:rPr sz="4500" b="1" i="0">
                <a:solidFill>
                  <a:srgbClr val="111827"/>
                </a:solidFill>
              </a:rPr>
              <a:t>宗</a:t>
            </a:r>
          </a:p>
        </p:txBody>
      </p:sp>
      <p:sp>
        <p:nvSpPr>
          <p:cNvPr id="12" name="label.initial-output">
            <a:extLst xmlns:a="http://schemas.openxmlformats.org/drawingml/2006/main">
              <a:ext uri="{FF2B5EF4-FFF2-40B4-BE49-F238E27FC236}">
                <a16:creationId xmlns:a16="http://schemas.microsoft.com/office/drawing/2014/main" id="{2C6AAE79-96C3-4C2D-8AE0-B6C01A0A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43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Initial Output</a:t>
            </a:r>
          </a:p>
        </p:txBody>
      </p:sp>
      <p:sp>
        <p:nvSpPr>
          <p:cNvPr id="13" name="module.diffusion-2.encoder">
            <a:extLst xmlns:a="http://schemas.openxmlformats.org/drawingml/2006/main">
              <a:ext uri="{FF2B5EF4-FFF2-40B4-BE49-F238E27FC236}">
                <a16:creationId xmlns:a16="http://schemas.microsoft.com/office/drawing/2014/main" id="{85F91C54-8852-4806-937F-41AD9B2B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143000" cy="1428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5C84A8"/>
          </a:solidFill>
          <a:ln xmlns:a="http://schemas.openxmlformats.org/drawingml/2006/main" w="14288">
            <a:solidFill>
              <a:srgbClr val="3C617F"/>
            </a:solidFill>
            <a:prstDash val="solid"/>
          </a:ln>
        </p:spPr>
      </p:sp>
      <p:sp>
        <p:nvSpPr>
          <p:cNvPr id="14" name="module.diffusion-2.decoder">
            <a:extLst xmlns:a="http://schemas.openxmlformats.org/drawingml/2006/main">
              <a:ext uri="{FF2B5EF4-FFF2-40B4-BE49-F238E27FC236}">
                <a16:creationId xmlns:a16="http://schemas.microsoft.com/office/drawing/2014/main" id="{6DCEB14E-3234-46D9-9BF3-E59125B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1428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5C84A8"/>
          </a:solidFill>
          <a:ln xmlns:a="http://schemas.openxmlformats.org/drawingml/2006/main" w="14288">
            <a:solidFill>
              <a:srgbClr val="3C617F"/>
            </a:solidFill>
            <a:prstDash val="solid"/>
          </a:ln>
        </p:spPr>
      </p:sp>
      <p:sp>
        <p:nvSpPr>
          <p:cNvPr id="15" name="reference.glyph">
            <a:extLst xmlns:a="http://schemas.openxmlformats.org/drawingml/2006/main">
              <a:ext uri="{FF2B5EF4-FFF2-40B4-BE49-F238E27FC236}">
                <a16:creationId xmlns:a16="http://schemas.microsoft.com/office/drawing/2014/main" id="{BEAD5E7D-D424-43C3-9BBC-C2672BFB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1190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14288">
            <a:solidFill>
              <a:srgbClr val="7B96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Reference 玄</a:t>
            </a:r>
          </a:p>
        </p:txBody>
      </p:sp>
      <p:sp>
        <p:nvSpPr>
          <p:cNvPr id="16" name="label.diffusion-2">
            <a:extLst xmlns:a="http://schemas.openxmlformats.org/drawingml/2006/main">
              <a:ext uri="{FF2B5EF4-FFF2-40B4-BE49-F238E27FC236}">
                <a16:creationId xmlns:a16="http://schemas.microsoft.com/office/drawing/2014/main" id="{2B1A394A-E2CC-44F3-BFDE-BC76AB3F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Diffusion</a:t>
            </a:r>
          </a:p>
        </p:txBody>
      </p:sp>
      <p:sp>
        <p:nvSpPr>
          <p:cNvPr id="17" name="output.final">
            <a:extLst xmlns:a="http://schemas.openxmlformats.org/drawingml/2006/main">
              <a:ext uri="{FF2B5EF4-FFF2-40B4-BE49-F238E27FC236}">
                <a16:creationId xmlns:a16="http://schemas.microsoft.com/office/drawing/2014/main" id="{0BAEB908-BCF2-4EDE-84FE-7D52F3F4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000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11827"/>
                </a:solidFill>
              </a:defRPr>
            </a:pPr>
            <a:r>
              <a:rPr sz="4500" b="1" i="0">
                <a:solidFill>
                  <a:srgbClr val="111827"/>
                </a:solidFill>
              </a:rPr>
              <a:t>宗</a:t>
            </a:r>
          </a:p>
        </p:txBody>
      </p:sp>
      <p:sp>
        <p:nvSpPr>
          <p:cNvPr id="18" name="label.final-output">
            <a:extLst xmlns:a="http://schemas.openxmlformats.org/drawingml/2006/main">
              <a:ext uri="{FF2B5EF4-FFF2-40B4-BE49-F238E27FC236}">
                <a16:creationId xmlns:a16="http://schemas.microsoft.com/office/drawing/2014/main" id="{C3C893E9-957F-4E6E-92FC-EDA93FE7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43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Final Output</a:t>
            </a:r>
          </a:p>
        </p:txBody>
      </p:sp>
      <p:sp>
        <p:nvSpPr>
          <p:cNvPr id="19" name="arrow.diffusion-1-internal">
            <a:extLst xmlns:a="http://schemas.openxmlformats.org/drawingml/2006/main">
              <a:ext uri="{FF2B5EF4-FFF2-40B4-BE49-F238E27FC236}">
                <a16:creationId xmlns:a16="http://schemas.microsoft.com/office/drawing/2014/main" id="{13A8F4EC-D5F8-4465-B66D-2439E4D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4B32"/>
            </a:solidFill>
            <a:prstDash val="solid"/>
          </a:ln>
        </p:spPr>
      </p:sp>
      <p:sp>
        <p:nvSpPr>
          <p:cNvPr id="20" name="arrow.diffusion-1-internal.arrow-end">
            <a:extLst xmlns:a="http://schemas.openxmlformats.org/drawingml/2006/main">
              <a:ext uri="{FF2B5EF4-FFF2-40B4-BE49-F238E27FC236}">
                <a16:creationId xmlns:a16="http://schemas.microsoft.com/office/drawing/2014/main" id="{8E94028D-AD56-45F0-8E82-61528EC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275748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row.diffusion-2-internal">
            <a:extLst xmlns:a="http://schemas.openxmlformats.org/drawingml/2006/main">
              <a:ext uri="{FF2B5EF4-FFF2-40B4-BE49-F238E27FC236}">
                <a16:creationId xmlns:a16="http://schemas.microsoft.com/office/drawing/2014/main" id="{EBFBDF4E-A8EF-4964-8A5E-1D75077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465B"/>
            </a:solidFill>
            <a:prstDash val="solid"/>
          </a:ln>
        </p:spPr>
      </p:sp>
      <p:sp>
        <p:nvSpPr>
          <p:cNvPr id="22" name="arrow.diffusion-2-internal.arrow-end">
            <a:extLst xmlns:a="http://schemas.openxmlformats.org/drawingml/2006/main">
              <a:ext uri="{FF2B5EF4-FFF2-40B4-BE49-F238E27FC236}">
                <a16:creationId xmlns:a16="http://schemas.microsoft.com/office/drawing/2014/main" id="{AEB38768-90B3-4FD5-B087-5C4C4536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75748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6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arrow.input-to-encoder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714500" y="2809875"/>
            <a:ext cx="9048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9" name="arrow.initial-to-refinement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286500" y="2809875"/>
            <a:ext cx="6191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50" name="arrow.refinement-to-final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48750" y="2809875"/>
            <a:ext cx="8096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11330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.fit">
            <a:extLst xmlns:a="http://schemas.openxmlformats.org/drawingml/2006/main">
              <a:ext uri="{FF2B5EF4-FFF2-40B4-BE49-F238E27FC236}">
                <a16:creationId xmlns:a16="http://schemas.microsoft.com/office/drawing/2014/main" id="{1F31311F-19FE-44F0-8998-DCD5FDD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Pipeline comparison between DiT and FiT</a:t>
            </a:r>
          </a:p>
        </p:txBody>
      </p:sp>
      <p:sp>
        <p:nvSpPr>
          <p:cNvPr id="2" name="label.dit">
            <a:extLst xmlns:a="http://schemas.openxmlformats.org/drawingml/2006/main">
              <a:ext uri="{FF2B5EF4-FFF2-40B4-BE49-F238E27FC236}">
                <a16:creationId xmlns:a16="http://schemas.microsoft.com/office/drawing/2014/main" id="{CC7D8703-4EA7-49B0-8200-EAC78B2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858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(a) DiT</a:t>
            </a:r>
          </a:p>
        </p:txBody>
      </p:sp>
      <p:sp>
        <p:nvSpPr>
          <p:cNvPr id="3" name="label.fit">
            <a:extLst xmlns:a="http://schemas.openxmlformats.org/drawingml/2006/main">
              <a:ext uri="{FF2B5EF4-FFF2-40B4-BE49-F238E27FC236}">
                <a16:creationId xmlns:a16="http://schemas.microsoft.com/office/drawing/2014/main" id="{22409EA7-D357-4A66-BCA0-79BBEF7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(b) FiT</a:t>
            </a:r>
          </a:p>
        </p:txBody>
      </p:sp>
      <p:sp>
        <p:nvSpPr>
          <p:cNvPr id="4" name="image.dit.raw">
            <a:extLst xmlns:a="http://schemas.openxmlformats.org/drawingml/2006/main">
              <a:ext uri="{FF2B5EF4-FFF2-40B4-BE49-F238E27FC236}">
                <a16:creationId xmlns:a16="http://schemas.microsoft.com/office/drawing/2014/main" id="{E9E299B9-9D4B-420F-9E9C-88A0B784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239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wide input image</a:t>
            </a:r>
          </a:p>
        </p:txBody>
      </p:sp>
      <p:sp>
        <p:nvSpPr>
          <p:cNvPr id="5" name="image.dit.resize">
            <a:extLst xmlns:a="http://schemas.openxmlformats.org/drawingml/2006/main">
              <a:ext uri="{FF2B5EF4-FFF2-40B4-BE49-F238E27FC236}">
                <a16:creationId xmlns:a16="http://schemas.microsoft.com/office/drawing/2014/main" id="{927224AB-7469-49D7-8276-C2B89EF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001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resize</a:t>
            </a:r>
          </a:p>
        </p:txBody>
      </p:sp>
      <p:sp>
        <p:nvSpPr>
          <p:cNvPr id="6" name="image.dit.crop">
            <a:extLst xmlns:a="http://schemas.openxmlformats.org/drawingml/2006/main">
              <a:ext uri="{FF2B5EF4-FFF2-40B4-BE49-F238E27FC236}">
                <a16:creationId xmlns:a16="http://schemas.microsoft.com/office/drawing/2014/main" id="{0BBC0490-0456-4C3C-AC6A-24E17CB5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00150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E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center</a:t>
            </a:r>
          </a:p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crop</a:t>
            </a:r>
          </a:p>
        </p:txBody>
      </p:sp>
      <p:sp>
        <p:nvSpPr>
          <p:cNvPr id="7" name="module.dit">
            <a:extLst xmlns:a="http://schemas.openxmlformats.org/drawingml/2006/main">
              <a:ext uri="{FF2B5EF4-FFF2-40B4-BE49-F238E27FC236}">
                <a16:creationId xmlns:a16="http://schemas.microsoft.com/office/drawing/2014/main" id="{5EB56406-1667-4090-AEE6-E5CC077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52500"/>
            <a:ext cx="114300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DiT</a:t>
            </a:r>
          </a:p>
        </p:txBody>
      </p:sp>
      <p:sp>
        <p:nvSpPr>
          <p:cNvPr id="8" name="output.dit">
            <a:extLst xmlns:a="http://schemas.openxmlformats.org/drawingml/2006/main">
              <a:ext uri="{FF2B5EF4-FFF2-40B4-BE49-F238E27FC236}">
                <a16:creationId xmlns:a16="http://schemas.microsoft.com/office/drawing/2014/main" id="{87D0C678-6397-4BEC-99E7-F4A5588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66800"/>
            <a:ext cx="152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fixed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resolution</a:t>
            </a:r>
          </a:p>
        </p:txBody>
      </p:sp>
      <p:sp>
        <p:nvSpPr>
          <p:cNvPr id="9" name="image.fit.raw">
            <a:extLst xmlns:a="http://schemas.openxmlformats.org/drawingml/2006/main">
              <a:ext uri="{FF2B5EF4-FFF2-40B4-BE49-F238E27FC236}">
                <a16:creationId xmlns:a16="http://schemas.microsoft.com/office/drawing/2014/main" id="{B165DF21-535F-46BD-87E0-4C9E5DD2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wide input image</a:t>
            </a:r>
          </a:p>
        </p:txBody>
      </p:sp>
      <p:sp>
        <p:nvSpPr>
          <p:cNvPr id="10" name="image.fit.resize">
            <a:extLst xmlns:a="http://schemas.openxmlformats.org/drawingml/2006/main">
              <a:ext uri="{FF2B5EF4-FFF2-40B4-BE49-F238E27FC236}">
                <a16:creationId xmlns:a16="http://schemas.microsoft.com/office/drawing/2014/main" id="{44AF2A62-82F8-4F2B-AD31-1717CBD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3325"/>
            <a:ext cx="123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resize</a:t>
            </a:r>
          </a:p>
        </p:txBody>
      </p:sp>
      <p:sp>
        <p:nvSpPr>
          <p:cNvPr id="11" name="module.fit">
            <a:extLst xmlns:a="http://schemas.openxmlformats.org/drawingml/2006/main">
              <a:ext uri="{FF2B5EF4-FFF2-40B4-BE49-F238E27FC236}">
                <a16:creationId xmlns:a16="http://schemas.microsoft.com/office/drawing/2014/main" id="{9B0D523F-71B3-4A01-956A-51CF99AA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285875" cy="1428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E44949"/>
                </a:solidFill>
              </a:defRPr>
            </a:pPr>
            <a:r>
              <a:rPr sz="2250" b="1" i="0">
                <a:solidFill>
                  <a:srgbClr val="E44949"/>
                </a:solidFill>
              </a:rPr>
              <a:t>FiT</a:t>
            </a:r>
          </a:p>
        </p:txBody>
      </p:sp>
      <p:sp>
        <p:nvSpPr>
          <p:cNvPr id="12" name="output.fit">
            <a:extLst xmlns:a="http://schemas.openxmlformats.org/drawingml/2006/main">
              <a:ext uri="{FF2B5EF4-FFF2-40B4-BE49-F238E27FC236}">
                <a16:creationId xmlns:a16="http://schemas.microsoft.com/office/drawing/2014/main" id="{1BF44D88-5064-4F4A-B37B-08D84219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14288">
            <a:solidFill>
              <a:srgbClr val="5F71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flexible resolution</a:t>
            </a:r>
          </a:p>
        </p:txBody>
      </p:sp>
      <p:sp>
        <p:nvSpPr>
          <p:cNvPr id="13" name="group.data">
            <a:extLst xmlns:a="http://schemas.openxmlformats.org/drawingml/2006/main">
              <a:ext uri="{FF2B5EF4-FFF2-40B4-BE49-F238E27FC236}">
                <a16:creationId xmlns:a16="http://schemas.microsoft.com/office/drawing/2014/main" id="{0FD0743D-6787-4935-A293-19F7FE8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Data Preprocess</a:t>
            </a:r>
          </a:p>
        </p:txBody>
      </p:sp>
      <p:sp>
        <p:nvSpPr>
          <p:cNvPr id="14" name="group.generate">
            <a:extLst xmlns:a="http://schemas.openxmlformats.org/drawingml/2006/main">
              <a:ext uri="{FF2B5EF4-FFF2-40B4-BE49-F238E27FC236}">
                <a16:creationId xmlns:a16="http://schemas.microsoft.com/office/drawing/2014/main" id="{C9DD6B58-15B3-4D77-BABB-C909BA2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Generate</a:t>
            </a:r>
          </a:p>
        </p:txBody>
      </p:sp>
      <p:cxnSp>
        <p:nvCxnSpPr>
          <p:cNvPr id="39" name="arrow.dit.raw-to-resize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71750" y="16573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sp>
        <p:nvSpPr>
          <p:cNvPr id="16" name="arrow.dit.raw-to-resize.label">
            <a:extLst xmlns:a="http://schemas.openxmlformats.org/drawingml/2006/main">
              <a:ext uri="{FF2B5EF4-FFF2-40B4-BE49-F238E27FC236}">
                <a16:creationId xmlns:a16="http://schemas.microsoft.com/office/drawing/2014/main" id="{70C4A377-0B8C-468D-9792-83C9B275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811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563"/>
                </a:solidFill>
              </a:defRPr>
            </a:pPr>
            <a:r>
              <a:rPr sz="900" b="0" i="0">
                <a:solidFill>
                  <a:srgbClr val="4B5563"/>
                </a:solidFill>
              </a:rPr>
              <a:t>Resize</a:t>
            </a:r>
          </a:p>
        </p:txBody>
      </p:sp>
      <p:cxnSp>
        <p:nvCxnSpPr>
          <p:cNvPr id="41" name="arrow.dit.resize-to-crop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67250" y="16573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sp>
        <p:nvSpPr>
          <p:cNvPr id="18" name="arrow.dit.resize-to-crop.label">
            <a:extLst xmlns:a="http://schemas.openxmlformats.org/drawingml/2006/main">
              <a:ext uri="{FF2B5EF4-FFF2-40B4-BE49-F238E27FC236}">
                <a16:creationId xmlns:a16="http://schemas.microsoft.com/office/drawing/2014/main" id="{81329824-B6FA-48F1-A281-FFD4E23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811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563"/>
                </a:solidFill>
              </a:defRPr>
            </a:pPr>
            <a:r>
              <a:rPr sz="900" b="0" i="0">
                <a:solidFill>
                  <a:srgbClr val="4B5563"/>
                </a:solidFill>
              </a:rPr>
              <a:t>Center Crop</a:t>
            </a:r>
          </a:p>
        </p:txBody>
      </p:sp>
      <p:cxnSp>
        <p:nvCxnSpPr>
          <p:cNvPr id="43" name="arrow.dit.crop-to-model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67500" y="1657350"/>
            <a:ext cx="809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4" name="arrow.dit.model-to-output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620125" y="1662113"/>
            <a:ext cx="8096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5" name="arrow.fit.raw-to-resize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71750" y="4200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sp>
        <p:nvSpPr>
          <p:cNvPr id="22" name="arrow.fit.raw-to-resize.label">
            <a:extLst xmlns:a="http://schemas.openxmlformats.org/drawingml/2006/main">
              <a:ext uri="{FF2B5EF4-FFF2-40B4-BE49-F238E27FC236}">
                <a16:creationId xmlns:a16="http://schemas.microsoft.com/office/drawing/2014/main" id="{711EE482-7461-4E85-8A05-F882601F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563"/>
                </a:solidFill>
              </a:defRPr>
            </a:pPr>
            <a:r>
              <a:rPr sz="900" b="0" i="0">
                <a:solidFill>
                  <a:srgbClr val="4B5563"/>
                </a:solidFill>
              </a:rPr>
              <a:t>Resize</a:t>
            </a:r>
          </a:p>
        </p:txBody>
      </p:sp>
      <p:cxnSp>
        <p:nvCxnSpPr>
          <p:cNvPr id="47" name="arrow.fit.resize-to-model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4667250" y="4191000"/>
            <a:ext cx="152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48" name="arrow.fit.model-to-output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77125" y="4191000"/>
            <a:ext cx="13811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50415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title.sned">
            <a:extLst xmlns:a="http://schemas.openxmlformats.org/drawingml/2006/main">
              <a:ext uri="{FF2B5EF4-FFF2-40B4-BE49-F238E27FC236}">
                <a16:creationId xmlns:a16="http://schemas.microsoft.com/office/drawing/2014/main" id="{6CB8A218-1EB2-429C-9537-640B568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SNED Framework</a:t>
            </a:r>
          </a:p>
        </p:txBody>
      </p:sp>
      <p:sp>
        <p:nvSpPr>
          <p:cNvPr id="2" name="label.training-data">
            <a:extLst xmlns:a="http://schemas.openxmlformats.org/drawingml/2006/main">
              <a:ext uri="{FF2B5EF4-FFF2-40B4-BE49-F238E27FC236}">
                <a16:creationId xmlns:a16="http://schemas.microsoft.com/office/drawing/2014/main" id="{8AEC24E5-000B-404F-A470-ED031E3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429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Training</a:t>
            </a:r>
          </a:p>
          <a:p xmlns:a="http://schemas.openxmlformats.org/drawingml/2006/main"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Data</a:t>
            </a:r>
          </a:p>
        </p:txBody>
      </p:sp>
      <p:sp>
        <p:nvSpPr>
          <p:cNvPr id="3" name="images.training.03">
            <a:extLst xmlns:a="http://schemas.openxmlformats.org/drawingml/2006/main">
              <a:ext uri="{FF2B5EF4-FFF2-40B4-BE49-F238E27FC236}">
                <a16:creationId xmlns:a16="http://schemas.microsoft.com/office/drawing/2014/main" id="{4584ADB9-4AC6-4EF3-8BD8-3567719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76625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7B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768²</a:t>
            </a:r>
          </a:p>
        </p:txBody>
      </p:sp>
      <p:sp>
        <p:nvSpPr>
          <p:cNvPr id="4" name="images.training.02">
            <a:extLst xmlns:a="http://schemas.openxmlformats.org/drawingml/2006/main">
              <a:ext uri="{FF2B5EF4-FFF2-40B4-BE49-F238E27FC236}">
                <a16:creationId xmlns:a16="http://schemas.microsoft.com/office/drawing/2014/main" id="{C7811107-AC4A-426B-9E62-EC302025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7650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B5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512²</a:t>
            </a:r>
          </a:p>
        </p:txBody>
      </p:sp>
      <p:sp>
        <p:nvSpPr>
          <p:cNvPr id="5" name="images.training.01">
            <a:extLst xmlns:a="http://schemas.openxmlformats.org/drawingml/2006/main">
              <a:ext uri="{FF2B5EF4-FFF2-40B4-BE49-F238E27FC236}">
                <a16:creationId xmlns:a16="http://schemas.microsoft.com/office/drawing/2014/main" id="{B07E647C-471D-457D-969F-C5D9F496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76375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D2E6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256²</a:t>
            </a:r>
          </a:p>
        </p:txBody>
      </p:sp>
      <p:sp>
        <p:nvSpPr>
          <p:cNvPr id="6" name="group.supernet">
            <a:extLst xmlns:a="http://schemas.openxmlformats.org/drawingml/2006/main">
              <a:ext uri="{FF2B5EF4-FFF2-40B4-BE49-F238E27FC236}">
                <a16:creationId xmlns:a16="http://schemas.microsoft.com/office/drawing/2014/main" id="{62C36016-EC4C-4CFC-A17F-6C69ACAA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000125"/>
            <a:ext cx="2476500" cy="3619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</p:sp>
      <p:sp>
        <p:nvSpPr>
          <p:cNvPr id="7" name="label.supernet">
            <a:extLst xmlns:a="http://schemas.openxmlformats.org/drawingml/2006/main">
              <a:ext uri="{FF2B5EF4-FFF2-40B4-BE49-F238E27FC236}">
                <a16:creationId xmlns:a16="http://schemas.microsoft.com/office/drawing/2014/main" id="{B0970E2D-D898-4578-A7CF-2030CA93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143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SuperNet</a:t>
            </a:r>
          </a:p>
        </p:txBody>
      </p:sp>
      <p:sp>
        <p:nvSpPr>
          <p:cNvPr id="8" name="network.supernet.edge.01">
            <a:extLst xmlns:a="http://schemas.openxmlformats.org/drawingml/2006/main">
              <a:ext uri="{FF2B5EF4-FFF2-40B4-BE49-F238E27FC236}">
                <a16:creationId xmlns:a16="http://schemas.microsoft.com/office/drawing/2014/main" id="{C38560ED-982F-495F-90C4-6A5BF65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57375"/>
            <a:ext cx="571500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9" name="network.supernet.edge.02">
            <a:extLst xmlns:a="http://schemas.openxmlformats.org/drawingml/2006/main">
              <a:ext uri="{FF2B5EF4-FFF2-40B4-BE49-F238E27FC236}">
                <a16:creationId xmlns:a16="http://schemas.microsoft.com/office/drawing/2014/main" id="{D5820929-01D3-47A0-9CA2-9C7E4AE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24063"/>
            <a:ext cx="57150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0" name="network.supernet.edge.03">
            <a:extLst xmlns:a="http://schemas.openxmlformats.org/drawingml/2006/main">
              <a:ext uri="{FF2B5EF4-FFF2-40B4-BE49-F238E27FC236}">
                <a16:creationId xmlns:a16="http://schemas.microsoft.com/office/drawing/2014/main" id="{21E5D3D7-FD14-4F62-B99D-9C22C5E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28875"/>
            <a:ext cx="5715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1" name="network.supernet.edge.04">
            <a:extLst xmlns:a="http://schemas.openxmlformats.org/drawingml/2006/main">
              <a:ext uri="{FF2B5EF4-FFF2-40B4-BE49-F238E27FC236}">
                <a16:creationId xmlns:a16="http://schemas.microsoft.com/office/drawing/2014/main" id="{FEF795D2-E41E-4699-A5F8-3CBFF05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571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2" name="network.supernet.edge.05">
            <a:extLst xmlns:a="http://schemas.openxmlformats.org/drawingml/2006/main">
              <a:ext uri="{FF2B5EF4-FFF2-40B4-BE49-F238E27FC236}">
                <a16:creationId xmlns:a16="http://schemas.microsoft.com/office/drawing/2014/main" id="{90E1FB21-C855-442A-87DD-DB22681D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48000"/>
            <a:ext cx="571500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3" name="network.supernet.edge.06">
            <a:extLst xmlns:a="http://schemas.openxmlformats.org/drawingml/2006/main">
              <a:ext uri="{FF2B5EF4-FFF2-40B4-BE49-F238E27FC236}">
                <a16:creationId xmlns:a16="http://schemas.microsoft.com/office/drawing/2014/main" id="{0CEA2003-2579-4407-8722-670DC2E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90938"/>
            <a:ext cx="5715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4" name="network.supernet.edge.07">
            <a:extLst xmlns:a="http://schemas.openxmlformats.org/drawingml/2006/main">
              <a:ext uri="{FF2B5EF4-FFF2-40B4-BE49-F238E27FC236}">
                <a16:creationId xmlns:a16="http://schemas.microsoft.com/office/drawing/2014/main" id="{C9A3646B-26AF-403A-80D3-C363E766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6286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5" name="network.supernet.edge.08">
            <a:extLst xmlns:a="http://schemas.openxmlformats.org/drawingml/2006/main">
              <a:ext uri="{FF2B5EF4-FFF2-40B4-BE49-F238E27FC236}">
                <a16:creationId xmlns:a16="http://schemas.microsoft.com/office/drawing/2014/main" id="{4B2C8387-3E22-43E5-A938-BB64B65A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6286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6" name="network.supernet.edge.09">
            <a:extLst xmlns:a="http://schemas.openxmlformats.org/drawingml/2006/main">
              <a:ext uri="{FF2B5EF4-FFF2-40B4-BE49-F238E27FC236}">
                <a16:creationId xmlns:a16="http://schemas.microsoft.com/office/drawing/2014/main" id="{8FDA68AD-C790-4698-83A2-B7CEAD40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6286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7" name="network.supernet.edge.10">
            <a:extLst xmlns:a="http://schemas.openxmlformats.org/drawingml/2006/main">
              <a:ext uri="{FF2B5EF4-FFF2-40B4-BE49-F238E27FC236}">
                <a16:creationId xmlns:a16="http://schemas.microsoft.com/office/drawing/2014/main" id="{4B8739EE-8AE0-49D3-8781-498D4D5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6286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8" name="network.supernet.edge.11">
            <a:extLst xmlns:a="http://schemas.openxmlformats.org/drawingml/2006/main">
              <a:ext uri="{FF2B5EF4-FFF2-40B4-BE49-F238E27FC236}">
                <a16:creationId xmlns:a16="http://schemas.microsoft.com/office/drawing/2014/main" id="{777F5E22-11B9-46EA-B197-5A29131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628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19" name="network.supernet.edge.12">
            <a:extLst xmlns:a="http://schemas.openxmlformats.org/drawingml/2006/main">
              <a:ext uri="{FF2B5EF4-FFF2-40B4-BE49-F238E27FC236}">
                <a16:creationId xmlns:a16="http://schemas.microsoft.com/office/drawing/2014/main" id="{7FEDFCD3-C432-4A30-8D81-12A2070F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6286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0" name="network.supernet.edge.13">
            <a:extLst xmlns:a="http://schemas.openxmlformats.org/drawingml/2006/main">
              <a:ext uri="{FF2B5EF4-FFF2-40B4-BE49-F238E27FC236}">
                <a16:creationId xmlns:a16="http://schemas.microsoft.com/office/drawing/2014/main" id="{E50E6A52-84C2-496F-B881-3697807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6286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1" name="network.supernet.edge.14">
            <a:extLst xmlns:a="http://schemas.openxmlformats.org/drawingml/2006/main">
              <a:ext uri="{FF2B5EF4-FFF2-40B4-BE49-F238E27FC236}">
                <a16:creationId xmlns:a16="http://schemas.microsoft.com/office/drawing/2014/main" id="{225B1607-A68D-45B8-B236-95D049B6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62375"/>
            <a:ext cx="6286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2" name="network.supernet.edge.15">
            <a:extLst xmlns:a="http://schemas.openxmlformats.org/drawingml/2006/main">
              <a:ext uri="{FF2B5EF4-FFF2-40B4-BE49-F238E27FC236}">
                <a16:creationId xmlns:a16="http://schemas.microsoft.com/office/drawing/2014/main" id="{5D58F9E0-0D80-4F97-9C07-94222FF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52625"/>
            <a:ext cx="514350" cy="309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3" name="network.supernet.edge.16">
            <a:extLst xmlns:a="http://schemas.openxmlformats.org/drawingml/2006/main">
              <a:ext uri="{FF2B5EF4-FFF2-40B4-BE49-F238E27FC236}">
                <a16:creationId xmlns:a16="http://schemas.microsoft.com/office/drawing/2014/main" id="{687EC625-63BE-4A02-9C0E-C385DC29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62188"/>
            <a:ext cx="514350" cy="357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4" name="network.supernet.edge.17">
            <a:extLst xmlns:a="http://schemas.openxmlformats.org/drawingml/2006/main">
              <a:ext uri="{FF2B5EF4-FFF2-40B4-BE49-F238E27FC236}">
                <a16:creationId xmlns:a16="http://schemas.microsoft.com/office/drawing/2014/main" id="{E2B182F1-A538-4D05-B807-E126DEE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514350" cy="357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5" name="network.supernet.edge.18">
            <a:extLst xmlns:a="http://schemas.openxmlformats.org/drawingml/2006/main">
              <a:ext uri="{FF2B5EF4-FFF2-40B4-BE49-F238E27FC236}">
                <a16:creationId xmlns:a16="http://schemas.microsoft.com/office/drawing/2014/main" id="{3E569791-4AB1-41BD-B517-0A624B91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6563"/>
            <a:ext cx="51435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6" name="network.supernet.edge.19">
            <a:extLst xmlns:a="http://schemas.openxmlformats.org/drawingml/2006/main">
              <a:ext uri="{FF2B5EF4-FFF2-40B4-BE49-F238E27FC236}">
                <a16:creationId xmlns:a16="http://schemas.microsoft.com/office/drawing/2014/main" id="{CBED6673-1256-4F5F-B001-6627B9F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81375"/>
            <a:ext cx="5143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7" name="network.supernet.edge.20">
            <a:extLst xmlns:a="http://schemas.openxmlformats.org/drawingml/2006/main">
              <a:ext uri="{FF2B5EF4-FFF2-40B4-BE49-F238E27FC236}">
                <a16:creationId xmlns:a16="http://schemas.microsoft.com/office/drawing/2014/main" id="{CBFBA40A-1785-4910-A238-B050B78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619500"/>
            <a:ext cx="5143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28" name="network.supernet.node.a1">
            <a:extLst xmlns:a="http://schemas.openxmlformats.org/drawingml/2006/main">
              <a:ext uri="{FF2B5EF4-FFF2-40B4-BE49-F238E27FC236}">
                <a16:creationId xmlns:a16="http://schemas.microsoft.com/office/drawing/2014/main" id="{5F733F64-E41B-4F09-BB54-0D20BA5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4786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network.supernet.node.a2">
            <a:extLst xmlns:a="http://schemas.openxmlformats.org/drawingml/2006/main">
              <a:ext uri="{FF2B5EF4-FFF2-40B4-BE49-F238E27FC236}">
                <a16:creationId xmlns:a16="http://schemas.microsoft.com/office/drawing/2014/main" id="{D5817CA3-ECA2-4D1C-8426-9A73C329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network.supernet.node.a3">
            <a:extLst xmlns:a="http://schemas.openxmlformats.org/drawingml/2006/main">
              <a:ext uri="{FF2B5EF4-FFF2-40B4-BE49-F238E27FC236}">
                <a16:creationId xmlns:a16="http://schemas.microsoft.com/office/drawing/2014/main" id="{6AE9E855-7180-409B-BD27-67506D2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147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network.supernet.node.b1">
            <a:extLst xmlns:a="http://schemas.openxmlformats.org/drawingml/2006/main">
              <a:ext uri="{FF2B5EF4-FFF2-40B4-BE49-F238E27FC236}">
                <a16:creationId xmlns:a16="http://schemas.microsoft.com/office/drawing/2014/main" id="{26EBC58E-8E27-4185-9DFB-BD142FCA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81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2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network.supernet.node.b2">
            <a:extLst xmlns:a="http://schemas.openxmlformats.org/drawingml/2006/main">
              <a:ext uri="{FF2B5EF4-FFF2-40B4-BE49-F238E27FC236}">
                <a16:creationId xmlns:a16="http://schemas.microsoft.com/office/drawing/2014/main" id="{492A8743-5ADD-470E-AB00-D8B9956F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52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network.supernet.node.b3">
            <a:extLst xmlns:a="http://schemas.openxmlformats.org/drawingml/2006/main">
              <a:ext uri="{FF2B5EF4-FFF2-40B4-BE49-F238E27FC236}">
                <a16:creationId xmlns:a16="http://schemas.microsoft.com/office/drawing/2014/main" id="{787BF6D6-22ED-4CE1-817E-05E8EE0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network.supernet.node.b4">
            <a:extLst xmlns:a="http://schemas.openxmlformats.org/drawingml/2006/main">
              <a:ext uri="{FF2B5EF4-FFF2-40B4-BE49-F238E27FC236}">
                <a16:creationId xmlns:a16="http://schemas.microsoft.com/office/drawing/2014/main" id="{04CFB245-666B-48A7-A1CB-CB23C06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network.supernet.node.c1">
            <a:extLst xmlns:a="http://schemas.openxmlformats.org/drawingml/2006/main">
              <a:ext uri="{FF2B5EF4-FFF2-40B4-BE49-F238E27FC236}">
                <a16:creationId xmlns:a16="http://schemas.microsoft.com/office/drawing/2014/main" id="{16D513EF-8F1D-495C-AEE4-3D284FC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76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2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network.supernet.node.c2">
            <a:extLst xmlns:a="http://schemas.openxmlformats.org/drawingml/2006/main">
              <a:ext uri="{FF2B5EF4-FFF2-40B4-BE49-F238E27FC236}">
                <a16:creationId xmlns:a16="http://schemas.microsoft.com/office/drawing/2014/main" id="{83101864-F468-4562-971C-EA506BF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43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network.supernet.node.c3">
            <a:extLst xmlns:a="http://schemas.openxmlformats.org/drawingml/2006/main">
              <a:ext uri="{FF2B5EF4-FFF2-40B4-BE49-F238E27FC236}">
                <a16:creationId xmlns:a16="http://schemas.microsoft.com/office/drawing/2014/main" id="{28F26123-6FE7-4244-8D71-C2B68C87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05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network.supernet.node.c4">
            <a:extLst xmlns:a="http://schemas.openxmlformats.org/drawingml/2006/main">
              <a:ext uri="{FF2B5EF4-FFF2-40B4-BE49-F238E27FC236}">
                <a16:creationId xmlns:a16="http://schemas.microsoft.com/office/drawing/2014/main" id="{6B58811A-E4EC-4D7D-BC90-2449216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81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network.supernet.node.d1">
            <a:extLst xmlns:a="http://schemas.openxmlformats.org/drawingml/2006/main">
              <a:ext uri="{FF2B5EF4-FFF2-40B4-BE49-F238E27FC236}">
                <a16:creationId xmlns:a16="http://schemas.microsoft.com/office/drawing/2014/main" id="{7914CE59-877D-4FDC-B377-E7D221B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8598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2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network.supernet.node.d2">
            <a:extLst xmlns:a="http://schemas.openxmlformats.org/drawingml/2006/main">
              <a:ext uri="{FF2B5EF4-FFF2-40B4-BE49-F238E27FC236}">
                <a16:creationId xmlns:a16="http://schemas.microsoft.com/office/drawing/2014/main" id="{7CCB469B-CC09-4973-8C4F-24A64A0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0036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network.supernet.node.d3">
            <a:extLst xmlns:a="http://schemas.openxmlformats.org/drawingml/2006/main">
              <a:ext uri="{FF2B5EF4-FFF2-40B4-BE49-F238E27FC236}">
                <a16:creationId xmlns:a16="http://schemas.microsoft.com/office/drawing/2014/main" id="{9A72C7A5-8E67-493B-B993-5299E4D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label.dynamic">
            <a:extLst xmlns:a="http://schemas.openxmlformats.org/drawingml/2006/main">
              <a:ext uri="{FF2B5EF4-FFF2-40B4-BE49-F238E27FC236}">
                <a16:creationId xmlns:a16="http://schemas.microsoft.com/office/drawing/2014/main" id="{4E1B3440-6DD5-4D04-B02C-550C211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29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Dynamic Cost Sampling</a:t>
            </a:r>
          </a:p>
        </p:txBody>
      </p:sp>
      <p:sp>
        <p:nvSpPr>
          <p:cNvPr id="43" name="group.subnets">
            <a:extLst xmlns:a="http://schemas.openxmlformats.org/drawingml/2006/main">
              <a:ext uri="{FF2B5EF4-FFF2-40B4-BE49-F238E27FC236}">
                <a16:creationId xmlns:a16="http://schemas.microsoft.com/office/drawing/2014/main" id="{E040EFF9-FA08-40AD-8F8B-661114A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00125"/>
            <a:ext cx="4095750" cy="3619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</p:sp>
      <p:sp>
        <p:nvSpPr>
          <p:cNvPr id="44" name="label.subnets">
            <a:extLst xmlns:a="http://schemas.openxmlformats.org/drawingml/2006/main">
              <a:ext uri="{FF2B5EF4-FFF2-40B4-BE49-F238E27FC236}">
                <a16:creationId xmlns:a16="http://schemas.microsoft.com/office/drawing/2014/main" id="{DD20B973-8ECD-46DA-8368-5B873D86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143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Subnets target different resolutions</a:t>
            </a:r>
          </a:p>
        </p:txBody>
      </p:sp>
      <p:sp>
        <p:nvSpPr>
          <p:cNvPr id="45" name="network.subnet-a.edge.01">
            <a:extLst xmlns:a="http://schemas.openxmlformats.org/drawingml/2006/main">
              <a:ext uri="{FF2B5EF4-FFF2-40B4-BE49-F238E27FC236}">
                <a16:creationId xmlns:a16="http://schemas.microsoft.com/office/drawing/2014/main" id="{66102045-ECCD-4E56-9956-8815112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1928813"/>
            <a:ext cx="387668" cy="107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46" name="network.subnet-a.edge.02">
            <a:extLst xmlns:a="http://schemas.openxmlformats.org/drawingml/2006/main">
              <a:ext uri="{FF2B5EF4-FFF2-40B4-BE49-F238E27FC236}">
                <a16:creationId xmlns:a16="http://schemas.microsoft.com/office/drawing/2014/main" id="{AD012528-4E95-4118-9B0C-4D07818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2035969"/>
            <a:ext cx="387668" cy="7500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47" name="network.subnet-a.edge.03">
            <a:extLst xmlns:a="http://schemas.openxmlformats.org/drawingml/2006/main">
              <a:ext uri="{FF2B5EF4-FFF2-40B4-BE49-F238E27FC236}">
                <a16:creationId xmlns:a16="http://schemas.microsoft.com/office/drawing/2014/main" id="{4F8F931D-6F47-475C-A7F7-F20BCAA9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2786063"/>
            <a:ext cx="387668" cy="107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48" name="network.subnet-a.edge.04">
            <a:extLst xmlns:a="http://schemas.openxmlformats.org/drawingml/2006/main">
              <a:ext uri="{FF2B5EF4-FFF2-40B4-BE49-F238E27FC236}">
                <a16:creationId xmlns:a16="http://schemas.microsoft.com/office/drawing/2014/main" id="{4EABD226-E59E-4BDD-8C8A-8DFD5014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2893219"/>
            <a:ext cx="387668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49" name="network.subnet-a.edge.05">
            <a:extLst xmlns:a="http://schemas.openxmlformats.org/drawingml/2006/main">
              <a:ext uri="{FF2B5EF4-FFF2-40B4-BE49-F238E27FC236}">
                <a16:creationId xmlns:a16="http://schemas.microsoft.com/office/drawing/2014/main" id="{650B5110-8732-4588-BCF2-E9A75BA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1928813"/>
            <a:ext cx="523875" cy="321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0" name="network.subnet-a.edge.06">
            <a:extLst xmlns:a="http://schemas.openxmlformats.org/drawingml/2006/main">
              <a:ext uri="{FF2B5EF4-FFF2-40B4-BE49-F238E27FC236}">
                <a16:creationId xmlns:a16="http://schemas.microsoft.com/office/drawing/2014/main" id="{F61E3632-1DED-4908-967D-58030281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250281"/>
            <a:ext cx="523875" cy="535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1" name="network.subnet-a.edge.07">
            <a:extLst xmlns:a="http://schemas.openxmlformats.org/drawingml/2006/main">
              <a:ext uri="{FF2B5EF4-FFF2-40B4-BE49-F238E27FC236}">
                <a16:creationId xmlns:a16="http://schemas.microsoft.com/office/drawing/2014/main" id="{87E18B7B-AC21-4639-B31F-93387F7D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2786063"/>
            <a:ext cx="523875" cy="535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2" name="network.subnet-a.edge.08">
            <a:extLst xmlns:a="http://schemas.openxmlformats.org/drawingml/2006/main">
              <a:ext uri="{FF2B5EF4-FFF2-40B4-BE49-F238E27FC236}">
                <a16:creationId xmlns:a16="http://schemas.microsoft.com/office/drawing/2014/main" id="{9EB5A975-346C-4DEC-BBB2-C4FD710E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0" y="3321844"/>
            <a:ext cx="52387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3" name="network.subnet-a.node.a1">
            <a:extLst xmlns:a="http://schemas.openxmlformats.org/drawingml/2006/main">
              <a:ext uri="{FF2B5EF4-FFF2-40B4-BE49-F238E27FC236}">
                <a16:creationId xmlns:a16="http://schemas.microsoft.com/office/drawing/2014/main" id="{C8C2676D-0057-4F3E-AE92-76CB1DA1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9692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network.subnet-a.node.a2">
            <a:extLst xmlns:a="http://schemas.openxmlformats.org/drawingml/2006/main">
              <a:ext uri="{FF2B5EF4-FFF2-40B4-BE49-F238E27FC236}">
                <a16:creationId xmlns:a16="http://schemas.microsoft.com/office/drawing/2014/main" id="{5FD56D2A-79CF-4AA6-83A3-96A98A57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282654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network.subnet-a.node.b1">
            <a:extLst xmlns:a="http://schemas.openxmlformats.org/drawingml/2006/main">
              <a:ext uri="{FF2B5EF4-FFF2-40B4-BE49-F238E27FC236}">
                <a16:creationId xmlns:a16="http://schemas.microsoft.com/office/drawing/2014/main" id="{D7986768-869D-4F72-B52B-CF517200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55" y="18621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network.subnet-a.node.b2">
            <a:extLst xmlns:a="http://schemas.openxmlformats.org/drawingml/2006/main">
              <a:ext uri="{FF2B5EF4-FFF2-40B4-BE49-F238E27FC236}">
                <a16:creationId xmlns:a16="http://schemas.microsoft.com/office/drawing/2014/main" id="{672DCACF-1912-4BCC-9E08-917B8103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55" y="27193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network.subnet-a.node.b3">
            <a:extLst xmlns:a="http://schemas.openxmlformats.org/drawingml/2006/main">
              <a:ext uri="{FF2B5EF4-FFF2-40B4-BE49-F238E27FC236}">
                <a16:creationId xmlns:a16="http://schemas.microsoft.com/office/drawing/2014/main" id="{D0CC362B-DD4C-409C-9C9F-D60600D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55" y="34694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network.subnet-a.node.c1">
            <a:extLst xmlns:a="http://schemas.openxmlformats.org/drawingml/2006/main">
              <a:ext uri="{FF2B5EF4-FFF2-40B4-BE49-F238E27FC236}">
                <a16:creationId xmlns:a16="http://schemas.microsoft.com/office/drawing/2014/main" id="{DB1BF1D9-A4A4-47DA-96FE-EC66F28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1836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network.subnet-a.node.c2">
            <a:extLst xmlns:a="http://schemas.openxmlformats.org/drawingml/2006/main">
              <a:ext uri="{FF2B5EF4-FFF2-40B4-BE49-F238E27FC236}">
                <a16:creationId xmlns:a16="http://schemas.microsoft.com/office/drawing/2014/main" id="{D2509A9B-A271-4318-99CE-B3CFF691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551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network.subnet-b.edge.01">
            <a:extLst xmlns:a="http://schemas.openxmlformats.org/drawingml/2006/main">
              <a:ext uri="{FF2B5EF4-FFF2-40B4-BE49-F238E27FC236}">
                <a16:creationId xmlns:a16="http://schemas.microsoft.com/office/drawing/2014/main" id="{A91A8ABE-1802-4552-A4B2-1A465B4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1928813"/>
            <a:ext cx="387668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1" name="network.subnet-b.edge.02">
            <a:extLst xmlns:a="http://schemas.openxmlformats.org/drawingml/2006/main">
              <a:ext uri="{FF2B5EF4-FFF2-40B4-BE49-F238E27FC236}">
                <a16:creationId xmlns:a16="http://schemas.microsoft.com/office/drawing/2014/main" id="{74440AB6-7855-4399-9ACE-F23339D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2143125"/>
            <a:ext cx="387668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2" name="network.subnet-b.edge.03">
            <a:extLst xmlns:a="http://schemas.openxmlformats.org/drawingml/2006/main">
              <a:ext uri="{FF2B5EF4-FFF2-40B4-BE49-F238E27FC236}">
                <a16:creationId xmlns:a16="http://schemas.microsoft.com/office/drawing/2014/main" id="{54D2B6A0-46A5-4BDE-A768-3AD33693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2743200"/>
            <a:ext cx="387668" cy="5786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3" name="network.subnet-b.edge.04">
            <a:extLst xmlns:a="http://schemas.openxmlformats.org/drawingml/2006/main">
              <a:ext uri="{FF2B5EF4-FFF2-40B4-BE49-F238E27FC236}">
                <a16:creationId xmlns:a16="http://schemas.microsoft.com/office/drawing/2014/main" id="{F841F1D0-8EF7-4D0C-A978-695680A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3321844"/>
            <a:ext cx="387668" cy="15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4" name="network.subnet-b.edge.05">
            <a:extLst xmlns:a="http://schemas.openxmlformats.org/drawingml/2006/main">
              <a:ext uri="{FF2B5EF4-FFF2-40B4-BE49-F238E27FC236}">
                <a16:creationId xmlns:a16="http://schemas.microsoft.com/office/drawing/2014/main" id="{92A043EA-1629-4D46-8B05-BA465653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05" y="1928813"/>
            <a:ext cx="52387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5" name="network.subnet-b.edge.06">
            <a:extLst xmlns:a="http://schemas.openxmlformats.org/drawingml/2006/main">
              <a:ext uri="{FF2B5EF4-FFF2-40B4-BE49-F238E27FC236}">
                <a16:creationId xmlns:a16="http://schemas.microsoft.com/office/drawing/2014/main" id="{259EC811-1073-4B5A-B875-46C42C7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05" y="2143125"/>
            <a:ext cx="52387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6" name="network.subnet-b.edge.07">
            <a:extLst xmlns:a="http://schemas.openxmlformats.org/drawingml/2006/main">
              <a:ext uri="{FF2B5EF4-FFF2-40B4-BE49-F238E27FC236}">
                <a16:creationId xmlns:a16="http://schemas.microsoft.com/office/drawing/2014/main" id="{F0A22559-2776-42A4-81E1-B5AF10A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05" y="2743200"/>
            <a:ext cx="523875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7" name="network.subnet-b.edge.08">
            <a:extLst xmlns:a="http://schemas.openxmlformats.org/drawingml/2006/main">
              <a:ext uri="{FF2B5EF4-FFF2-40B4-BE49-F238E27FC236}">
                <a16:creationId xmlns:a16="http://schemas.microsoft.com/office/drawing/2014/main" id="{C11460DE-1E4E-484D-A5CF-BB99111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05" y="3043238"/>
            <a:ext cx="52387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68" name="network.subnet-b.node.a1">
            <a:extLst xmlns:a="http://schemas.openxmlformats.org/drawingml/2006/main">
              <a:ext uri="{FF2B5EF4-FFF2-40B4-BE49-F238E27FC236}">
                <a16:creationId xmlns:a16="http://schemas.microsoft.com/office/drawing/2014/main" id="{35489FB8-1328-4BB9-9A52-36AADAAB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3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network.subnet-b.node.a2">
            <a:extLst xmlns:a="http://schemas.openxmlformats.org/drawingml/2006/main">
              <a:ext uri="{FF2B5EF4-FFF2-40B4-BE49-F238E27FC236}">
                <a16:creationId xmlns:a16="http://schemas.microsoft.com/office/drawing/2014/main" id="{353A2F7D-0C9C-4497-90F3-75F8475B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3" y="32551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network.subnet-b.node.b1">
            <a:extLst xmlns:a="http://schemas.openxmlformats.org/drawingml/2006/main">
              <a:ext uri="{FF2B5EF4-FFF2-40B4-BE49-F238E27FC236}">
                <a16:creationId xmlns:a16="http://schemas.microsoft.com/office/drawing/2014/main" id="{B5228F5C-1D39-4645-BF2C-3119B21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18621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network.subnet-b.node.b2">
            <a:extLst xmlns:a="http://schemas.openxmlformats.org/drawingml/2006/main">
              <a:ext uri="{FF2B5EF4-FFF2-40B4-BE49-F238E27FC236}">
                <a16:creationId xmlns:a16="http://schemas.microsoft.com/office/drawing/2014/main" id="{C141EFF1-B4F3-4410-BA56-38DB11D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network.subnet-b.node.b3">
            <a:extLst xmlns:a="http://schemas.openxmlformats.org/drawingml/2006/main">
              <a:ext uri="{FF2B5EF4-FFF2-40B4-BE49-F238E27FC236}">
                <a16:creationId xmlns:a16="http://schemas.microsoft.com/office/drawing/2014/main" id="{8D6EA24C-71E8-4888-B70A-98A9DE14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34051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network.subnet-b.node.c1">
            <a:extLst xmlns:a="http://schemas.openxmlformats.org/drawingml/2006/main">
              <a:ext uri="{FF2B5EF4-FFF2-40B4-BE49-F238E27FC236}">
                <a16:creationId xmlns:a16="http://schemas.microsoft.com/office/drawing/2014/main" id="{146C21E6-D6AC-4976-9D1D-494449B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network.subnet-b.node.c2">
            <a:extLst xmlns:a="http://schemas.openxmlformats.org/drawingml/2006/main">
              <a:ext uri="{FF2B5EF4-FFF2-40B4-BE49-F238E27FC236}">
                <a16:creationId xmlns:a16="http://schemas.microsoft.com/office/drawing/2014/main" id="{26C687BB-7D27-4862-B198-A61C8389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9765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network.subnet-c.edge.01">
            <a:extLst xmlns:a="http://schemas.openxmlformats.org/drawingml/2006/main">
              <a:ext uri="{FF2B5EF4-FFF2-40B4-BE49-F238E27FC236}">
                <a16:creationId xmlns:a16="http://schemas.microsoft.com/office/drawing/2014/main" id="{B45CEC92-8A2E-4A2A-AC3C-43DA0A9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1971675"/>
            <a:ext cx="387668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76" name="network.subnet-c.edge.02">
            <a:extLst xmlns:a="http://schemas.openxmlformats.org/drawingml/2006/main">
              <a:ext uri="{FF2B5EF4-FFF2-40B4-BE49-F238E27FC236}">
                <a16:creationId xmlns:a16="http://schemas.microsoft.com/office/drawing/2014/main" id="{19CA5C26-4DF3-4964-A892-4AE4010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1971675"/>
            <a:ext cx="387668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77" name="network.subnet-c.edge.03">
            <a:extLst xmlns:a="http://schemas.openxmlformats.org/drawingml/2006/main">
              <a:ext uri="{FF2B5EF4-FFF2-40B4-BE49-F238E27FC236}">
                <a16:creationId xmlns:a16="http://schemas.microsoft.com/office/drawing/2014/main" id="{96A2D03B-84EE-4B93-B643-A4E54A4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2893219"/>
            <a:ext cx="387668" cy="107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78" name="network.subnet-c.edge.04">
            <a:extLst xmlns:a="http://schemas.openxmlformats.org/drawingml/2006/main">
              <a:ext uri="{FF2B5EF4-FFF2-40B4-BE49-F238E27FC236}">
                <a16:creationId xmlns:a16="http://schemas.microsoft.com/office/drawing/2014/main" id="{B563473B-FBC1-47E4-9471-FD63AF0C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2143125"/>
            <a:ext cx="523875" cy="107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79" name="network.subnet-c.edge.05">
            <a:extLst xmlns:a="http://schemas.openxmlformats.org/drawingml/2006/main">
              <a:ext uri="{FF2B5EF4-FFF2-40B4-BE49-F238E27FC236}">
                <a16:creationId xmlns:a16="http://schemas.microsoft.com/office/drawing/2014/main" id="{D7F927BB-8486-42B9-9E1D-00A1E05B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2250281"/>
            <a:ext cx="523875" cy="7500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80" name="network.subnet-c.edge.06">
            <a:extLst xmlns:a="http://schemas.openxmlformats.org/drawingml/2006/main">
              <a:ext uri="{FF2B5EF4-FFF2-40B4-BE49-F238E27FC236}">
                <a16:creationId xmlns:a16="http://schemas.microsoft.com/office/drawing/2014/main" id="{30E0A473-EB1B-4555-862D-9940BA8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3000375"/>
            <a:ext cx="52387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81" name="network.subnet-c.node.a1">
            <a:extLst xmlns:a="http://schemas.openxmlformats.org/drawingml/2006/main">
              <a:ext uri="{FF2B5EF4-FFF2-40B4-BE49-F238E27FC236}">
                <a16:creationId xmlns:a16="http://schemas.microsoft.com/office/drawing/2014/main" id="{FAA45F1A-F857-44D4-856D-A690DB5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190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network.subnet-c.node.a2">
            <a:extLst xmlns:a="http://schemas.openxmlformats.org/drawingml/2006/main">
              <a:ext uri="{FF2B5EF4-FFF2-40B4-BE49-F238E27FC236}">
                <a16:creationId xmlns:a16="http://schemas.microsoft.com/office/drawing/2014/main" id="{10B4B3C4-F40D-4717-9DAB-55BF3265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282654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network.subnet-c.node.b1">
            <a:extLst xmlns:a="http://schemas.openxmlformats.org/drawingml/2006/main">
              <a:ext uri="{FF2B5EF4-FFF2-40B4-BE49-F238E27FC236}">
                <a16:creationId xmlns:a16="http://schemas.microsoft.com/office/drawing/2014/main" id="{FA72C66D-C47E-41DC-A5FB-BA693DD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05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network.subnet-c.node.b2">
            <a:extLst xmlns:a="http://schemas.openxmlformats.org/drawingml/2006/main">
              <a:ext uri="{FF2B5EF4-FFF2-40B4-BE49-F238E27FC236}">
                <a16:creationId xmlns:a16="http://schemas.microsoft.com/office/drawing/2014/main" id="{3289D4E2-9928-4D58-A945-662E910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05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network.subnet-c.node.c1">
            <a:extLst xmlns:a="http://schemas.openxmlformats.org/drawingml/2006/main">
              <a:ext uri="{FF2B5EF4-FFF2-40B4-BE49-F238E27FC236}">
                <a16:creationId xmlns:a16="http://schemas.microsoft.com/office/drawing/2014/main" id="{0D746179-5588-4A7A-B6A7-4873BB20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380" y="21836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network.subnet-c.node.c2">
            <a:extLst xmlns:a="http://schemas.openxmlformats.org/drawingml/2006/main">
              <a:ext uri="{FF2B5EF4-FFF2-40B4-BE49-F238E27FC236}">
                <a16:creationId xmlns:a16="http://schemas.microsoft.com/office/drawing/2014/main" id="{5FB7A4EA-674F-4B47-AD9D-CC6F7FF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380" y="31480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46C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label.resolutions">
            <a:extLst xmlns:a="http://schemas.openxmlformats.org/drawingml/2006/main">
              <a:ext uri="{FF2B5EF4-FFF2-40B4-BE49-F238E27FC236}">
                <a16:creationId xmlns:a16="http://schemas.microsoft.com/office/drawing/2014/main" id="{5078B627-B38D-4F33-B288-A50C369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Resolution A      Resolution B      Resolution C</a:t>
            </a:r>
          </a:p>
        </p:txBody>
      </p:sp>
      <p:sp>
        <p:nvSpPr>
          <p:cNvPr id="88" name="label.output">
            <a:extLst xmlns:a="http://schemas.openxmlformats.org/drawingml/2006/main">
              <a:ext uri="{FF2B5EF4-FFF2-40B4-BE49-F238E27FC236}">
                <a16:creationId xmlns:a16="http://schemas.microsoft.com/office/drawing/2014/main" id="{90BEE56D-A297-411C-A713-CAED8D8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Output</a:t>
            </a:r>
          </a:p>
        </p:txBody>
      </p:sp>
      <p:sp>
        <p:nvSpPr>
          <p:cNvPr id="89" name="group.output">
            <a:extLst xmlns:a="http://schemas.openxmlformats.org/drawingml/2006/main">
              <a:ext uri="{FF2B5EF4-FFF2-40B4-BE49-F238E27FC236}">
                <a16:creationId xmlns:a16="http://schemas.microsoft.com/office/drawing/2014/main" id="{B4FB1015-10D6-4A65-ADD0-E36F265C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38250"/>
            <a:ext cx="1666875" cy="3476625"/>
          </a:xfrm>
          <a:prstGeom xmlns:a="http://schemas.openxmlformats.org/drawingml/2006/main" prst="roundRect">
            <a:avLst>
              <a:gd name="adj" fmla="val 68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90" name="images.output.03">
            <a:extLst xmlns:a="http://schemas.openxmlformats.org/drawingml/2006/main">
              <a:ext uri="{FF2B5EF4-FFF2-40B4-BE49-F238E27FC236}">
                <a16:creationId xmlns:a16="http://schemas.microsoft.com/office/drawing/2014/main" id="{6683F1BC-A39C-441C-90A0-43BAA95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76625"/>
            <a:ext cx="128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7B7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768²</a:t>
            </a:r>
          </a:p>
        </p:txBody>
      </p:sp>
      <p:sp>
        <p:nvSpPr>
          <p:cNvPr id="91" name="images.output.02">
            <a:extLst xmlns:a="http://schemas.openxmlformats.org/drawingml/2006/main">
              <a:ext uri="{FF2B5EF4-FFF2-40B4-BE49-F238E27FC236}">
                <a16:creationId xmlns:a16="http://schemas.microsoft.com/office/drawing/2014/main" id="{18051CCD-AF3B-4CDC-8EA5-32370D7F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128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B5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512²</a:t>
            </a:r>
          </a:p>
        </p:txBody>
      </p:sp>
      <p:sp>
        <p:nvSpPr>
          <p:cNvPr id="92" name="images.output.01">
            <a:extLst xmlns:a="http://schemas.openxmlformats.org/drawingml/2006/main">
              <a:ext uri="{FF2B5EF4-FFF2-40B4-BE49-F238E27FC236}">
                <a16:creationId xmlns:a16="http://schemas.microsoft.com/office/drawing/2014/main" id="{11B4187B-34CA-4015-8457-B479A05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76375"/>
            <a:ext cx="1285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D2E6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256²</a:t>
            </a:r>
          </a:p>
        </p:txBody>
      </p:sp>
      <p:cxnSp>
        <p:nvCxnSpPr>
          <p:cNvPr id="188" name="arrow.training-to-supernet"/>
          <p:cNvCxnSpPr>
            <a:stCxn xmlns:a="http://schemas.openxmlformats.org/drawingml/2006/main" id="6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524375" y="2809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sp>
        <p:nvSpPr>
          <p:cNvPr id="94" name="arrow.training-to-supernet.label">
            <a:extLst xmlns:a="http://schemas.openxmlformats.org/drawingml/2006/main">
              <a:ext uri="{FF2B5EF4-FFF2-40B4-BE49-F238E27FC236}">
                <a16:creationId xmlns:a16="http://schemas.microsoft.com/office/drawing/2014/main" id="{4DB8453B-89B5-416F-9004-CE3FF07D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19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563"/>
                </a:solidFill>
              </a:defRPr>
            </a:pPr>
            <a:r>
              <a:rPr sz="900" b="0" i="0">
                <a:solidFill>
                  <a:srgbClr val="4B5563"/>
                </a:solidFill>
              </a:rPr>
              <a:t>Resolution search</a:t>
            </a:r>
          </a:p>
        </p:txBody>
      </p:sp>
      <p:cxnSp>
        <p:nvCxnSpPr>
          <p:cNvPr id="190" name="arrow.subnets-to-output"/>
          <p:cNvCxnSpPr>
            <a:stCxn xmlns:a="http://schemas.openxmlformats.org/drawingml/2006/main" id="43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9144000" y="2809875"/>
            <a:ext cx="333375" cy="1666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08338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.controlmllm">
            <a:extLst xmlns:a="http://schemas.openxmlformats.org/drawingml/2006/main">
              <a:ext uri="{FF2B5EF4-FFF2-40B4-BE49-F238E27FC236}">
                <a16:creationId xmlns:a16="http://schemas.microsoft.com/office/drawing/2014/main" id="{67AF4804-0483-446E-BB84-90451FD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Ours Training-free Method</a:t>
            </a:r>
          </a:p>
        </p:txBody>
      </p:sp>
      <p:sp>
        <p:nvSpPr>
          <p:cNvPr id="2" name="panel.in-domain">
            <a:extLst xmlns:a="http://schemas.openxmlformats.org/drawingml/2006/main">
              <a:ext uri="{FF2B5EF4-FFF2-40B4-BE49-F238E27FC236}">
                <a16:creationId xmlns:a16="http://schemas.microsoft.com/office/drawing/2014/main" id="{29750A0A-D800-4BA9-9351-0FC3D41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990600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CDD4"/>
            </a:solidFill>
            <a:prstDash val="solid"/>
          </a:ln>
        </p:spPr>
      </p:sp>
      <p:sp>
        <p:nvSpPr>
          <p:cNvPr id="3" name="panel.free-domain">
            <a:extLst xmlns:a="http://schemas.openxmlformats.org/drawingml/2006/main">
              <a:ext uri="{FF2B5EF4-FFF2-40B4-BE49-F238E27FC236}">
                <a16:creationId xmlns:a16="http://schemas.microsoft.com/office/drawing/2014/main" id="{E71D0D37-5303-4AC9-BB43-64EC2BB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90600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CDD4"/>
            </a:solidFill>
            <a:prstDash val="solid"/>
          </a:ln>
        </p:spPr>
      </p:sp>
      <p:sp>
        <p:nvSpPr>
          <p:cNvPr id="4" name="label.in-domain">
            <a:extLst xmlns:a="http://schemas.openxmlformats.org/drawingml/2006/main">
              <a:ext uri="{FF2B5EF4-FFF2-40B4-BE49-F238E27FC236}">
                <a16:creationId xmlns:a16="http://schemas.microsoft.com/office/drawing/2014/main" id="{90ADDB62-2883-4000-A1E0-C2D7A3C7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Inference on in-domain prompt</a:t>
            </a:r>
          </a:p>
        </p:txBody>
      </p:sp>
      <p:sp>
        <p:nvSpPr>
          <p:cNvPr id="5" name="label.free-domain">
            <a:extLst xmlns:a="http://schemas.openxmlformats.org/drawingml/2006/main">
              <a:ext uri="{FF2B5EF4-FFF2-40B4-BE49-F238E27FC236}">
                <a16:creationId xmlns:a16="http://schemas.microsoft.com/office/drawing/2014/main" id="{92FF6ACA-FB83-434F-9158-586AA6D1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Inference on free-domain prompt</a:t>
            </a:r>
          </a:p>
        </p:txBody>
      </p:sp>
      <p:sp>
        <p:nvSpPr>
          <p:cNvPr id="6" name="module.mllm-in">
            <a:extLst xmlns:a="http://schemas.openxmlformats.org/drawingml/2006/main">
              <a:ext uri="{FF2B5EF4-FFF2-40B4-BE49-F238E27FC236}">
                <a16:creationId xmlns:a16="http://schemas.microsoft.com/office/drawing/2014/main" id="{900D2477-EE8F-4E85-811B-81432CE3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238250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2937"/>
                </a:solidFill>
              </a:defRPr>
            </a:pPr>
            <a:r>
              <a:rPr sz="1950" b="1" i="0">
                <a:solidFill>
                  <a:srgbClr val="1F2937"/>
                </a:solidFill>
              </a:rPr>
              <a:t>MLLM                                      ❄</a:t>
            </a:r>
          </a:p>
        </p:txBody>
      </p:sp>
      <p:sp>
        <p:nvSpPr>
          <p:cNvPr id="7" name="module.mllm-free">
            <a:extLst xmlns:a="http://schemas.openxmlformats.org/drawingml/2006/main">
              <a:ext uri="{FF2B5EF4-FFF2-40B4-BE49-F238E27FC236}">
                <a16:creationId xmlns:a16="http://schemas.microsoft.com/office/drawing/2014/main" id="{F9F8F1FE-7A9D-4FD6-8ADF-6872B4ED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6B72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2937"/>
                </a:solidFill>
              </a:defRPr>
            </a:pPr>
            <a:r>
              <a:rPr sz="1950" b="1" i="0">
                <a:solidFill>
                  <a:srgbClr val="1F2937"/>
                </a:solidFill>
              </a:rPr>
              <a:t>MLLM                                      ❄</a:t>
            </a:r>
          </a:p>
        </p:txBody>
      </p:sp>
      <p:sp>
        <p:nvSpPr>
          <p:cNvPr id="8" name="input.in-domain">
            <a:extLst xmlns:a="http://schemas.openxmlformats.org/drawingml/2006/main">
              <a:ext uri="{FF2B5EF4-FFF2-40B4-BE49-F238E27FC236}">
                <a16:creationId xmlns:a16="http://schemas.microsoft.com/office/drawing/2014/main" id="{978A42AB-198E-477B-A2B9-5977724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A78"/>
          </a:solidFill>
          <a:ln xmlns:a="http://schemas.openxmlformats.org/drawingml/2006/main" w="14288">
            <a:solidFill>
              <a:srgbClr val="3129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in-domain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9" name="input.free-domain">
            <a:extLst xmlns:a="http://schemas.openxmlformats.org/drawingml/2006/main">
              <a:ext uri="{FF2B5EF4-FFF2-40B4-BE49-F238E27FC236}">
                <a16:creationId xmlns:a16="http://schemas.microsoft.com/office/drawing/2014/main" id="{8FE65759-127C-4BA0-8394-6F28DD3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A4A"/>
          </a:solidFill>
          <a:ln xmlns:a="http://schemas.openxmlformats.org/drawingml/2006/main" w="14288">
            <a:solidFill>
              <a:srgbClr val="8C283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free-domain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0" name="prompt.in-domain.01.01">
            <a:extLst xmlns:a="http://schemas.openxmlformats.org/drawingml/2006/main">
              <a:ext uri="{FF2B5EF4-FFF2-40B4-BE49-F238E27FC236}">
                <a16:creationId xmlns:a16="http://schemas.microsoft.com/office/drawing/2014/main" id="{DF01DE0D-37BE-48C9-AA79-BAC1CC8B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7E8F2"/>
          </a:solidFill>
          <a:ln xmlns:a="http://schemas.openxmlformats.org/drawingml/2006/main" w="7620">
            <a:solidFill>
              <a:srgbClr val="6B8FA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ompt.in-domain.01.02">
            <a:extLst xmlns:a="http://schemas.openxmlformats.org/drawingml/2006/main">
              <a:ext uri="{FF2B5EF4-FFF2-40B4-BE49-F238E27FC236}">
                <a16:creationId xmlns:a16="http://schemas.microsoft.com/office/drawing/2014/main" id="{93BD2EFF-81B6-45E4-8BBB-94A69D5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2238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B5D9A7"/>
          </a:solidFill>
          <a:ln xmlns:a="http://schemas.openxmlformats.org/drawingml/2006/main" w="7620">
            <a:solidFill>
              <a:srgbClr val="6B8FA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ompt.in-domain.01.03">
            <a:extLst xmlns:a="http://schemas.openxmlformats.org/drawingml/2006/main">
              <a:ext uri="{FF2B5EF4-FFF2-40B4-BE49-F238E27FC236}">
                <a16:creationId xmlns:a16="http://schemas.microsoft.com/office/drawing/2014/main" id="{721F7B92-044D-415A-B329-CBC58B4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2238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7E8F2"/>
          </a:solidFill>
          <a:ln xmlns:a="http://schemas.openxmlformats.org/drawingml/2006/main" w="7620">
            <a:solidFill>
              <a:srgbClr val="6B8FA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ompt.in-domain.01.04">
            <a:extLst xmlns:a="http://schemas.openxmlformats.org/drawingml/2006/main">
              <a:ext uri="{FF2B5EF4-FFF2-40B4-BE49-F238E27FC236}">
                <a16:creationId xmlns:a16="http://schemas.microsoft.com/office/drawing/2014/main" id="{54ADE2C8-8121-4076-BCE1-8F7480B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470" y="2238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B5D9A7"/>
          </a:solidFill>
          <a:ln xmlns:a="http://schemas.openxmlformats.org/drawingml/2006/main" w="7620">
            <a:solidFill>
              <a:srgbClr val="6B8FA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mpt.in-domain.01.05">
            <a:extLst xmlns:a="http://schemas.openxmlformats.org/drawingml/2006/main">
              <a:ext uri="{FF2B5EF4-FFF2-40B4-BE49-F238E27FC236}">
                <a16:creationId xmlns:a16="http://schemas.microsoft.com/office/drawing/2014/main" id="{180E52BB-14C2-42DC-B71C-634A70E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238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7E8F2"/>
          </a:solidFill>
          <a:ln xmlns:a="http://schemas.openxmlformats.org/drawingml/2006/main" w="7620">
            <a:solidFill>
              <a:srgbClr val="6B8FA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prompt.free-domain.01.01">
            <a:extLst xmlns:a="http://schemas.openxmlformats.org/drawingml/2006/main">
              <a:ext uri="{FF2B5EF4-FFF2-40B4-BE49-F238E27FC236}">
                <a16:creationId xmlns:a16="http://schemas.microsoft.com/office/drawing/2014/main" id="{3C2F72D8-6EBD-4569-983B-0FD8675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24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D960"/>
          </a:solidFill>
          <a:ln xmlns:a="http://schemas.openxmlformats.org/drawingml/2006/main" w="7620">
            <a:solidFill>
              <a:srgbClr val="917C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prompt.free-domain.01.02">
            <a:extLst xmlns:a="http://schemas.openxmlformats.org/drawingml/2006/main">
              <a:ext uri="{FF2B5EF4-FFF2-40B4-BE49-F238E27FC236}">
                <a16:creationId xmlns:a16="http://schemas.microsoft.com/office/drawing/2014/main" id="{BA64A8F0-8A22-4605-B4D8-6AFF63F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4524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AB4D5"/>
          </a:solidFill>
          <a:ln xmlns:a="http://schemas.openxmlformats.org/drawingml/2006/main" w="7620">
            <a:solidFill>
              <a:srgbClr val="917C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prompt.free-domain.01.03">
            <a:extLst xmlns:a="http://schemas.openxmlformats.org/drawingml/2006/main">
              <a:ext uri="{FF2B5EF4-FFF2-40B4-BE49-F238E27FC236}">
                <a16:creationId xmlns:a16="http://schemas.microsoft.com/office/drawing/2014/main" id="{C9A6B1A0-5A13-4F33-83C4-D1D75B1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4524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D960"/>
          </a:solidFill>
          <a:ln xmlns:a="http://schemas.openxmlformats.org/drawingml/2006/main" w="7620">
            <a:solidFill>
              <a:srgbClr val="917C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prompt.free-domain.01.04">
            <a:extLst xmlns:a="http://schemas.openxmlformats.org/drawingml/2006/main">
              <a:ext uri="{FF2B5EF4-FFF2-40B4-BE49-F238E27FC236}">
                <a16:creationId xmlns:a16="http://schemas.microsoft.com/office/drawing/2014/main" id="{600D083C-C178-4DE6-A467-E9F25C5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470" y="4524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AB4D5"/>
          </a:solidFill>
          <a:ln xmlns:a="http://schemas.openxmlformats.org/drawingml/2006/main" w="7620">
            <a:solidFill>
              <a:srgbClr val="917C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mpt.free-domain.01.05">
            <a:extLst xmlns:a="http://schemas.openxmlformats.org/drawingml/2006/main">
              <a:ext uri="{FF2B5EF4-FFF2-40B4-BE49-F238E27FC236}">
                <a16:creationId xmlns:a16="http://schemas.microsoft.com/office/drawing/2014/main" id="{1AA5B43F-A994-4D4C-803E-D4FC8C2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524375"/>
            <a:ext cx="415290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0D960"/>
          </a:solidFill>
          <a:ln xmlns:a="http://schemas.openxmlformats.org/drawingml/2006/main" w="7620">
            <a:solidFill>
              <a:srgbClr val="917C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output.in-domain">
            <a:extLst xmlns:a="http://schemas.openxmlformats.org/drawingml/2006/main">
              <a:ext uri="{FF2B5EF4-FFF2-40B4-BE49-F238E27FC236}">
                <a16:creationId xmlns:a16="http://schemas.microsoft.com/office/drawing/2014/main" id="{78AA5CD4-7F8C-4B63-B2E7-387B057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1714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BF1"/>
          </a:solidFill>
          <a:ln xmlns:a="http://schemas.openxmlformats.org/drawingml/2006/main" w="14288">
            <a:solidFill>
              <a:srgbClr val="78A7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What color is</a:t>
            </a:r>
          </a:p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the person wearing?</a:t>
            </a:r>
          </a:p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✓ green</a:t>
            </a:r>
          </a:p>
        </p:txBody>
      </p:sp>
      <p:sp>
        <p:nvSpPr>
          <p:cNvPr id="21" name="output.free-domain">
            <a:extLst xmlns:a="http://schemas.openxmlformats.org/drawingml/2006/main">
              <a:ext uri="{FF2B5EF4-FFF2-40B4-BE49-F238E27FC236}">
                <a16:creationId xmlns:a16="http://schemas.microsoft.com/office/drawing/2014/main" id="{1C8DF47D-A98D-46AE-A1E9-DF0CC313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1714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BF1"/>
          </a:solidFill>
          <a:ln xmlns:a="http://schemas.openxmlformats.org/drawingml/2006/main" w="14288">
            <a:solidFill>
              <a:srgbClr val="78A7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Describe the text</a:t>
            </a:r>
          </a:p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in the region.</a:t>
            </a:r>
          </a:p>
          <a:p xmlns:a="http://schemas.openxmlformats.org/drawingml/2006/main">
            <a:pPr algn="ctr">
              <a:defRPr sz="1275" b="1" i="0">
                <a:solidFill>
                  <a:srgbClr val="356A35"/>
                </a:solidFill>
              </a:defRPr>
            </a:pPr>
            <a:r>
              <a:rPr sz="1275" b="1" i="0">
                <a:solidFill>
                  <a:srgbClr val="356A35"/>
                </a:solidFill>
              </a:rPr>
              <a:t>✓ SALE</a:t>
            </a:r>
          </a:p>
        </p:txBody>
      </p:sp>
      <p:sp>
        <p:nvSpPr>
          <p:cNvPr id="22" name="arrow.prompt-in">
            <a:extLst xmlns:a="http://schemas.openxmlformats.org/drawingml/2006/main">
              <a:ext uri="{FF2B5EF4-FFF2-40B4-BE49-F238E27FC236}">
                <a16:creationId xmlns:a16="http://schemas.microsoft.com/office/drawing/2014/main" id="{DF82E65B-A54F-41F1-9AC9-47848D2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8B57"/>
            </a:solidFill>
            <a:prstDash val="solid"/>
          </a:ln>
        </p:spPr>
      </p:sp>
      <p:sp>
        <p:nvSpPr>
          <p:cNvPr id="23" name="arrow.prompt-in.arrow-end">
            <a:extLst xmlns:a="http://schemas.openxmlformats.org/drawingml/2006/main">
              <a:ext uri="{FF2B5EF4-FFF2-40B4-BE49-F238E27FC236}">
                <a16:creationId xmlns:a16="http://schemas.microsoft.com/office/drawing/2014/main" id="{CEDC907B-2B57-4529-90E7-2DEDDAFD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19669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row.prompt-free">
            <a:extLst xmlns:a="http://schemas.openxmlformats.org/drawingml/2006/main">
              <a:ext uri="{FF2B5EF4-FFF2-40B4-BE49-F238E27FC236}">
                <a16:creationId xmlns:a16="http://schemas.microsoft.com/office/drawing/2014/main" id="{56F9C0EB-0554-462B-9A57-A557446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8B57"/>
            </a:solidFill>
            <a:prstDash val="solid"/>
          </a:ln>
        </p:spPr>
      </p:sp>
      <p:sp>
        <p:nvSpPr>
          <p:cNvPr id="25" name="arrow.prompt-free.arrow-end">
            <a:extLst xmlns:a="http://schemas.openxmlformats.org/drawingml/2006/main">
              <a:ext uri="{FF2B5EF4-FFF2-40B4-BE49-F238E27FC236}">
                <a16:creationId xmlns:a16="http://schemas.microsoft.com/office/drawing/2014/main" id="{D30F49CB-B7BC-40FC-8F9E-0A372FB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42529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egend.frozen">
            <a:extLst xmlns:a="http://schemas.openxmlformats.org/drawingml/2006/main">
              <a:ext uri="{FF2B5EF4-FFF2-40B4-BE49-F238E27FC236}">
                <a16:creationId xmlns:a16="http://schemas.microsoft.com/office/drawing/2014/main" id="{DBB95838-ABE2-4CD5-951D-8C32FDD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185B8"/>
                </a:solidFill>
              </a:defRPr>
            </a:pPr>
            <a:r>
              <a:rPr sz="1200" b="0" i="0">
                <a:solidFill>
                  <a:srgbClr val="3185B8"/>
                </a:solidFill>
              </a:rPr>
              <a:t>❄ Frozen backbone</a:t>
            </a:r>
          </a:p>
        </p:txBody>
      </p:sp>
      <p:cxnSp>
        <p:nvCxnSpPr>
          <p:cNvPr id="57" name="arrow.input-in-to-mllm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24125" y="1619250"/>
            <a:ext cx="76200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58" name="arrow.mllm-in-to-output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29625" y="1619250"/>
            <a:ext cx="23812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59" name="arrow.input-free-to-mllm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524125" y="3905250"/>
            <a:ext cx="76200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60" name="arrow.mllm-free-to-output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3905250"/>
            <a:ext cx="23812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556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65123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.exit">
            <a:extLst xmlns:a="http://schemas.openxmlformats.org/drawingml/2006/main">
              <a:ext uri="{FF2B5EF4-FFF2-40B4-BE49-F238E27FC236}">
                <a16:creationId xmlns:a16="http://schemas.microsoft.com/office/drawing/2014/main" id="{4A4885B9-5263-46F3-99A5-20E0E2A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Time-dependent Exit Schedule</a:t>
            </a:r>
          </a:p>
        </p:txBody>
      </p:sp>
      <p:sp>
        <p:nvSpPr>
          <p:cNvPr id="2" name="label.noise">
            <a:extLst xmlns:a="http://schemas.openxmlformats.org/drawingml/2006/main">
              <a:ext uri="{FF2B5EF4-FFF2-40B4-BE49-F238E27FC236}">
                <a16:creationId xmlns:a16="http://schemas.microsoft.com/office/drawing/2014/main" id="{3F598AB6-7A0B-4A9E-B4AB-0F0AAF2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827"/>
                </a:solidFill>
              </a:defRPr>
            </a:pPr>
            <a:r>
              <a:rPr sz="1725" b="0" i="1">
                <a:solidFill>
                  <a:srgbClr val="111827"/>
                </a:solidFill>
              </a:rPr>
              <a:t>xₜ ~ 𝒩(0, I)</a:t>
            </a:r>
          </a:p>
        </p:txBody>
      </p:sp>
      <p:sp>
        <p:nvSpPr>
          <p:cNvPr id="3" name="tower.one.01.01">
            <a:extLst xmlns:a="http://schemas.openxmlformats.org/drawingml/2006/main">
              <a:ext uri="{FF2B5EF4-FFF2-40B4-BE49-F238E27FC236}">
                <a16:creationId xmlns:a16="http://schemas.microsoft.com/office/drawing/2014/main" id="{1EAB86F7-3E7A-4692-A26A-93F39DF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42875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1</a:t>
            </a:r>
          </a:p>
        </p:txBody>
      </p:sp>
      <p:sp>
        <p:nvSpPr>
          <p:cNvPr id="4" name="tower.one.02.01">
            <a:extLst xmlns:a="http://schemas.openxmlformats.org/drawingml/2006/main">
              <a:ext uri="{FF2B5EF4-FFF2-40B4-BE49-F238E27FC236}">
                <a16:creationId xmlns:a16="http://schemas.microsoft.com/office/drawing/2014/main" id="{D501F584-1519-4CFB-8428-7ED9C270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42875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tower.one.03.01">
            <a:extLst xmlns:a="http://schemas.openxmlformats.org/drawingml/2006/main">
              <a:ext uri="{FF2B5EF4-FFF2-40B4-BE49-F238E27FC236}">
                <a16:creationId xmlns:a16="http://schemas.microsoft.com/office/drawing/2014/main" id="{7114AD7B-CFA5-4184-B682-D69B9D5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142875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F2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Decoder</a:t>
            </a:r>
          </a:p>
        </p:txBody>
      </p:sp>
      <p:sp>
        <p:nvSpPr>
          <p:cNvPr id="6" name="tower.two.01.01">
            <a:extLst xmlns:a="http://schemas.openxmlformats.org/drawingml/2006/main">
              <a:ext uri="{FF2B5EF4-FFF2-40B4-BE49-F238E27FC236}">
                <a16:creationId xmlns:a16="http://schemas.microsoft.com/office/drawing/2014/main" id="{C451D575-785E-4E3C-AEA0-20E5146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1125"/>
            <a:ext cx="1428750" cy="366713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ower.two.02.01">
            <a:extLst xmlns:a="http://schemas.openxmlformats.org/drawingml/2006/main">
              <a:ext uri="{FF2B5EF4-FFF2-40B4-BE49-F238E27FC236}">
                <a16:creationId xmlns:a16="http://schemas.microsoft.com/office/drawing/2014/main" id="{F45E8AD6-9E9C-4750-8CA3-B1F167B5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2138"/>
            <a:ext cx="1428750" cy="366713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ower.two.03.01">
            <a:extLst xmlns:a="http://schemas.openxmlformats.org/drawingml/2006/main">
              <a:ext uri="{FF2B5EF4-FFF2-40B4-BE49-F238E27FC236}">
                <a16:creationId xmlns:a16="http://schemas.microsoft.com/office/drawing/2014/main" id="{227BEA4B-2AC6-4C4D-992F-E08AE6CE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1428750" cy="366713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8FBC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2</a:t>
            </a:r>
          </a:p>
        </p:txBody>
      </p:sp>
      <p:sp>
        <p:nvSpPr>
          <p:cNvPr id="9" name="tower.two.04.01">
            <a:extLst xmlns:a="http://schemas.openxmlformats.org/drawingml/2006/main">
              <a:ext uri="{FF2B5EF4-FFF2-40B4-BE49-F238E27FC236}">
                <a16:creationId xmlns:a16="http://schemas.microsoft.com/office/drawing/2014/main" id="{D65911F5-E6B4-4DEB-9E87-A05CC694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24163"/>
            <a:ext cx="1428750" cy="366713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7F2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Decoder</a:t>
            </a:r>
          </a:p>
        </p:txBody>
      </p:sp>
      <p:sp>
        <p:nvSpPr>
          <p:cNvPr id="10" name="tower.three.01.01">
            <a:extLst xmlns:a="http://schemas.openxmlformats.org/drawingml/2006/main">
              <a:ext uri="{FF2B5EF4-FFF2-40B4-BE49-F238E27FC236}">
                <a16:creationId xmlns:a16="http://schemas.microsoft.com/office/drawing/2014/main" id="{B274CBAB-6FF5-4716-9D2E-8865813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8112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ower.three.02.01">
            <a:extLst xmlns:a="http://schemas.openxmlformats.org/drawingml/2006/main">
              <a:ext uri="{FF2B5EF4-FFF2-40B4-BE49-F238E27FC236}">
                <a16:creationId xmlns:a16="http://schemas.microsoft.com/office/drawing/2014/main" id="{3497988E-A851-41EE-AE8E-0F2F4C0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70710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tower.three.03.01">
            <a:extLst xmlns:a="http://schemas.openxmlformats.org/drawingml/2006/main">
              <a:ext uri="{FF2B5EF4-FFF2-40B4-BE49-F238E27FC236}">
                <a16:creationId xmlns:a16="http://schemas.microsoft.com/office/drawing/2014/main" id="{4794C402-5798-4B24-99CE-CA9BCFB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6029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8FBC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2</a:t>
            </a:r>
          </a:p>
        </p:txBody>
      </p:sp>
      <p:sp>
        <p:nvSpPr>
          <p:cNvPr id="13" name="tower.three.04.01">
            <a:extLst xmlns:a="http://schemas.openxmlformats.org/drawingml/2006/main">
              <a:ext uri="{FF2B5EF4-FFF2-40B4-BE49-F238E27FC236}">
                <a16:creationId xmlns:a16="http://schemas.microsoft.com/office/drawing/2014/main" id="{AC90B7E6-469B-4F9B-B0EE-A557B6B6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49880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9EDC6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3</a:t>
            </a:r>
          </a:p>
        </p:txBody>
      </p:sp>
      <p:sp>
        <p:nvSpPr>
          <p:cNvPr id="14" name="tower.three.05.01">
            <a:extLst xmlns:a="http://schemas.openxmlformats.org/drawingml/2006/main">
              <a:ext uri="{FF2B5EF4-FFF2-40B4-BE49-F238E27FC236}">
                <a16:creationId xmlns:a16="http://schemas.microsoft.com/office/drawing/2014/main" id="{871EA6B6-29EC-40E8-93F2-B224A1A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3946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E7F2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Decoder</a:t>
            </a:r>
          </a:p>
        </p:txBody>
      </p:sp>
      <p:sp>
        <p:nvSpPr>
          <p:cNvPr id="15" name="tower.four.01.01">
            <a:extLst xmlns:a="http://schemas.openxmlformats.org/drawingml/2006/main">
              <a:ext uri="{FF2B5EF4-FFF2-40B4-BE49-F238E27FC236}">
                <a16:creationId xmlns:a16="http://schemas.microsoft.com/office/drawing/2014/main" id="{8B80397B-6D84-4583-BCBD-A5E68FC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tower.four.02.01">
            <a:extLst xmlns:a="http://schemas.openxmlformats.org/drawingml/2006/main">
              <a:ext uri="{FF2B5EF4-FFF2-40B4-BE49-F238E27FC236}">
                <a16:creationId xmlns:a16="http://schemas.microsoft.com/office/drawing/2014/main" id="{B7D27D8B-5D31-4FE3-8E0D-73805D6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70710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tower.four.03.01">
            <a:extLst xmlns:a="http://schemas.openxmlformats.org/drawingml/2006/main">
              <a:ext uri="{FF2B5EF4-FFF2-40B4-BE49-F238E27FC236}">
                <a16:creationId xmlns:a16="http://schemas.microsoft.com/office/drawing/2014/main" id="{C5509075-5017-45DE-894D-08295C66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029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8FBC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ower.four.04.01">
            <a:extLst xmlns:a="http://schemas.openxmlformats.org/drawingml/2006/main">
              <a:ext uri="{FF2B5EF4-FFF2-40B4-BE49-F238E27FC236}">
                <a16:creationId xmlns:a16="http://schemas.microsoft.com/office/drawing/2014/main" id="{874F9FC7-BF2E-49C3-833D-6D8B51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9880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9EDC6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3</a:t>
            </a:r>
          </a:p>
        </p:txBody>
      </p:sp>
      <p:sp>
        <p:nvSpPr>
          <p:cNvPr id="19" name="tower.four.05.01">
            <a:extLst xmlns:a="http://schemas.openxmlformats.org/drawingml/2006/main">
              <a:ext uri="{FF2B5EF4-FFF2-40B4-BE49-F238E27FC236}">
                <a16:creationId xmlns:a16="http://schemas.microsoft.com/office/drawing/2014/main" id="{775F6E62-25A3-417B-BD86-810810A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9465"/>
            <a:ext cx="1428750" cy="375285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E7F2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Decoder</a:t>
            </a:r>
          </a:p>
        </p:txBody>
      </p:sp>
      <p:sp>
        <p:nvSpPr>
          <p:cNvPr id="20" name="tower.five.01.01">
            <a:extLst xmlns:a="http://schemas.openxmlformats.org/drawingml/2006/main">
              <a:ext uri="{FF2B5EF4-FFF2-40B4-BE49-F238E27FC236}">
                <a16:creationId xmlns:a16="http://schemas.microsoft.com/office/drawing/2014/main" id="{5C1EED85-B8C3-4865-8EEA-1D0FF2E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811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tower.five.02.01">
            <a:extLst xmlns:a="http://schemas.openxmlformats.org/drawingml/2006/main">
              <a:ext uri="{FF2B5EF4-FFF2-40B4-BE49-F238E27FC236}">
                <a16:creationId xmlns:a16="http://schemas.microsoft.com/office/drawing/2014/main" id="{730C7B02-D16D-4F5A-8A67-AD346F0A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764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tower.five.03.01">
            <a:extLst xmlns:a="http://schemas.openxmlformats.org/drawingml/2006/main">
              <a:ext uri="{FF2B5EF4-FFF2-40B4-BE49-F238E27FC236}">
                <a16:creationId xmlns:a16="http://schemas.microsoft.com/office/drawing/2014/main" id="{4CFA97A1-DBF2-48FF-8731-7D2E3D6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717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8FBC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tower.five.04.01">
            <a:extLst xmlns:a="http://schemas.openxmlformats.org/drawingml/2006/main">
              <a:ext uri="{FF2B5EF4-FFF2-40B4-BE49-F238E27FC236}">
                <a16:creationId xmlns:a16="http://schemas.microsoft.com/office/drawing/2014/main" id="{64AC79B7-F9F8-4DF0-BE2B-2EC4D213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670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9EDC6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tower.five.05.01">
            <a:extLst xmlns:a="http://schemas.openxmlformats.org/drawingml/2006/main">
              <a:ext uri="{FF2B5EF4-FFF2-40B4-BE49-F238E27FC236}">
                <a16:creationId xmlns:a16="http://schemas.microsoft.com/office/drawing/2014/main" id="{3CDEE206-38F5-4670-BDFC-7E2BD582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D77B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Block 4</a:t>
            </a:r>
          </a:p>
        </p:txBody>
      </p:sp>
      <p:sp>
        <p:nvSpPr>
          <p:cNvPr id="25" name="tower.five.06.01">
            <a:extLst xmlns:a="http://schemas.openxmlformats.org/drawingml/2006/main">
              <a:ext uri="{FF2B5EF4-FFF2-40B4-BE49-F238E27FC236}">
                <a16:creationId xmlns:a16="http://schemas.microsoft.com/office/drawing/2014/main" id="{056208B2-8C47-47D4-82E2-AC4B940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14287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2E0"/>
          </a:solidFill>
          <a:ln xmlns:a="http://schemas.openxmlformats.org/drawingml/2006/main" w="7620">
            <a:solidFill>
              <a:srgbClr val="4B55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Decoder</a:t>
            </a:r>
          </a:p>
        </p:txBody>
      </p:sp>
      <p:sp>
        <p:nvSpPr>
          <p:cNvPr id="26" name="skip.one">
            <a:extLst xmlns:a="http://schemas.openxmlformats.org/drawingml/2006/main">
              <a:ext uri="{FF2B5EF4-FFF2-40B4-BE49-F238E27FC236}">
                <a16:creationId xmlns:a16="http://schemas.microsoft.com/office/drawing/2014/main" id="{08A82124-9840-48D4-B47A-635449B0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  <a:prstDash val="solid"/>
          </a:ln>
        </p:spPr>
      </p:sp>
      <p:sp>
        <p:nvSpPr>
          <p:cNvPr id="27" name="skip.one.arrow-end">
            <a:extLst xmlns:a="http://schemas.openxmlformats.org/drawingml/2006/main">
              <a:ext uri="{FF2B5EF4-FFF2-40B4-BE49-F238E27FC236}">
                <a16:creationId xmlns:a16="http://schemas.microsoft.com/office/drawing/2014/main" id="{60488D27-4731-4540-AE93-C3D9BA0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1138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kip.two">
            <a:extLst xmlns:a="http://schemas.openxmlformats.org/drawingml/2006/main">
              <a:ext uri="{FF2B5EF4-FFF2-40B4-BE49-F238E27FC236}">
                <a16:creationId xmlns:a16="http://schemas.microsoft.com/office/drawing/2014/main" id="{43DF01C8-D809-4C6B-A012-4072C05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190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  <a:prstDash val="solid"/>
          </a:ln>
        </p:spPr>
      </p:sp>
      <p:sp>
        <p:nvSpPr>
          <p:cNvPr id="29" name="skip.two.arrow-end">
            <a:extLst xmlns:a="http://schemas.openxmlformats.org/drawingml/2006/main">
              <a:ext uri="{FF2B5EF4-FFF2-40B4-BE49-F238E27FC236}">
                <a16:creationId xmlns:a16="http://schemas.microsoft.com/office/drawing/2014/main" id="{DC7A8875-0DC9-4540-9DD3-61C4B2E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1138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kip.three">
            <a:extLst xmlns:a="http://schemas.openxmlformats.org/drawingml/2006/main">
              <a:ext uri="{FF2B5EF4-FFF2-40B4-BE49-F238E27FC236}">
                <a16:creationId xmlns:a16="http://schemas.microsoft.com/office/drawing/2014/main" id="{F42D0F4D-4605-4CCD-BBC2-7840A6E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  <a:prstDash val="solid"/>
          </a:ln>
        </p:spPr>
      </p:sp>
      <p:sp>
        <p:nvSpPr>
          <p:cNvPr id="31" name="skip.three.arrow-end">
            <a:extLst xmlns:a="http://schemas.openxmlformats.org/drawingml/2006/main">
              <a:ext uri="{FF2B5EF4-FFF2-40B4-BE49-F238E27FC236}">
                <a16:creationId xmlns:a16="http://schemas.microsoft.com/office/drawing/2014/main" id="{3BE4E698-EB29-4231-BEDF-34D11BD5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1138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kip.four">
            <a:extLst xmlns:a="http://schemas.openxmlformats.org/drawingml/2006/main">
              <a:ext uri="{FF2B5EF4-FFF2-40B4-BE49-F238E27FC236}">
                <a16:creationId xmlns:a16="http://schemas.microsoft.com/office/drawing/2014/main" id="{7E20C4FC-28F5-4E58-90FC-CFB0ECE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90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  <a:prstDash val="solid"/>
          </a:ln>
        </p:spPr>
      </p:sp>
      <p:sp>
        <p:nvSpPr>
          <p:cNvPr id="33" name="skip.four.arrow-end">
            <a:extLst xmlns:a="http://schemas.openxmlformats.org/drawingml/2006/main">
              <a:ext uri="{FF2B5EF4-FFF2-40B4-BE49-F238E27FC236}">
                <a16:creationId xmlns:a16="http://schemas.microsoft.com/office/drawing/2014/main" id="{F2A422BD-302D-4BB9-8267-C7B047AF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1138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kip.five">
            <a:extLst xmlns:a="http://schemas.openxmlformats.org/drawingml/2006/main">
              <a:ext uri="{FF2B5EF4-FFF2-40B4-BE49-F238E27FC236}">
                <a16:creationId xmlns:a16="http://schemas.microsoft.com/office/drawing/2014/main" id="{18163D9C-97BE-4FE3-8C3D-77D398E7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90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  <a:prstDash val="solid"/>
          </a:ln>
        </p:spPr>
      </p:sp>
      <p:sp>
        <p:nvSpPr>
          <p:cNvPr id="35" name="skip.five.arrow-end">
            <a:extLst xmlns:a="http://schemas.openxmlformats.org/drawingml/2006/main">
              <a:ext uri="{FF2B5EF4-FFF2-40B4-BE49-F238E27FC236}">
                <a16:creationId xmlns:a16="http://schemas.microsoft.com/office/drawing/2014/main" id="{7443B809-46FF-4B74-B177-049DC0D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1138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.schedule">
            <a:extLst xmlns:a="http://schemas.openxmlformats.org/drawingml/2006/main">
              <a:ext uri="{FF2B5EF4-FFF2-40B4-BE49-F238E27FC236}">
                <a16:creationId xmlns:a16="http://schemas.microsoft.com/office/drawing/2014/main" id="{32F3B21D-11AD-4BD5-8BA2-3C8A081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Blocks exit later as the score-estimation problem becomes harder</a:t>
            </a:r>
          </a:p>
        </p:txBody>
      </p:sp>
      <p:sp>
        <p:nvSpPr>
          <p:cNvPr id="37" name="formula.sde">
            <a:extLst xmlns:a="http://schemas.openxmlformats.org/drawingml/2006/main">
              <a:ext uri="{FF2B5EF4-FFF2-40B4-BE49-F238E27FC236}">
                <a16:creationId xmlns:a16="http://schemas.microsoft.com/office/drawing/2014/main" id="{3E41EE0D-24BF-4A2C-93CE-4D2DA40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111827"/>
                </a:solidFill>
              </a:defRPr>
            </a:pPr>
            <a:r>
              <a:rPr sz="1875" b="0" i="1">
                <a:solidFill>
                  <a:srgbClr val="111827"/>
                </a:solidFill>
              </a:rPr>
              <a:t>dx = [ f(x,t) − g²(t) ∇ₓ log pₜ(x) ]dt + g(t)dw</a:t>
            </a:r>
          </a:p>
        </p:txBody>
      </p:sp>
    </p:spTree>
    <p:extLst>
      <p:ext uri="{BB962C8B-B14F-4D97-AF65-F5344CB8AC3E}">
        <p14:creationId xmlns:p14="http://schemas.microsoft.com/office/powerpoint/2010/main" val="320729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2026-07-30T14:10:28.4420000Z</dcterms:created>
  <dcterms:modified xsi:type="dcterms:W3CDTF">2026-07-30T14:10:28.4420000Z</dcterms:modified>
</coreProperties>
</file>