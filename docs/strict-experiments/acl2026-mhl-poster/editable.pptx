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26bc7b9b0e40c2" /><Relationship Type="http://schemas.openxmlformats.org/officeDocument/2006/relationships/extended-properties" Target="/docProps/app.xml" Id="R93b6406b0bb24926" /><Relationship Type="http://schemas.openxmlformats.org/officeDocument/2006/relationships/officeDocument" Target="/ppt/presentation.xml" Id="Rd9973263d2ca4e54" /></Relationships>
</file>

<file path=ppt/presentation.xml><?xml version="1.0" encoding="utf-8"?>
<p:presentation xmlns:p="http://schemas.openxmlformats.org/presentationml/2006/main">
  <p:sldMasterIdLst>
    <p:sldMasterId xmlns:r="http://schemas.openxmlformats.org/officeDocument/2006/relationships" id="2147483648" r:id="Raf831f146d544202"/>
  </p:sldMasterIdLst>
  <p:notesMasterIdLst>
    <p:notesMasterId xmlns:r="http://schemas.openxmlformats.org/officeDocument/2006/relationships" r:id="Rcd46a5f26de24480"/>
  </p:notesMasterIdLst>
  <p:sldIdLst>
    <p:sldId xmlns:r="http://schemas.openxmlformats.org/officeDocument/2006/relationships" id="256" r:id="R5889679344444bb9"/>
  </p:sldIdLst>
  <p:sldSz cx="10287000" cy="144399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572dd09cfc466a" /><Relationship Type="http://schemas.openxmlformats.org/officeDocument/2006/relationships/slideMaster" Target="/ppt/slideMasters/slideMaster1.xml" Id="Raf831f146d544202" /><Relationship Type="http://schemas.openxmlformats.org/officeDocument/2006/relationships/notesMaster" Target="/ppt/notesMasters/notesMaster1.xml" Id="Rcd46a5f26de24480" /><Relationship Type="http://schemas.openxmlformats.org/officeDocument/2006/relationships/presProps" Target="/ppt/presProps.xml" Id="R9e0806016f344284" /><Relationship Type="http://schemas.openxmlformats.org/officeDocument/2006/relationships/tableStyles" Target="/ppt/tableStyles.xml" Id="Rd8bbf64e219d4124" /><Relationship Type="http://schemas.openxmlformats.org/officeDocument/2006/relationships/slide" Target="/ppt/slides/slide1.xml" Id="R5889679344444b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488451e18645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f22d6c684d4800" /><Relationship Type="http://schemas.openxmlformats.org/officeDocument/2006/relationships/notesMaster" Target="/ppt/notesMasters/notesMaster1.xml" Id="R4a1524b77d464d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image: 宣传一下我们被ACL 2026录用oral的工作</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63cb2e37824f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e43b59d6ef4ccd" /><Relationship Type="http://schemas.openxmlformats.org/officeDocument/2006/relationships/slideLayout" Target="/ppt/slideLayouts/slideLayout1.xml" Id="R08f352cb144647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f352cb144647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5d5765bae24d97" /><Relationship Type="http://schemas.openxmlformats.org/officeDocument/2006/relationships/image" Target="/ppt/media/image.png" Id="R25e2d5fb657b443e" /><Relationship Type="http://schemas.openxmlformats.org/officeDocument/2006/relationships/image" Target="/ppt/media/image2.png" Id="Rd078f474e590407f" /><Relationship Type="http://schemas.openxmlformats.org/officeDocument/2006/relationships/image" Target="/ppt/media/image3.png" Id="R3a54681f5ea24c6f" /><Relationship Type="http://schemas.openxmlformats.org/officeDocument/2006/relationships/image" Target="/ppt/media/image4.png" Id="Rfa97be2d3729487a" /><Relationship Type="http://schemas.openxmlformats.org/officeDocument/2006/relationships/image" Target="/ppt/media/image5.png" Id="R42c17ccf8a354f24" /><Relationship Type="http://schemas.openxmlformats.org/officeDocument/2006/relationships/image" Target="/ppt/media/image6.png" Id="R90bd3f96d80840bd" /><Relationship Type="http://schemas.openxmlformats.org/officeDocument/2006/relationships/notesSlide" Target="/ppt/notesSlides/notesSlide1.xml" Id="Rda18e5a4a2e04cd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header.background">
            <a:extLst xmlns:a="http://schemas.openxmlformats.org/drawingml/2006/main">
              <a:ext uri="{FF2B5EF4-FFF2-40B4-BE49-F238E27FC236}">
                <a16:creationId xmlns:a16="http://schemas.microsoft.com/office/drawing/2014/main" id="{4847DA63-CC09-43C4-A51D-7AD7D1C85EEC}"/>
              </a:ext>
            </a:extLst>
          </p:cNvPr>
          <p:cNvSpPr>
            <a:spLocks xmlns:a="http://schemas.openxmlformats.org/drawingml/2006/main" noGrp="1"/>
          </p:cNvSpPr>
          <p:nvPr/>
        </p:nvSpPr>
        <p:spPr>
          <a:xfrm xmlns:a="http://schemas.openxmlformats.org/drawingml/2006/main">
            <a:off x="133350" y="133350"/>
            <a:ext cx="10020300" cy="2066925"/>
          </a:xfrm>
          <a:prstGeom xmlns:a="http://schemas.openxmlformats.org/drawingml/2006/main" prst="rect">
            <a:avLst/>
          </a:prstGeom>
          <a:solidFill xmlns:a="http://schemas.openxmlformats.org/drawingml/2006/main">
            <a:srgbClr val="E5EFFD"/>
          </a:solidFill>
          <a:ln xmlns:a="http://schemas.openxmlformats.org/drawingml/2006/main" w="0">
            <a:solidFill>
              <a:srgbClr val="E5EFFD"/>
            </a:solidFill>
            <a:prstDash val="solid"/>
          </a:ln>
        </p:spPr>
      </p:sp>
      <p:sp>
        <p:nvSpPr>
          <p:cNvPr id="2" name="header.title">
            <a:extLst xmlns:a="http://schemas.openxmlformats.org/drawingml/2006/main">
              <a:ext uri="{FF2B5EF4-FFF2-40B4-BE49-F238E27FC236}">
                <a16:creationId xmlns:a16="http://schemas.microsoft.com/office/drawing/2014/main" id="{915B91CF-D95D-4B3F-8918-0AE81FC92BD5}"/>
              </a:ext>
            </a:extLst>
          </p:cNvPr>
          <p:cNvSpPr>
            <a:spLocks xmlns:a="http://schemas.openxmlformats.org/drawingml/2006/main" noGrp="1"/>
          </p:cNvSpPr>
          <p:nvPr/>
        </p:nvSpPr>
        <p:spPr>
          <a:xfrm xmlns:a="http://schemas.openxmlformats.org/drawingml/2006/main">
            <a:off x="476250" y="257175"/>
            <a:ext cx="647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11111"/>
                </a:solidFill>
              </a:defRPr>
            </a:pPr>
            <a:r>
              <a:rPr sz="1875" b="1" i="0">
                <a:solidFill>
                  <a:srgbClr val="111111"/>
                </a:solidFill>
              </a:rPr>
              <a:t>From Past To Path: Masked History Learning for</a:t>
            </a:r>
          </a:p>
          <a:p xmlns:a="http://schemas.openxmlformats.org/drawingml/2006/main">
            <a:pPr algn="l">
              <a:defRPr sz="1875" b="1" i="0">
                <a:solidFill>
                  <a:srgbClr val="111111"/>
                </a:solidFill>
              </a:defRPr>
            </a:pPr>
            <a:r>
              <a:rPr sz="1875" b="1" i="0">
                <a:solidFill>
                  <a:srgbClr val="111111"/>
                </a:solidFill>
              </a:rPr>
              <a:t>Next-Item Prediction in Generative Recommendation</a:t>
            </a:r>
          </a:p>
        </p:txBody>
      </p:sp>
      <p:sp>
        <p:nvSpPr>
          <p:cNvPr id="3" name="header.authors">
            <a:extLst xmlns:a="http://schemas.openxmlformats.org/drawingml/2006/main">
              <a:ext uri="{FF2B5EF4-FFF2-40B4-BE49-F238E27FC236}">
                <a16:creationId xmlns:a16="http://schemas.microsoft.com/office/drawing/2014/main" id="{6FD145C7-6AE6-4590-80F2-3F74EFA2880D}"/>
              </a:ext>
            </a:extLst>
          </p:cNvPr>
          <p:cNvSpPr>
            <a:spLocks xmlns:a="http://schemas.openxmlformats.org/drawingml/2006/main" noGrp="1"/>
          </p:cNvSpPr>
          <p:nvPr/>
        </p:nvSpPr>
        <p:spPr>
          <a:xfrm xmlns:a="http://schemas.openxmlformats.org/drawingml/2006/main">
            <a:off x="485775" y="8953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11111"/>
                </a:solidFill>
              </a:defRPr>
            </a:pPr>
            <a:r>
              <a:rPr sz="900" b="1" i="0">
                <a:solidFill>
                  <a:srgbClr val="111111"/>
                </a:solidFill>
              </a:rPr>
              <a:t>Kaiwen Wei¹*, Kejun He¹*, Xiaomian Kang², Jie Zhang³, Yuming Yang¹,</a:t>
            </a:r>
          </a:p>
          <a:p xmlns:a="http://schemas.openxmlformats.org/drawingml/2006/main">
            <a:pPr algn="l">
              <a:defRPr sz="900" b="1" i="0">
                <a:solidFill>
                  <a:srgbClr val="111111"/>
                </a:solidFill>
              </a:defRPr>
            </a:pPr>
            <a:r>
              <a:rPr sz="900" b="1" i="0">
                <a:solidFill>
                  <a:srgbClr val="111111"/>
                </a:solidFill>
              </a:rPr>
              <a:t>Li Jin⁴, Zhenyang Li⁵, Jiang Zhong¹†, He Bai³, Junnan Zhu²†</a:t>
            </a:r>
          </a:p>
        </p:txBody>
      </p:sp>
      <p:sp>
        <p:nvSpPr>
          <p:cNvPr id="4" name="header.affiliations">
            <a:extLst xmlns:a="http://schemas.openxmlformats.org/drawingml/2006/main">
              <a:ext uri="{FF2B5EF4-FFF2-40B4-BE49-F238E27FC236}">
                <a16:creationId xmlns:a16="http://schemas.microsoft.com/office/drawing/2014/main" id="{D2E13C17-FB8D-4A24-882A-85718A1A6C0E}"/>
              </a:ext>
            </a:extLst>
          </p:cNvPr>
          <p:cNvSpPr>
            <a:spLocks xmlns:a="http://schemas.openxmlformats.org/drawingml/2006/main" noGrp="1"/>
          </p:cNvSpPr>
          <p:nvPr/>
        </p:nvSpPr>
        <p:spPr>
          <a:xfrm xmlns:a="http://schemas.openxmlformats.org/drawingml/2006/main">
            <a:off x="485775" y="1257300"/>
            <a:ext cx="6096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111111"/>
                </a:solidFill>
              </a:defRPr>
            </a:pPr>
            <a:r>
              <a:rPr sz="900" b="0" i="0">
                <a:solidFill>
                  <a:srgbClr val="111111"/>
                </a:solidFill>
              </a:rPr>
              <a:t>¹College of Computer Science, Chongqing University</a:t>
            </a:r>
          </a:p>
          <a:p xmlns:a="http://schemas.openxmlformats.org/drawingml/2006/main">
            <a:pPr algn="l">
              <a:defRPr sz="900" b="0" i="0">
                <a:solidFill>
                  <a:srgbClr val="111111"/>
                </a:solidFill>
              </a:defRPr>
            </a:pPr>
            <a:r>
              <a:rPr sz="900" b="0" i="0">
                <a:solidFill>
                  <a:srgbClr val="111111"/>
                </a:solidFill>
              </a:rPr>
              <a:t>²MAIS, Institute of Automation, Chinese Academy of Sciences</a:t>
            </a:r>
          </a:p>
          <a:p xmlns:a="http://schemas.openxmlformats.org/drawingml/2006/main">
            <a:pPr algn="l">
              <a:defRPr sz="900" b="0" i="0">
                <a:solidFill>
                  <a:srgbClr val="111111"/>
                </a:solidFill>
              </a:defRPr>
            </a:pPr>
            <a:r>
              <a:rPr sz="900" b="0" i="0">
                <a:solidFill>
                  <a:srgbClr val="111111"/>
                </a:solidFill>
              </a:rPr>
              <a:t>³Independent Researcher</a:t>
            </a:r>
          </a:p>
          <a:p xmlns:a="http://schemas.openxmlformats.org/drawingml/2006/main">
            <a:pPr algn="l">
              <a:defRPr sz="900" b="0" i="0">
                <a:solidFill>
                  <a:srgbClr val="111111"/>
                </a:solidFill>
              </a:defRPr>
            </a:pPr>
            <a:r>
              <a:rPr sz="900" b="0" i="0">
                <a:solidFill>
                  <a:srgbClr val="111111"/>
                </a:solidFill>
              </a:rPr>
              <a:t>⁴Aerospace Information Research Institute, Chinese Academy of Sciences</a:t>
            </a:r>
          </a:p>
          <a:p xmlns:a="http://schemas.openxmlformats.org/drawingml/2006/main">
            <a:pPr algn="l">
              <a:defRPr sz="900" b="0" i="0">
                <a:solidFill>
                  <a:srgbClr val="111111"/>
                </a:solidFill>
              </a:defRPr>
            </a:pPr>
            <a:r>
              <a:rPr sz="900" b="0" i="0">
                <a:solidFill>
                  <a:srgbClr val="111111"/>
                </a:solidFill>
              </a:rPr>
              <a:t>⁵Department of Computer Science, City University of Hong Kong</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5e2d5fb657b443e"/>
          <a:stretch xmlns:a="http://schemas.openxmlformats.org/drawingml/2006/main"/>
        </p:blipFill>
        <p:spPr>
          <a:xfrm xmlns:a="http://schemas.openxmlformats.org/drawingml/2006/main">
            <a:off x="7038975" y="133350"/>
            <a:ext cx="3114675" cy="600075"/>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078f474e590407f"/>
          <a:stretch xmlns:a="http://schemas.openxmlformats.org/drawingml/2006/main"/>
        </p:blipFill>
        <p:spPr>
          <a:xfrm xmlns:a="http://schemas.openxmlformats.org/drawingml/2006/main">
            <a:off x="6153150" y="904875"/>
            <a:ext cx="3971925" cy="1200150"/>
          </a:xfrm>
          <a:prstGeom xmlns:a="http://schemas.openxmlformats.org/drawingml/2006/main" prst="rect">
            <a:avLst/>
          </a:prstGeom>
        </p:spPr>
      </p:pic>
      <p:sp>
        <p:nvSpPr>
          <p:cNvPr id="7" name="introduction.title">
            <a:extLst xmlns:a="http://schemas.openxmlformats.org/drawingml/2006/main">
              <a:ext uri="{FF2B5EF4-FFF2-40B4-BE49-F238E27FC236}">
                <a16:creationId xmlns:a16="http://schemas.microsoft.com/office/drawing/2014/main" id="{BFDD0D12-F279-47A0-A9D2-CD4904F4D9D3}"/>
              </a:ext>
            </a:extLst>
          </p:cNvPr>
          <p:cNvSpPr>
            <a:spLocks xmlns:a="http://schemas.openxmlformats.org/drawingml/2006/main" noGrp="1"/>
          </p:cNvSpPr>
          <p:nvPr/>
        </p:nvSpPr>
        <p:spPr>
          <a:xfrm xmlns:a="http://schemas.openxmlformats.org/drawingml/2006/main">
            <a:off x="504825" y="22098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1" i="0">
                <a:solidFill>
                  <a:srgbClr val="004B78"/>
                </a:solidFill>
              </a:defRPr>
            </a:pPr>
            <a:r>
              <a:rPr sz="1763" b="1" i="0">
                <a:solidFill>
                  <a:srgbClr val="004B78"/>
                </a:solidFill>
              </a:rPr>
              <a:t>Introduction</a:t>
            </a:r>
          </a:p>
        </p:txBody>
      </p:sp>
      <p:sp>
        <p:nvSpPr>
          <p:cNvPr id="8" name="introduction.body">
            <a:extLst xmlns:a="http://schemas.openxmlformats.org/drawingml/2006/main">
              <a:ext uri="{FF2B5EF4-FFF2-40B4-BE49-F238E27FC236}">
                <a16:creationId xmlns:a16="http://schemas.microsoft.com/office/drawing/2014/main" id="{913A9D18-7E75-4124-9B01-2DADB7FC716E}"/>
              </a:ext>
            </a:extLst>
          </p:cNvPr>
          <p:cNvSpPr>
            <a:spLocks xmlns:a="http://schemas.openxmlformats.org/drawingml/2006/main" noGrp="1"/>
          </p:cNvSpPr>
          <p:nvPr/>
        </p:nvSpPr>
        <p:spPr>
          <a:xfrm xmlns:a="http://schemas.openxmlformats.org/drawingml/2006/main">
            <a:off x="514350" y="2495550"/>
            <a:ext cx="64008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11111"/>
                </a:solidFill>
              </a:defRPr>
            </a:pPr>
            <a:r>
              <a:rPr sz="1050" b="0" i="0">
                <a:solidFill>
                  <a:srgbClr val="111111"/>
                </a:solidFill>
              </a:rPr>
              <a:t>Generative recommendation has recently emerged as a promising paradigm by leveraging pre-trained language models to directly generate semantic item identifiers. Compared with traditional sequential recommenders, it provides greater flexibility in modeling user preferences and recommendation paths. However, existing generative recommenders are predominantly trained with an autoregressive next-item prediction objective. This left-to-right paradigm emphasizes local transitions and recent interactions, while overlooking deeper dependencies hidden in the entire user history. As a result, models often rely on recency bias and struggle to capture the latent intent that drives a user’s behavior sequence.</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a54681f5ea24c6f"/>
          <a:stretch xmlns:a="http://schemas.openxmlformats.org/drawingml/2006/main"/>
        </p:blipFill>
        <p:spPr>
          <a:xfrm xmlns:a="http://schemas.openxmlformats.org/drawingml/2006/main">
            <a:off x="7058025" y="2486025"/>
            <a:ext cx="2752725" cy="2609850"/>
          </a:xfrm>
          <a:prstGeom xmlns:a="http://schemas.openxmlformats.org/drawingml/2006/main" prst="rect">
            <a:avLst/>
          </a:prstGeom>
        </p:spPr>
      </p:pic>
      <p:sp>
        <p:nvSpPr>
          <p:cNvPr id="10" name="contributions.title">
            <a:extLst xmlns:a="http://schemas.openxmlformats.org/drawingml/2006/main">
              <a:ext uri="{FF2B5EF4-FFF2-40B4-BE49-F238E27FC236}">
                <a16:creationId xmlns:a16="http://schemas.microsoft.com/office/drawing/2014/main" id="{EE050957-5F5A-4701-949A-AC0BD8F178C2}"/>
              </a:ext>
            </a:extLst>
          </p:cNvPr>
          <p:cNvSpPr>
            <a:spLocks xmlns:a="http://schemas.openxmlformats.org/drawingml/2006/main" noGrp="1"/>
          </p:cNvSpPr>
          <p:nvPr/>
        </p:nvSpPr>
        <p:spPr>
          <a:xfrm xmlns:a="http://schemas.openxmlformats.org/drawingml/2006/main">
            <a:off x="504825" y="3810000"/>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1" i="0">
                <a:solidFill>
                  <a:srgbClr val="004B78"/>
                </a:solidFill>
              </a:defRPr>
            </a:pPr>
            <a:r>
              <a:rPr sz="1763" b="1" i="0">
                <a:solidFill>
                  <a:srgbClr val="004B78"/>
                </a:solidFill>
              </a:rPr>
              <a:t>Main Contributions</a:t>
            </a:r>
          </a:p>
        </p:txBody>
      </p:sp>
      <p:sp>
        <p:nvSpPr>
          <p:cNvPr id="11" name="contributions.body">
            <a:extLst xmlns:a="http://schemas.openxmlformats.org/drawingml/2006/main">
              <a:ext uri="{FF2B5EF4-FFF2-40B4-BE49-F238E27FC236}">
                <a16:creationId xmlns:a16="http://schemas.microsoft.com/office/drawing/2014/main" id="{D44BE008-B024-4090-B51C-FD857B66FE00}"/>
              </a:ext>
            </a:extLst>
          </p:cNvPr>
          <p:cNvSpPr>
            <a:spLocks xmlns:a="http://schemas.openxmlformats.org/drawingml/2006/main" noGrp="1"/>
          </p:cNvSpPr>
          <p:nvPr/>
        </p:nvSpPr>
        <p:spPr>
          <a:xfrm xmlns:a="http://schemas.openxmlformats.org/drawingml/2006/main">
            <a:off x="514350" y="4105275"/>
            <a:ext cx="6400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11111"/>
                </a:solidFill>
              </a:defRPr>
            </a:pPr>
            <a:r>
              <a:rPr sz="1050" b="0" i="0">
                <a:solidFill>
                  <a:srgbClr val="111111"/>
                </a:solidFill>
              </a:rPr>
              <a:t>(1) Entropy-Guided Masking. We selectively mask high-entropy items—those appearing in diverse behavioral contexts—to focus reconstruction on the most informative and critical historical junctions.</a:t>
            </a:r>
          </a:p>
          <a:p xmlns:a="http://schemas.openxmlformats.org/drawingml/2006/main">
            <a:pPr algn="l">
              <a:defRPr sz="1050" b="0" i="0">
                <a:solidFill>
                  <a:srgbClr val="111111"/>
                </a:solidFill>
              </a:defRPr>
            </a:pPr>
            <a:r>
              <a:rPr sz="1050" b="0" i="0">
                <a:solidFill>
                  <a:srgbClr val="111111"/>
                </a:solidFill>
              </a:rPr>
              <a:t>(2) Curriculum Learning Scheduler. We progressively transition from an initial random masking warmup to a high-ratio entropy-guided masking phase, then gradually reduce the ratio to adapt the model’s deep contextual understanding to the inherent causal structure of autoregressive generation.</a:t>
            </a:r>
          </a:p>
        </p:txBody>
      </p:sp>
      <p:sp>
        <p:nvSpPr>
          <p:cNvPr id="12" name="method.title">
            <a:extLst xmlns:a="http://schemas.openxmlformats.org/drawingml/2006/main">
              <a:ext uri="{FF2B5EF4-FFF2-40B4-BE49-F238E27FC236}">
                <a16:creationId xmlns:a16="http://schemas.microsoft.com/office/drawing/2014/main" id="{2F9CF29B-BDF6-4566-96D0-5857F10FB53B}"/>
              </a:ext>
            </a:extLst>
          </p:cNvPr>
          <p:cNvSpPr>
            <a:spLocks xmlns:a="http://schemas.openxmlformats.org/drawingml/2006/main" noGrp="1"/>
          </p:cNvSpPr>
          <p:nvPr/>
        </p:nvSpPr>
        <p:spPr>
          <a:xfrm xmlns:a="http://schemas.openxmlformats.org/drawingml/2006/main">
            <a:off x="504825" y="5124450"/>
            <a:ext cx="371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1" i="0">
                <a:solidFill>
                  <a:srgbClr val="004B78"/>
                </a:solidFill>
              </a:defRPr>
            </a:pPr>
            <a:r>
              <a:rPr sz="1763" b="1" i="0">
                <a:solidFill>
                  <a:srgbClr val="004B78"/>
                </a:solidFill>
              </a:rPr>
              <a:t>Mask History Learning</a:t>
            </a:r>
          </a:p>
        </p:txBody>
      </p:sp>
      <p:sp>
        <p:nvSpPr>
          <p:cNvPr id="13" name="method.body">
            <a:extLst xmlns:a="http://schemas.openxmlformats.org/drawingml/2006/main">
              <a:ext uri="{FF2B5EF4-FFF2-40B4-BE49-F238E27FC236}">
                <a16:creationId xmlns:a16="http://schemas.microsoft.com/office/drawing/2014/main" id="{28B124D0-2ADA-478E-9571-D26980C7A544}"/>
              </a:ext>
            </a:extLst>
          </p:cNvPr>
          <p:cNvSpPr>
            <a:spLocks xmlns:a="http://schemas.openxmlformats.org/drawingml/2006/main" noGrp="1"/>
          </p:cNvSpPr>
          <p:nvPr/>
        </p:nvSpPr>
        <p:spPr>
          <a:xfrm xmlns:a="http://schemas.openxmlformats.org/drawingml/2006/main">
            <a:off x="514350" y="5429250"/>
            <a:ext cx="257175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11111"/>
                </a:solidFill>
              </a:defRPr>
            </a:pPr>
            <a:r>
              <a:rPr sz="1050" b="0" i="0">
                <a:solidFill>
                  <a:srgbClr val="111111"/>
                </a:solidFill>
              </a:rPr>
              <a:t>We propose Masked History Learning (MHL), which augments generative recommendation models with an auxiliary objective of reconstructing masked historical items. By jointly optimizing next-item prediction and history reconstruction, MHL shifts the focus from local transitions to deep path comprehension and latent intent understanding. We introduce entropy-guided masking to selectively target high-entropy items for reconstruction, and an adaptive curriculum scheduler that progressively transitions from random masking to high-ratio entropy masking, then gradually reduces the ratio to align deep contextual understanding with autoregressive generation.</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a97be2d3729487a"/>
          <a:stretch xmlns:a="http://schemas.openxmlformats.org/drawingml/2006/main"/>
        </p:blipFill>
        <p:spPr>
          <a:xfrm xmlns:a="http://schemas.openxmlformats.org/drawingml/2006/main">
            <a:off x="3143250" y="5429250"/>
            <a:ext cx="6667500" cy="3267075"/>
          </a:xfrm>
          <a:prstGeom xmlns:a="http://schemas.openxmlformats.org/drawingml/2006/main" prst="rect">
            <a:avLst/>
          </a:prstGeom>
        </p:spPr>
      </p:pic>
      <p:sp>
        <p:nvSpPr>
          <p:cNvPr id="15" name="performance.title">
            <a:extLst xmlns:a="http://schemas.openxmlformats.org/drawingml/2006/main">
              <a:ext uri="{FF2B5EF4-FFF2-40B4-BE49-F238E27FC236}">
                <a16:creationId xmlns:a16="http://schemas.microsoft.com/office/drawing/2014/main" id="{C17E31E5-8732-4997-A70D-750744014379}"/>
              </a:ext>
            </a:extLst>
          </p:cNvPr>
          <p:cNvSpPr>
            <a:spLocks xmlns:a="http://schemas.openxmlformats.org/drawingml/2006/main" noGrp="1"/>
          </p:cNvSpPr>
          <p:nvPr/>
        </p:nvSpPr>
        <p:spPr>
          <a:xfrm xmlns:a="http://schemas.openxmlformats.org/drawingml/2006/main">
            <a:off x="504825" y="87249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1" i="0">
                <a:solidFill>
                  <a:srgbClr val="004B78"/>
                </a:solidFill>
              </a:defRPr>
            </a:pPr>
            <a:r>
              <a:rPr sz="1763" b="1" i="0">
                <a:solidFill>
                  <a:srgbClr val="004B78"/>
                </a:solidFill>
              </a:rPr>
              <a:t>Performance comparisons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2c17ccf8a354f24"/>
          <a:stretch xmlns:a="http://schemas.openxmlformats.org/drawingml/2006/main"/>
        </p:blipFill>
        <p:spPr>
          <a:xfrm xmlns:a="http://schemas.openxmlformats.org/drawingml/2006/main">
            <a:off x="457200" y="9067800"/>
            <a:ext cx="5248275" cy="354330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0bd3f96d80840bd"/>
          <a:stretch xmlns:a="http://schemas.openxmlformats.org/drawingml/2006/main"/>
        </p:blipFill>
        <p:spPr>
          <a:xfrm xmlns:a="http://schemas.openxmlformats.org/drawingml/2006/main">
            <a:off x="5981700" y="9067800"/>
            <a:ext cx="3819525" cy="3552825"/>
          </a:xfrm>
          <a:prstGeom xmlns:a="http://schemas.openxmlformats.org/drawingml/2006/main" prst="rect">
            <a:avLst/>
          </a:prstGeom>
        </p:spPr>
      </p:pic>
      <p:sp>
        <p:nvSpPr>
          <p:cNvPr id="18" name="conclusion.title">
            <a:extLst xmlns:a="http://schemas.openxmlformats.org/drawingml/2006/main">
              <a:ext uri="{FF2B5EF4-FFF2-40B4-BE49-F238E27FC236}">
                <a16:creationId xmlns:a16="http://schemas.microsoft.com/office/drawing/2014/main" id="{6C5A49ED-1103-4A14-B80E-0CDB8994D911}"/>
              </a:ext>
            </a:extLst>
          </p:cNvPr>
          <p:cNvSpPr>
            <a:spLocks xmlns:a="http://schemas.openxmlformats.org/drawingml/2006/main" noGrp="1"/>
          </p:cNvSpPr>
          <p:nvPr/>
        </p:nvSpPr>
        <p:spPr>
          <a:xfrm xmlns:a="http://schemas.openxmlformats.org/drawingml/2006/main">
            <a:off x="504825" y="127635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1" i="0">
                <a:solidFill>
                  <a:srgbClr val="004B78"/>
                </a:solidFill>
              </a:defRPr>
            </a:pPr>
            <a:r>
              <a:rPr sz="1763" b="1" i="0">
                <a:solidFill>
                  <a:srgbClr val="004B78"/>
                </a:solidFill>
              </a:rPr>
              <a:t>Conclusion</a:t>
            </a:r>
          </a:p>
        </p:txBody>
      </p:sp>
      <p:sp>
        <p:nvSpPr>
          <p:cNvPr id="19" name="conclusion.body">
            <a:extLst xmlns:a="http://schemas.openxmlformats.org/drawingml/2006/main">
              <a:ext uri="{FF2B5EF4-FFF2-40B4-BE49-F238E27FC236}">
                <a16:creationId xmlns:a16="http://schemas.microsoft.com/office/drawing/2014/main" id="{03B7307F-1D37-462B-A915-8AC8B392923A}"/>
              </a:ext>
            </a:extLst>
          </p:cNvPr>
          <p:cNvSpPr>
            <a:spLocks xmlns:a="http://schemas.openxmlformats.org/drawingml/2006/main" noGrp="1"/>
          </p:cNvSpPr>
          <p:nvPr/>
        </p:nvSpPr>
        <p:spPr>
          <a:xfrm xmlns:a="http://schemas.openxmlformats.org/drawingml/2006/main">
            <a:off x="514350" y="13049250"/>
            <a:ext cx="931545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11111"/>
                </a:solidFill>
              </a:defRPr>
            </a:pPr>
            <a:r>
              <a:rPr sz="1050" b="0" i="0">
                <a:solidFill>
                  <a:srgbClr val="111111"/>
                </a:solidFill>
              </a:rPr>
              <a:t>Performance comparisons demonstrate MHL’s effectiveness across dimensions. MHL consistently outperforms state-of-the-art baselines across all datasets. The generalization study validates significant improvements over RPG on text token sequences. The case study shows MHL generates recommendations that align more closely with the user’s true subsequent sequence, revealing deeper latent intent behind the historical path. The cold-start comparison confirms superior performance across all item frequency bins, including low-frequency items. In summary, MHL achieves substantial gains in accuracy, generalizability, intent-awareness, and cold-start performance by deeply understanding user historical paths.</a:t>
            </a:r>
          </a:p>
        </p:txBody>
      </p:sp>
    </p:spTree>
    <p:extLst>
      <p:ext uri="{BB962C8B-B14F-4D97-AF65-F5344CB8AC3E}">
        <p14:creationId xmlns:p14="http://schemas.microsoft.com/office/powerpoint/2010/main" val="1644269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2026-07-31T08:03:13.1480000Z</dcterms:created>
  <dcterms:modified xsi:type="dcterms:W3CDTF">2026-07-31T08:03:13.1480000Z</dcterms:modified>
</coreProperties>
</file>