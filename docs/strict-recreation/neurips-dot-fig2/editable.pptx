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e2a93a277f474c" /><Relationship Type="http://schemas.openxmlformats.org/officeDocument/2006/relationships/extended-properties" Target="/docProps/app.xml" Id="R3d4878b19ea24367" /><Relationship Type="http://schemas.openxmlformats.org/officeDocument/2006/relationships/officeDocument" Target="/ppt/presentation.xml" Id="R5a99ef2213b44a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ee927d8d25418d"/>
  </p:sldMasterIdLst>
  <p:notesMasterIdLst>
    <p:notesMasterId xmlns:r="http://schemas.openxmlformats.org/officeDocument/2006/relationships" r:id="R179dc4c21911425d"/>
  </p:notesMasterIdLst>
  <p:sldIdLst>
    <p:sldId xmlns:r="http://schemas.openxmlformats.org/officeDocument/2006/relationships" id="256" r:id="Rb3a2c8b24d634748"/>
  </p:sldIdLst>
  <p:sldSz cx="9315450" cy="26289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9bd5f63c274512" /><Relationship Type="http://schemas.openxmlformats.org/officeDocument/2006/relationships/slideMaster" Target="/ppt/slideMasters/slideMaster1.xml" Id="Refee927d8d25418d" /><Relationship Type="http://schemas.openxmlformats.org/officeDocument/2006/relationships/notesMaster" Target="/ppt/notesMasters/notesMaster1.xml" Id="R179dc4c21911425d" /><Relationship Type="http://schemas.openxmlformats.org/officeDocument/2006/relationships/presProps" Target="/ppt/presProps.xml" Id="R800932bce30f4c3e" /><Relationship Type="http://schemas.openxmlformats.org/officeDocument/2006/relationships/tableStyles" Target="/ppt/tableStyles.xml" Id="R6a6c607e89614297" /><Relationship Type="http://schemas.openxmlformats.org/officeDocument/2006/relationships/slide" Target="/ppt/slides/slide1.xml" Id="Rb3a2c8b24d6347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7301c613d547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b8b4e43f0546ad" /><Relationship Type="http://schemas.openxmlformats.org/officeDocument/2006/relationships/notesMaster" Target="/ppt/notesMasters/notesMaster1.xml" Id="R3718e9610ea247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Diffusion of Thought: Chain-of-Thought Reasoning in Diffusion Language Models, NeurIPS 2024, Figure 2: https://proceedings.neurips.cc/paper_files/paper/2024/hash/be30024e7fa2c29cac7a6dafcbb8571f-Abstract-Conference.html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e957de5d04f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94aeb8c1a34208" /><Relationship Type="http://schemas.openxmlformats.org/officeDocument/2006/relationships/slideLayout" Target="/ppt/slideLayouts/slideLayout1.xml" Id="Raa183d0313924d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183d0313924d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a077761844db4" /><Relationship Type="http://schemas.openxmlformats.org/officeDocument/2006/relationships/notesSlide" Target="/ppt/notesSlides/notesSlide1.xml" Id="R3703508c2cf84e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panel.problem">
            <a:extLst xmlns:a="http://schemas.openxmlformats.org/drawingml/2006/main">
              <a:ext uri="{FF2B5EF4-FFF2-40B4-BE49-F238E27FC236}">
                <a16:creationId xmlns:a16="http://schemas.microsoft.com/office/drawing/2014/main" id="{148E19C2-FF29-4BCE-955B-C1433EF4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66900" cy="2609850"/>
          </a:xfrm>
          <a:prstGeom xmlns:a="http://schemas.openxmlformats.org/drawingml/2006/main" prst="roundRect">
            <a:avLst>
              <a:gd name="adj" fmla="val 408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dash"/>
          </a:ln>
        </p:spPr>
      </p:sp>
      <p:sp>
        <p:nvSpPr>
          <p:cNvPr id="2" name="problem.s-label">
            <a:extLst xmlns:a="http://schemas.openxmlformats.org/drawingml/2006/main">
              <a:ext uri="{FF2B5EF4-FFF2-40B4-BE49-F238E27FC236}">
                <a16:creationId xmlns:a16="http://schemas.microsoft.com/office/drawing/2014/main" id="{918E21EB-84BC-49D4-B04C-3A073371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3825"/>
            <a:ext cx="161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</a:defRPr>
            </a:pPr>
            <a:r>
              <a:rPr sz="1050" b="0" i="1">
                <a:solidFill>
                  <a:srgbClr val="111111"/>
                </a:solidFill>
              </a:rPr>
              <a:t>s</a:t>
            </a:r>
          </a:p>
        </p:txBody>
      </p:sp>
      <p:sp>
        <p:nvSpPr>
          <p:cNvPr id="3" name="problem.source">
            <a:extLst xmlns:a="http://schemas.openxmlformats.org/drawingml/2006/main">
              <a:ext uri="{FF2B5EF4-FFF2-40B4-BE49-F238E27FC236}">
                <a16:creationId xmlns:a16="http://schemas.microsoft.com/office/drawing/2014/main" id="{9BEA974D-BB34-4E29-897B-5687498C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180975"/>
            <a:ext cx="14573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11430">
            <a:solidFill>
              <a:srgbClr val="999999"/>
            </a:solidFill>
            <a:prstDash val="solid"/>
          </a:ln>
        </p:spPr>
      </p:sp>
      <p:sp>
        <p:nvSpPr>
          <p:cNvPr id="4" name="problem.source-text">
            <a:extLst xmlns:a="http://schemas.openxmlformats.org/drawingml/2006/main">
              <a:ext uri="{FF2B5EF4-FFF2-40B4-BE49-F238E27FC236}">
                <a16:creationId xmlns:a16="http://schemas.microsoft.com/office/drawing/2014/main" id="{7ACE071D-8A10-4EA1-B0BB-5D0461F5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66700"/>
            <a:ext cx="12287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D47C5F"/>
                </a:solidFill>
              </a:defRPr>
            </a:pPr>
            <a:r>
              <a:rPr sz="900" b="0" i="0">
                <a:solidFill>
                  <a:srgbClr val="D47C5F"/>
                </a:solidFill>
              </a:rPr>
              <a:t>A robe takes 2 bolts</a:t>
            </a:r>
          </a:p>
          <a:p xmlns:a="http://schemas.openxmlformats.org/drawingml/2006/main">
            <a:pPr algn="l">
              <a:defRPr sz="900" b="0" i="0">
                <a:solidFill>
                  <a:srgbClr val="D47C5F"/>
                </a:solidFill>
              </a:defRPr>
            </a:pPr>
            <a:r>
              <a:rPr sz="900" b="0" i="0">
                <a:solidFill>
                  <a:srgbClr val="D47C5F"/>
                </a:solidFill>
              </a:rPr>
              <a:t>of blue fiber and</a:t>
            </a:r>
          </a:p>
          <a:p xmlns:a="http://schemas.openxmlformats.org/drawingml/2006/main">
            <a:pPr algn="l">
              <a:defRPr sz="900" b="0" i="0">
                <a:solidFill>
                  <a:srgbClr val="D47C5F"/>
                </a:solidFill>
              </a:defRPr>
            </a:pPr>
            <a:r>
              <a:rPr sz="900" b="0" i="0">
                <a:solidFill>
                  <a:srgbClr val="D47C5F"/>
                </a:solidFill>
              </a:rPr>
              <a:t>half that much white</a:t>
            </a:r>
          </a:p>
          <a:p xmlns:a="http://schemas.openxmlformats.org/drawingml/2006/main">
            <a:pPr algn="l">
              <a:defRPr sz="900" b="0" i="0">
                <a:solidFill>
                  <a:srgbClr val="D47C5F"/>
                </a:solidFill>
              </a:defRPr>
            </a:pPr>
            <a:r>
              <a:rPr sz="900" b="0" i="0">
                <a:solidFill>
                  <a:srgbClr val="D47C5F"/>
                </a:solidFill>
              </a:rPr>
              <a:t>fiber. How many</a:t>
            </a:r>
          </a:p>
          <a:p xmlns:a="http://schemas.openxmlformats.org/drawingml/2006/main">
            <a:pPr algn="l">
              <a:defRPr sz="900" b="0" i="0">
                <a:solidFill>
                  <a:srgbClr val="D47C5F"/>
                </a:solidFill>
              </a:defRPr>
            </a:pPr>
            <a:r>
              <a:rPr sz="900" b="0" i="0">
                <a:solidFill>
                  <a:srgbClr val="D47C5F"/>
                </a:solidFill>
              </a:rPr>
              <a:t>bolts in total does</a:t>
            </a:r>
          </a:p>
          <a:p xmlns:a="http://schemas.openxmlformats.org/drawingml/2006/main">
            <a:pPr algn="l">
              <a:defRPr sz="900" b="0" i="0">
                <a:solidFill>
                  <a:srgbClr val="D47C5F"/>
                </a:solidFill>
              </a:defRPr>
            </a:pPr>
            <a:r>
              <a:rPr sz="900" b="0" i="0">
                <a:solidFill>
                  <a:srgbClr val="D47C5F"/>
                </a:solidFill>
              </a:rPr>
              <a:t>it take?</a:t>
            </a:r>
          </a:p>
        </p:txBody>
      </p:sp>
      <p:sp>
        <p:nvSpPr>
          <p:cNvPr id="5" name="problem.source-label">
            <a:extLst xmlns:a="http://schemas.openxmlformats.org/drawingml/2006/main">
              <a:ext uri="{FF2B5EF4-FFF2-40B4-BE49-F238E27FC236}">
                <a16:creationId xmlns:a16="http://schemas.microsoft.com/office/drawing/2014/main" id="{4A9D0555-ED02-448D-AB51-9A7DB714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9525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777777"/>
                </a:solidFill>
              </a:defRPr>
            </a:pPr>
            <a:r>
              <a:rPr sz="600" b="0" i="0">
                <a:solidFill>
                  <a:srgbClr val="777777"/>
                </a:solidFill>
              </a:rPr>
              <a:t>Source</a:t>
            </a:r>
          </a:p>
        </p:txBody>
      </p:sp>
      <p:sp>
        <p:nvSpPr>
          <p:cNvPr id="6" name="problem.s-token">
            <a:extLst xmlns:a="http://schemas.openxmlformats.org/drawingml/2006/main">
              <a:ext uri="{FF2B5EF4-FFF2-40B4-BE49-F238E27FC236}">
                <a16:creationId xmlns:a16="http://schemas.microsoft.com/office/drawing/2014/main" id="{8BBE7C97-CBF7-456E-8947-C6EAE013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80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C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s</a:t>
            </a:r>
          </a:p>
        </p:txBody>
      </p:sp>
      <p:sp>
        <p:nvSpPr>
          <p:cNvPr id="7" name="problem.s-path">
            <a:extLst xmlns:a="http://schemas.openxmlformats.org/drawingml/2006/main">
              <a:ext uri="{FF2B5EF4-FFF2-40B4-BE49-F238E27FC236}">
                <a16:creationId xmlns:a16="http://schemas.microsoft.com/office/drawing/2014/main" id="{A401E73D-98C5-48A3-8706-C4CD125D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290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BAE45"/>
            </a:solidFill>
            <a:prstDash val="solid"/>
          </a:ln>
        </p:spPr>
      </p:sp>
      <p:sp>
        <p:nvSpPr>
          <p:cNvPr id="8" name="problem.s-path.head">
            <a:extLst xmlns:a="http://schemas.openxmlformats.org/drawingml/2006/main">
              <a:ext uri="{FF2B5EF4-FFF2-40B4-BE49-F238E27FC236}">
                <a16:creationId xmlns:a16="http://schemas.microsoft.com/office/drawing/2014/main" id="{A0FAD2CA-5921-4255-99B8-D942D139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38413" y="3095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A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blem.rationales">
            <a:extLst xmlns:a="http://schemas.openxmlformats.org/drawingml/2006/main">
              <a:ext uri="{FF2B5EF4-FFF2-40B4-BE49-F238E27FC236}">
                <a16:creationId xmlns:a16="http://schemas.microsoft.com/office/drawing/2014/main" id="{65C3E4FE-5866-46DF-92C6-07F0447A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9675"/>
            <a:ext cx="790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77777"/>
                </a:solidFill>
              </a:defRPr>
            </a:pPr>
            <a:r>
              <a:rPr sz="900" b="0" i="0">
                <a:solidFill>
                  <a:srgbClr val="777777"/>
                </a:solidFill>
              </a:rPr>
              <a:t>Rationales</a:t>
            </a:r>
          </a:p>
        </p:txBody>
      </p:sp>
      <p:sp>
        <p:nvSpPr>
          <p:cNvPr id="10" name="problem.rationale-down">
            <a:extLst xmlns:a="http://schemas.openxmlformats.org/drawingml/2006/main">
              <a:ext uri="{FF2B5EF4-FFF2-40B4-BE49-F238E27FC236}">
                <a16:creationId xmlns:a16="http://schemas.microsoft.com/office/drawing/2014/main" id="{0DBE5FFC-6E1F-4CEC-B10F-902A8D02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9062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BAE45"/>
            </a:solidFill>
            <a:prstDash val="solid"/>
          </a:ln>
        </p:spPr>
      </p:sp>
      <p:sp>
        <p:nvSpPr>
          <p:cNvPr id="11" name="problem.rationale-down.head">
            <a:extLst xmlns:a="http://schemas.openxmlformats.org/drawingml/2006/main">
              <a:ext uri="{FF2B5EF4-FFF2-40B4-BE49-F238E27FC236}">
                <a16:creationId xmlns:a16="http://schemas.microsoft.com/office/drawing/2014/main" id="{3941017D-619D-4EA7-93BD-B151165B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23963" y="13477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A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.r1">
            <a:extLst xmlns:a="http://schemas.openxmlformats.org/drawingml/2006/main">
              <a:ext uri="{FF2B5EF4-FFF2-40B4-BE49-F238E27FC236}">
                <a16:creationId xmlns:a16="http://schemas.microsoft.com/office/drawing/2014/main" id="{86553F6D-2015-4C91-9137-98115DA3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438275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AAAA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2+1=3</a:t>
            </a:r>
          </a:p>
        </p:txBody>
      </p:sp>
      <p:sp>
        <p:nvSpPr>
          <p:cNvPr id="13" name="problem.r2">
            <a:extLst xmlns:a="http://schemas.openxmlformats.org/drawingml/2006/main">
              <a:ext uri="{FF2B5EF4-FFF2-40B4-BE49-F238E27FC236}">
                <a16:creationId xmlns:a16="http://schemas.microsoft.com/office/drawing/2014/main" id="{B79228E1-4985-465F-8472-29CC5AD1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438275"/>
            <a:ext cx="6286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9525">
            <a:solidFill>
              <a:srgbClr val="AAAA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2/2=1</a:t>
            </a:r>
          </a:p>
        </p:txBody>
      </p:sp>
      <p:sp>
        <p:nvSpPr>
          <p:cNvPr id="14" name="problem.r-between">
            <a:extLst xmlns:a="http://schemas.openxmlformats.org/drawingml/2006/main">
              <a:ext uri="{FF2B5EF4-FFF2-40B4-BE49-F238E27FC236}">
                <a16:creationId xmlns:a16="http://schemas.microsoft.com/office/drawing/2014/main" id="{628E36D7-1FA1-498B-83D4-25200006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85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BAE45"/>
            </a:solidFill>
            <a:prstDash val="solid"/>
          </a:ln>
        </p:spPr>
      </p:sp>
      <p:sp>
        <p:nvSpPr>
          <p:cNvPr id="15" name="problem.r-between.head">
            <a:extLst xmlns:a="http://schemas.openxmlformats.org/drawingml/2006/main">
              <a:ext uri="{FF2B5EF4-FFF2-40B4-BE49-F238E27FC236}">
                <a16:creationId xmlns:a16="http://schemas.microsoft.com/office/drawing/2014/main" id="{5F6FF11B-0B9F-407D-9AFD-DA8DF08D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47713" y="15287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A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blem.r-label">
            <a:extLst xmlns:a="http://schemas.openxmlformats.org/drawingml/2006/main">
              <a:ext uri="{FF2B5EF4-FFF2-40B4-BE49-F238E27FC236}">
                <a16:creationId xmlns:a16="http://schemas.microsoft.com/office/drawing/2014/main" id="{CFF3E6B6-CE9C-44F5-AEBF-66335251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382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</a:defRPr>
            </a:pPr>
            <a:r>
              <a:rPr sz="1050" b="0" i="1">
                <a:solidFill>
                  <a:srgbClr val="111111"/>
                </a:solidFill>
              </a:rPr>
              <a:t>r₁</a:t>
            </a:r>
          </a:p>
        </p:txBody>
      </p:sp>
      <p:sp>
        <p:nvSpPr>
          <p:cNvPr id="17" name="problem.answer-down">
            <a:extLst xmlns:a="http://schemas.openxmlformats.org/drawingml/2006/main">
              <a:ext uri="{FF2B5EF4-FFF2-40B4-BE49-F238E27FC236}">
                <a16:creationId xmlns:a16="http://schemas.microsoft.com/office/drawing/2014/main" id="{0539007F-2910-40E8-B455-044DF410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04975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BAE45"/>
            </a:solidFill>
            <a:prstDash val="solid"/>
          </a:ln>
        </p:spPr>
      </p:sp>
      <p:sp>
        <p:nvSpPr>
          <p:cNvPr id="18" name="problem.answer-down.head">
            <a:extLst xmlns:a="http://schemas.openxmlformats.org/drawingml/2006/main">
              <a:ext uri="{FF2B5EF4-FFF2-40B4-BE49-F238E27FC236}">
                <a16:creationId xmlns:a16="http://schemas.microsoft.com/office/drawing/2014/main" id="{4ECBC614-FFD5-4D0B-B4D4-1D901188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61963" y="190023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A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oblem.answer">
            <a:extLst xmlns:a="http://schemas.openxmlformats.org/drawingml/2006/main">
              <a:ext uri="{FF2B5EF4-FFF2-40B4-BE49-F238E27FC236}">
                <a16:creationId xmlns:a16="http://schemas.microsoft.com/office/drawing/2014/main" id="{6B456C3B-9709-4D47-A484-8328ADDC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971675"/>
            <a:ext cx="5524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99999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F82B7"/>
                </a:solidFill>
              </a:defRPr>
            </a:pPr>
            <a:r>
              <a:rPr sz="900">
                <a:solidFill>
                  <a:srgbClr val="5F82B7"/>
                </a:solidFill>
              </a:rPr>
              <a:t>#### 3</a:t>
            </a:r>
          </a:p>
        </p:txBody>
      </p:sp>
      <p:sp>
        <p:nvSpPr>
          <p:cNvPr id="20" name="problem.answer-label">
            <a:extLst xmlns:a="http://schemas.openxmlformats.org/drawingml/2006/main">
              <a:ext uri="{FF2B5EF4-FFF2-40B4-BE49-F238E27FC236}">
                <a16:creationId xmlns:a16="http://schemas.microsoft.com/office/drawing/2014/main" id="{A9754808-1B85-49E8-ABAB-BF07EA9C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1675"/>
            <a:ext cx="600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777777"/>
                </a:solidFill>
              </a:defRPr>
            </a:pPr>
            <a:r>
              <a:rPr sz="900" b="0" i="0">
                <a:solidFill>
                  <a:srgbClr val="777777"/>
                </a:solidFill>
              </a:rPr>
              <a:t>Answer</a:t>
            </a:r>
          </a:p>
        </p:txBody>
      </p:sp>
      <p:sp>
        <p:nvSpPr>
          <p:cNvPr id="21" name="problem.a-label">
            <a:extLst xmlns:a="http://schemas.openxmlformats.org/drawingml/2006/main">
              <a:ext uri="{FF2B5EF4-FFF2-40B4-BE49-F238E27FC236}">
                <a16:creationId xmlns:a16="http://schemas.microsoft.com/office/drawing/2014/main" id="{2543037D-5FF6-4D37-AA43-9A906E46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716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</a:defRPr>
            </a:pPr>
            <a:r>
              <a:rPr sz="1050" b="0" i="1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22" name="problem.a-token">
            <a:extLst xmlns:a="http://schemas.openxmlformats.org/drawingml/2006/main">
              <a:ext uri="{FF2B5EF4-FFF2-40B4-BE49-F238E27FC236}">
                <a16:creationId xmlns:a16="http://schemas.microsoft.com/office/drawing/2014/main" id="{0B1D2034-610F-4B54-967C-B73759FD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924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EF5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23" name="problem.a-path">
            <a:extLst xmlns:a="http://schemas.openxmlformats.org/drawingml/2006/main">
              <a:ext uri="{FF2B5EF4-FFF2-40B4-BE49-F238E27FC236}">
                <a16:creationId xmlns:a16="http://schemas.microsoft.com/office/drawing/2014/main" id="{2B63B056-B9F4-4508-95E9-D418B9F4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085975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BAE45"/>
            </a:solidFill>
            <a:prstDash val="solid"/>
          </a:ln>
        </p:spPr>
      </p:sp>
      <p:sp>
        <p:nvSpPr>
          <p:cNvPr id="24" name="problem.a-path.head">
            <a:extLst xmlns:a="http://schemas.openxmlformats.org/drawingml/2006/main">
              <a:ext uri="{FF2B5EF4-FFF2-40B4-BE49-F238E27FC236}">
                <a16:creationId xmlns:a16="http://schemas.microsoft.com/office/drawing/2014/main" id="{1C4C7199-B677-441C-9149-CB7BF5C9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338388" y="205263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A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blem.caption">
            <a:extLst xmlns:a="http://schemas.openxmlformats.org/drawingml/2006/main">
              <a:ext uri="{FF2B5EF4-FFF2-40B4-BE49-F238E27FC236}">
                <a16:creationId xmlns:a16="http://schemas.microsoft.com/office/drawing/2014/main" id="{1C22B3E9-AA32-407B-94F6-DDBE09FD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2324100"/>
            <a:ext cx="1743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1">
                <a:solidFill>
                  <a:srgbClr val="111111"/>
                </a:solidFill>
              </a:defRPr>
            </a:pPr>
            <a:r>
              <a:rPr sz="1050" b="1" i="1">
                <a:solidFill>
                  <a:srgbClr val="111111"/>
                </a:solidFill>
              </a:rPr>
              <a:t>Problem-solving tasks</a:t>
            </a:r>
          </a:p>
        </p:txBody>
      </p:sp>
      <p:sp>
        <p:nvSpPr>
          <p:cNvPr id="26" name="panel.diffusion">
            <a:extLst xmlns:a="http://schemas.openxmlformats.org/drawingml/2006/main">
              <a:ext uri="{FF2B5EF4-FFF2-40B4-BE49-F238E27FC236}">
                <a16:creationId xmlns:a16="http://schemas.microsoft.com/office/drawing/2014/main" id="{DB3CBA3D-3A2A-4FFC-804C-013B8565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0"/>
            <a:ext cx="5038725" cy="2609850"/>
          </a:xfrm>
          <a:prstGeom xmlns:a="http://schemas.openxmlformats.org/drawingml/2006/main" prst="roundRect">
            <a:avLst>
              <a:gd name="adj" fmla="val 292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5C5C5"/>
            </a:solidFill>
            <a:prstDash val="dash"/>
          </a:ln>
        </p:spPr>
      </p:sp>
      <p:sp>
        <p:nvSpPr>
          <p:cNvPr id="27" name="single.tT">
            <a:extLst xmlns:a="http://schemas.openxmlformats.org/drawingml/2006/main">
              <a:ext uri="{FF2B5EF4-FFF2-40B4-BE49-F238E27FC236}">
                <a16:creationId xmlns:a16="http://schemas.microsoft.com/office/drawing/2014/main" id="{7906675B-10A5-4791-91E6-090FDD29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905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11111"/>
                </a:solidFill>
              </a:defRPr>
            </a:pPr>
            <a:r>
              <a:rPr sz="975" b="0" i="1">
                <a:solidFill>
                  <a:srgbClr val="111111"/>
                </a:solidFill>
              </a:rPr>
              <a:t>t=T</a:t>
            </a:r>
          </a:p>
        </p:txBody>
      </p:sp>
      <p:sp>
        <p:nvSpPr>
          <p:cNvPr id="28" name="single.t0">
            <a:extLst xmlns:a="http://schemas.openxmlformats.org/drawingml/2006/main">
              <a:ext uri="{FF2B5EF4-FFF2-40B4-BE49-F238E27FC236}">
                <a16:creationId xmlns:a16="http://schemas.microsoft.com/office/drawing/2014/main" id="{ABE2E4E2-364E-4F1B-A4B8-23952F71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0668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11111"/>
                </a:solidFill>
              </a:defRPr>
            </a:pPr>
            <a:r>
              <a:rPr sz="975" b="0" i="1">
                <a:solidFill>
                  <a:srgbClr val="111111"/>
                </a:solidFill>
              </a:rPr>
              <a:t>t=0</a:t>
            </a:r>
          </a:p>
        </p:txBody>
      </p:sp>
      <p:sp>
        <p:nvSpPr>
          <p:cNvPr id="29" name="single.more">
            <a:extLst xmlns:a="http://schemas.openxmlformats.org/drawingml/2006/main">
              <a:ext uri="{FF2B5EF4-FFF2-40B4-BE49-F238E27FC236}">
                <a16:creationId xmlns:a16="http://schemas.microsoft.com/office/drawing/2014/main" id="{10B3B6C0-6753-46A5-A268-5862AF0C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52450"/>
            <a:ext cx="17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⋮</a:t>
            </a:r>
          </a:p>
        </p:txBody>
      </p:sp>
      <p:sp>
        <p:nvSpPr>
          <p:cNvPr id="30" name="single.row.0.frame.7">
            <a:extLst xmlns:a="http://schemas.openxmlformats.org/drawingml/2006/main">
              <a:ext uri="{FF2B5EF4-FFF2-40B4-BE49-F238E27FC236}">
                <a16:creationId xmlns:a16="http://schemas.microsoft.com/office/drawing/2014/main" id="{FC5A6435-5F74-4D4F-A413-D5B184D6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7650"/>
            <a:ext cx="1562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31" name="single.row.0.frame.3.5">
            <a:extLst xmlns:a="http://schemas.openxmlformats.org/drawingml/2006/main">
              <a:ext uri="{FF2B5EF4-FFF2-40B4-BE49-F238E27FC236}">
                <a16:creationId xmlns:a16="http://schemas.microsoft.com/office/drawing/2014/main" id="{556F48E1-C9D4-404A-B59B-A559E168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214313"/>
            <a:ext cx="1562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32" name="single.row.0.frame.0">
            <a:extLst xmlns:a="http://schemas.openxmlformats.org/drawingml/2006/main">
              <a:ext uri="{FF2B5EF4-FFF2-40B4-BE49-F238E27FC236}">
                <a16:creationId xmlns:a16="http://schemas.microsoft.com/office/drawing/2014/main" id="{2D84A42C-C46F-4B64-8815-A9F0B816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"/>
            <a:ext cx="1562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33" name="single.row.0.s">
            <a:extLst xmlns:a="http://schemas.openxmlformats.org/drawingml/2006/main">
              <a:ext uri="{FF2B5EF4-FFF2-40B4-BE49-F238E27FC236}">
                <a16:creationId xmlns:a16="http://schemas.microsoft.com/office/drawing/2014/main" id="{DBE8CB89-E083-495C-9755-65FDE5F2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C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s</a:t>
            </a:r>
          </a:p>
        </p:txBody>
      </p:sp>
      <p:sp>
        <p:nvSpPr>
          <p:cNvPr id="34" name="single.row.0.token.0">
            <a:extLst xmlns:a="http://schemas.openxmlformats.org/drawingml/2006/main">
              <a:ext uri="{FF2B5EF4-FFF2-40B4-BE49-F238E27FC236}">
                <a16:creationId xmlns:a16="http://schemas.microsoft.com/office/drawing/2014/main" id="{62D706B6-0133-41FF-B60F-6459AE4A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2E0"/>
          </a:solidFill>
          <a:ln xmlns:a="http://schemas.openxmlformats.org/drawingml/2006/main" w="11430">
            <a:solidFill>
              <a:srgbClr val="9A9A9A"/>
            </a:solidFill>
            <a:prstDash val="dash"/>
          </a:ln>
        </p:spPr>
      </p:sp>
      <p:sp>
        <p:nvSpPr>
          <p:cNvPr id="35" name="single.row.0.token.1">
            <a:extLst xmlns:a="http://schemas.openxmlformats.org/drawingml/2006/main">
              <a:ext uri="{FF2B5EF4-FFF2-40B4-BE49-F238E27FC236}">
                <a16:creationId xmlns:a16="http://schemas.microsoft.com/office/drawing/2014/main" id="{E780BF8A-8F35-45E1-BBE0-208F53CC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2E0"/>
          </a:solidFill>
          <a:ln xmlns:a="http://schemas.openxmlformats.org/drawingml/2006/main" w="11430">
            <a:solidFill>
              <a:srgbClr val="9A9A9A"/>
            </a:solidFill>
            <a:prstDash val="dash"/>
          </a:ln>
        </p:spPr>
      </p:sp>
      <p:sp>
        <p:nvSpPr>
          <p:cNvPr id="36" name="single.row.0.token.2">
            <a:extLst xmlns:a="http://schemas.openxmlformats.org/drawingml/2006/main">
              <a:ext uri="{FF2B5EF4-FFF2-40B4-BE49-F238E27FC236}">
                <a16:creationId xmlns:a16="http://schemas.microsoft.com/office/drawing/2014/main" id="{176A1163-5F2C-4558-A7DD-3199E427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2E0"/>
          </a:solidFill>
          <a:ln xmlns:a="http://schemas.openxmlformats.org/drawingml/2006/main" w="11430">
            <a:solidFill>
              <a:srgbClr val="9A9A9A"/>
            </a:solidFill>
            <a:prstDash val="dash"/>
          </a:ln>
        </p:spPr>
      </p:sp>
      <p:sp>
        <p:nvSpPr>
          <p:cNvPr id="37" name="single.row.1.frame.7">
            <a:extLst xmlns:a="http://schemas.openxmlformats.org/drawingml/2006/main">
              <a:ext uri="{FF2B5EF4-FFF2-40B4-BE49-F238E27FC236}">
                <a16:creationId xmlns:a16="http://schemas.microsoft.com/office/drawing/2014/main" id="{EC38702B-D673-4AC8-8CFB-79CE6A51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57225"/>
            <a:ext cx="1562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38" name="single.row.1.frame.3.5">
            <a:extLst xmlns:a="http://schemas.openxmlformats.org/drawingml/2006/main">
              <a:ext uri="{FF2B5EF4-FFF2-40B4-BE49-F238E27FC236}">
                <a16:creationId xmlns:a16="http://schemas.microsoft.com/office/drawing/2014/main" id="{93DA81EA-7AA6-4939-AF52-C254F351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623888"/>
            <a:ext cx="1562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39" name="single.row.1.frame.0">
            <a:extLst xmlns:a="http://schemas.openxmlformats.org/drawingml/2006/main">
              <a:ext uri="{FF2B5EF4-FFF2-40B4-BE49-F238E27FC236}">
                <a16:creationId xmlns:a16="http://schemas.microsoft.com/office/drawing/2014/main" id="{AAD44797-C677-4DCB-88F9-AED059CE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90550"/>
            <a:ext cx="1562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40" name="single.row.1.s">
            <a:extLst xmlns:a="http://schemas.openxmlformats.org/drawingml/2006/main">
              <a:ext uri="{FF2B5EF4-FFF2-40B4-BE49-F238E27FC236}">
                <a16:creationId xmlns:a16="http://schemas.microsoft.com/office/drawing/2014/main" id="{9A145FD4-3B6E-4F72-98F5-51138299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28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C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s</a:t>
            </a:r>
          </a:p>
        </p:txBody>
      </p:sp>
      <p:sp>
        <p:nvSpPr>
          <p:cNvPr id="41" name="single.row.1.token.0">
            <a:extLst xmlns:a="http://schemas.openxmlformats.org/drawingml/2006/main">
              <a:ext uri="{FF2B5EF4-FFF2-40B4-BE49-F238E27FC236}">
                <a16:creationId xmlns:a16="http://schemas.microsoft.com/office/drawing/2014/main" id="{51B07BFF-947E-4FE6-9672-C83258CF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28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F2"/>
          </a:solidFill>
          <a:ln xmlns:a="http://schemas.openxmlformats.org/drawingml/2006/main" w="11430">
            <a:solidFill>
              <a:srgbClr val="9A9A9A"/>
            </a:solidFill>
            <a:prstDash val="dash"/>
          </a:ln>
        </p:spPr>
      </p:sp>
      <p:sp>
        <p:nvSpPr>
          <p:cNvPr id="42" name="single.row.1.token.1">
            <a:extLst xmlns:a="http://schemas.openxmlformats.org/drawingml/2006/main">
              <a:ext uri="{FF2B5EF4-FFF2-40B4-BE49-F238E27FC236}">
                <a16:creationId xmlns:a16="http://schemas.microsoft.com/office/drawing/2014/main" id="{3615FD92-16E7-4F28-83B1-E3AEED39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28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F2"/>
          </a:solidFill>
          <a:ln xmlns:a="http://schemas.openxmlformats.org/drawingml/2006/main" w="11430">
            <a:solidFill>
              <a:srgbClr val="9A9A9A"/>
            </a:solidFill>
            <a:prstDash val="dash"/>
          </a:ln>
        </p:spPr>
      </p:sp>
      <p:sp>
        <p:nvSpPr>
          <p:cNvPr id="43" name="single.row.1.token.2">
            <a:extLst xmlns:a="http://schemas.openxmlformats.org/drawingml/2006/main">
              <a:ext uri="{FF2B5EF4-FFF2-40B4-BE49-F238E27FC236}">
                <a16:creationId xmlns:a16="http://schemas.microsoft.com/office/drawing/2014/main" id="{D218D0CB-5FFF-4A61-A051-B1796A4E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28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1F2"/>
          </a:solidFill>
          <a:ln xmlns:a="http://schemas.openxmlformats.org/drawingml/2006/main" w="11430">
            <a:solidFill>
              <a:srgbClr val="9A9A9A"/>
            </a:solidFill>
            <a:prstDash val="dash"/>
          </a:ln>
        </p:spPr>
      </p:sp>
      <p:sp>
        <p:nvSpPr>
          <p:cNvPr id="44" name="single.row.2.frame.7">
            <a:extLst xmlns:a="http://schemas.openxmlformats.org/drawingml/2006/main">
              <a:ext uri="{FF2B5EF4-FFF2-40B4-BE49-F238E27FC236}">
                <a16:creationId xmlns:a16="http://schemas.microsoft.com/office/drawing/2014/main" id="{29875CB4-1FFA-445E-ABBA-127B254C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066800"/>
            <a:ext cx="1562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45" name="single.row.2.frame.3.5">
            <a:extLst xmlns:a="http://schemas.openxmlformats.org/drawingml/2006/main">
              <a:ext uri="{FF2B5EF4-FFF2-40B4-BE49-F238E27FC236}">
                <a16:creationId xmlns:a16="http://schemas.microsoft.com/office/drawing/2014/main" id="{015FEDB3-D37F-4351-99ED-D81DD2EE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1033463"/>
            <a:ext cx="1562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46" name="single.row.2.frame.0">
            <a:extLst xmlns:a="http://schemas.openxmlformats.org/drawingml/2006/main">
              <a:ext uri="{FF2B5EF4-FFF2-40B4-BE49-F238E27FC236}">
                <a16:creationId xmlns:a16="http://schemas.microsoft.com/office/drawing/2014/main" id="{8EF65C2C-6167-4D96-A66E-B26DEC69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000125"/>
            <a:ext cx="1562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47" name="single.row.2.s">
            <a:extLst xmlns:a="http://schemas.openxmlformats.org/drawingml/2006/main">
              <a:ext uri="{FF2B5EF4-FFF2-40B4-BE49-F238E27FC236}">
                <a16:creationId xmlns:a16="http://schemas.microsoft.com/office/drawing/2014/main" id="{200CC4AD-DF58-456F-B7E2-53BD030E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38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C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s</a:t>
            </a:r>
          </a:p>
        </p:txBody>
      </p:sp>
      <p:sp>
        <p:nvSpPr>
          <p:cNvPr id="48" name="single.row.2.token.0">
            <a:extLst xmlns:a="http://schemas.openxmlformats.org/drawingml/2006/main">
              <a:ext uri="{FF2B5EF4-FFF2-40B4-BE49-F238E27FC236}">
                <a16:creationId xmlns:a16="http://schemas.microsoft.com/office/drawing/2014/main" id="{CC657A32-4089-473C-9EA5-6F105B9F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38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8F3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</p:sp>
      <p:sp>
        <p:nvSpPr>
          <p:cNvPr id="49" name="single.row.2.token.1">
            <a:extLst xmlns:a="http://schemas.openxmlformats.org/drawingml/2006/main">
              <a:ext uri="{FF2B5EF4-FFF2-40B4-BE49-F238E27FC236}">
                <a16:creationId xmlns:a16="http://schemas.microsoft.com/office/drawing/2014/main" id="{BEE62982-FF7A-44F2-9B74-F2BB939A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038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8F3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</p:sp>
      <p:sp>
        <p:nvSpPr>
          <p:cNvPr id="50" name="single.row.2.token.2">
            <a:extLst xmlns:a="http://schemas.openxmlformats.org/drawingml/2006/main">
              <a:ext uri="{FF2B5EF4-FFF2-40B4-BE49-F238E27FC236}">
                <a16:creationId xmlns:a16="http://schemas.microsoft.com/office/drawing/2014/main" id="{20084298-C945-4AB2-BF73-E8DBA66A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038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8F3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</p:sp>
      <p:sp>
        <p:nvSpPr>
          <p:cNvPr id="51" name="single.down">
            <a:extLst xmlns:a="http://schemas.openxmlformats.org/drawingml/2006/main">
              <a:ext uri="{FF2B5EF4-FFF2-40B4-BE49-F238E27FC236}">
                <a16:creationId xmlns:a16="http://schemas.microsoft.com/office/drawing/2014/main" id="{D4745A01-9B15-4955-870E-7764703B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715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BAE45"/>
            </a:solidFill>
            <a:prstDash val="solid"/>
          </a:ln>
        </p:spPr>
      </p:sp>
      <p:sp>
        <p:nvSpPr>
          <p:cNvPr id="52" name="single.down.head">
            <a:extLst xmlns:a="http://schemas.openxmlformats.org/drawingml/2006/main">
              <a:ext uri="{FF2B5EF4-FFF2-40B4-BE49-F238E27FC236}">
                <a16:creationId xmlns:a16="http://schemas.microsoft.com/office/drawing/2014/main" id="{8CED3DEB-51EB-4E78-AAF6-AF46359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976563" y="90963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A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ingle.formula">
            <a:extLst xmlns:a="http://schemas.openxmlformats.org/drawingml/2006/main">
              <a:ext uri="{FF2B5EF4-FFF2-40B4-BE49-F238E27FC236}">
                <a16:creationId xmlns:a16="http://schemas.microsoft.com/office/drawing/2014/main" id="{DF352635-1858-401E-8E4B-9C0BB76D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954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11111"/>
                </a:solidFill>
              </a:defRPr>
            </a:pPr>
            <a:r>
              <a:rPr sz="1050" b="0" i="1">
                <a:solidFill>
                  <a:srgbClr val="111111"/>
                </a:solidFill>
              </a:rPr>
              <a:t>a ∼ pθ(a|s,zₜ)</a:t>
            </a:r>
          </a:p>
        </p:txBody>
      </p:sp>
      <p:sp>
        <p:nvSpPr>
          <p:cNvPr id="54" name="single.button">
            <a:extLst xmlns:a="http://schemas.openxmlformats.org/drawingml/2006/main">
              <a:ext uri="{FF2B5EF4-FFF2-40B4-BE49-F238E27FC236}">
                <a16:creationId xmlns:a16="http://schemas.microsoft.com/office/drawing/2014/main" id="{205DC86B-0EC0-4715-A334-3E48E354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76425"/>
            <a:ext cx="12573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6FFF1"/>
          </a:solidFill>
          <a:ln xmlns:a="http://schemas.openxmlformats.org/drawingml/2006/main" w="9525">
            <a:solidFill>
              <a:srgbClr val="A6D4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D8138"/>
                </a:solidFill>
              </a:defRPr>
            </a:pPr>
            <a:r>
              <a:rPr sz="900">
                <a:solidFill>
                  <a:srgbClr val="4D8138"/>
                </a:solidFill>
              </a:rPr>
              <a:t>Single-Pass</a:t>
            </a:r>
          </a:p>
        </p:txBody>
      </p:sp>
      <p:sp>
        <p:nvSpPr>
          <p:cNvPr id="55" name="multi.col1.s.0">
            <a:extLst xmlns:a="http://schemas.openxmlformats.org/drawingml/2006/main">
              <a:ext uri="{FF2B5EF4-FFF2-40B4-BE49-F238E27FC236}">
                <a16:creationId xmlns:a16="http://schemas.microsoft.com/office/drawing/2014/main" id="{A2CE3647-1485-4684-9183-75450C6C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80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C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s</a:t>
            </a:r>
          </a:p>
        </p:txBody>
      </p:sp>
      <p:sp>
        <p:nvSpPr>
          <p:cNvPr id="56" name="multi.col1.h.0">
            <a:extLst xmlns:a="http://schemas.openxmlformats.org/drawingml/2006/main">
              <a:ext uri="{FF2B5EF4-FFF2-40B4-BE49-F238E27FC236}">
                <a16:creationId xmlns:a16="http://schemas.microsoft.com/office/drawing/2014/main" id="{998AD17F-D040-40C8-AC1C-E2DE5705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80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4"/>
          </a:solidFill>
          <a:ln xmlns:a="http://schemas.openxmlformats.org/drawingml/2006/main" w="11430">
            <a:solidFill>
              <a:srgbClr val="9A9A9A"/>
            </a:solidFill>
            <a:prstDash val="dash"/>
          </a:ln>
        </p:spPr>
      </p:sp>
      <p:sp>
        <p:nvSpPr>
          <p:cNvPr id="57" name="multi.col1.s.1">
            <a:extLst xmlns:a="http://schemas.openxmlformats.org/drawingml/2006/main">
              <a:ext uri="{FF2B5EF4-FFF2-40B4-BE49-F238E27FC236}">
                <a16:creationId xmlns:a16="http://schemas.microsoft.com/office/drawing/2014/main" id="{339D7C87-AEB9-4A4E-869B-7996D7EA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9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C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s</a:t>
            </a:r>
          </a:p>
        </p:txBody>
      </p:sp>
      <p:sp>
        <p:nvSpPr>
          <p:cNvPr id="58" name="multi.col1.h.1">
            <a:extLst xmlns:a="http://schemas.openxmlformats.org/drawingml/2006/main">
              <a:ext uri="{FF2B5EF4-FFF2-40B4-BE49-F238E27FC236}">
                <a16:creationId xmlns:a16="http://schemas.microsoft.com/office/drawing/2014/main" id="{6381C8CB-FE63-4DE9-8F8F-5E9EA973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09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4"/>
          </a:solidFill>
          <a:ln xmlns:a="http://schemas.openxmlformats.org/drawingml/2006/main" w="11430">
            <a:solidFill>
              <a:srgbClr val="9A9A9A"/>
            </a:solidFill>
            <a:prstDash val="dash"/>
          </a:ln>
        </p:spPr>
      </p:sp>
      <p:sp>
        <p:nvSpPr>
          <p:cNvPr id="59" name="multi.col1.s.2">
            <a:extLst xmlns:a="http://schemas.openxmlformats.org/drawingml/2006/main">
              <a:ext uri="{FF2B5EF4-FFF2-40B4-BE49-F238E27FC236}">
                <a16:creationId xmlns:a16="http://schemas.microsoft.com/office/drawing/2014/main" id="{57EBAA42-EED0-4C70-9C68-D27B51D1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038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C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s</a:t>
            </a:r>
          </a:p>
        </p:txBody>
      </p:sp>
      <p:sp>
        <p:nvSpPr>
          <p:cNvPr id="60" name="multi.col1.h.2">
            <a:extLst xmlns:a="http://schemas.openxmlformats.org/drawingml/2006/main">
              <a:ext uri="{FF2B5EF4-FFF2-40B4-BE49-F238E27FC236}">
                <a16:creationId xmlns:a16="http://schemas.microsoft.com/office/drawing/2014/main" id="{AC0FED51-F134-4221-9CC8-F8DD6065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038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9C9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</p:sp>
      <p:sp>
        <p:nvSpPr>
          <p:cNvPr id="61" name="multi.down.1">
            <a:extLst xmlns:a="http://schemas.openxmlformats.org/drawingml/2006/main">
              <a:ext uri="{FF2B5EF4-FFF2-40B4-BE49-F238E27FC236}">
                <a16:creationId xmlns:a16="http://schemas.microsoft.com/office/drawing/2014/main" id="{5B2442B0-9445-4184-9018-18E880CA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1975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BAE45"/>
            </a:solidFill>
            <a:prstDash val="solid"/>
          </a:ln>
        </p:spPr>
      </p:sp>
      <p:sp>
        <p:nvSpPr>
          <p:cNvPr id="62" name="multi.down.1.head">
            <a:extLst xmlns:a="http://schemas.openxmlformats.org/drawingml/2006/main">
              <a:ext uri="{FF2B5EF4-FFF2-40B4-BE49-F238E27FC236}">
                <a16:creationId xmlns:a16="http://schemas.microsoft.com/office/drawing/2014/main" id="{3192A596-D318-4864-8047-3D0E88DB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995863" y="9286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A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multi.path.1">
            <a:extLst xmlns:a="http://schemas.openxmlformats.org/drawingml/2006/main">
              <a:ext uri="{FF2B5EF4-FFF2-40B4-BE49-F238E27FC236}">
                <a16:creationId xmlns:a16="http://schemas.microsoft.com/office/drawing/2014/main" id="{934332CC-662E-45B4-8A57-A11FF146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71500"/>
            <a:ext cx="238125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BAE45"/>
            </a:solidFill>
            <a:prstDash val="solid"/>
          </a:ln>
        </p:spPr>
      </p:sp>
      <p:sp>
        <p:nvSpPr>
          <p:cNvPr id="64" name="multi.path.1.head">
            <a:extLst xmlns:a="http://schemas.openxmlformats.org/drawingml/2006/main">
              <a:ext uri="{FF2B5EF4-FFF2-40B4-BE49-F238E27FC236}">
                <a16:creationId xmlns:a16="http://schemas.microsoft.com/office/drawing/2014/main" id="{41B57E6C-902D-423A-B3E5-3C4B4F76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45763">
            <a:off x="6138863" y="5381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A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multi.row.0.frame.7">
            <a:extLst xmlns:a="http://schemas.openxmlformats.org/drawingml/2006/main">
              <a:ext uri="{FF2B5EF4-FFF2-40B4-BE49-F238E27FC236}">
                <a16:creationId xmlns:a16="http://schemas.microsoft.com/office/drawing/2014/main" id="{E1FE325B-CC49-4F8A-A173-80720966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66" name="multi.row.0.frame.3.5">
            <a:extLst xmlns:a="http://schemas.openxmlformats.org/drawingml/2006/main">
              <a:ext uri="{FF2B5EF4-FFF2-40B4-BE49-F238E27FC236}">
                <a16:creationId xmlns:a16="http://schemas.microsoft.com/office/drawing/2014/main" id="{37A1A51C-A1D7-478E-A50B-144334B0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214313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67" name="multi.row.0.frame.0">
            <a:extLst xmlns:a="http://schemas.openxmlformats.org/drawingml/2006/main">
              <a:ext uri="{FF2B5EF4-FFF2-40B4-BE49-F238E27FC236}">
                <a16:creationId xmlns:a16="http://schemas.microsoft.com/office/drawing/2014/main" id="{5B56F9BD-1DE0-42DD-BA6E-2C796C79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68" name="multi.row.0.s">
            <a:extLst xmlns:a="http://schemas.openxmlformats.org/drawingml/2006/main">
              <a:ext uri="{FF2B5EF4-FFF2-40B4-BE49-F238E27FC236}">
                <a16:creationId xmlns:a16="http://schemas.microsoft.com/office/drawing/2014/main" id="{7F0AD99D-1C5E-4DA6-A3FE-0192388F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C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s</a:t>
            </a:r>
          </a:p>
        </p:txBody>
      </p:sp>
      <p:sp>
        <p:nvSpPr>
          <p:cNvPr id="69" name="multi.row.0.token.0">
            <a:extLst xmlns:a="http://schemas.openxmlformats.org/drawingml/2006/main">
              <a:ext uri="{FF2B5EF4-FFF2-40B4-BE49-F238E27FC236}">
                <a16:creationId xmlns:a16="http://schemas.microsoft.com/office/drawing/2014/main" id="{77F82075-D016-43E8-BC05-E367DFF9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9C9"/>
          </a:solidFill>
          <a:ln xmlns:a="http://schemas.openxmlformats.org/drawingml/2006/main" w="11430">
            <a:solidFill>
              <a:srgbClr val="9A9A9A"/>
            </a:solidFill>
            <a:prstDash val="dash"/>
          </a:ln>
        </p:spPr>
      </p:sp>
      <p:sp>
        <p:nvSpPr>
          <p:cNvPr id="70" name="multi.row.0.token.1">
            <a:extLst xmlns:a="http://schemas.openxmlformats.org/drawingml/2006/main">
              <a:ext uri="{FF2B5EF4-FFF2-40B4-BE49-F238E27FC236}">
                <a16:creationId xmlns:a16="http://schemas.microsoft.com/office/drawing/2014/main" id="{E86BC391-21E8-45D9-832D-77A0E86D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7EF"/>
          </a:solidFill>
          <a:ln xmlns:a="http://schemas.openxmlformats.org/drawingml/2006/main" w="11430">
            <a:solidFill>
              <a:srgbClr val="9A9A9A"/>
            </a:solidFill>
            <a:prstDash val="dash"/>
          </a:ln>
        </p:spPr>
      </p:sp>
      <p:sp>
        <p:nvSpPr>
          <p:cNvPr id="71" name="multi.row.1.frame.7">
            <a:extLst xmlns:a="http://schemas.openxmlformats.org/drawingml/2006/main">
              <a:ext uri="{FF2B5EF4-FFF2-40B4-BE49-F238E27FC236}">
                <a16:creationId xmlns:a16="http://schemas.microsoft.com/office/drawing/2014/main" id="{32684274-BA89-4B19-BEB5-DE17F03B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76275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72" name="multi.row.1.frame.3.5">
            <a:extLst xmlns:a="http://schemas.openxmlformats.org/drawingml/2006/main">
              <a:ext uri="{FF2B5EF4-FFF2-40B4-BE49-F238E27FC236}">
                <a16:creationId xmlns:a16="http://schemas.microsoft.com/office/drawing/2014/main" id="{C53DA95F-A1F2-40B9-938D-5D34DDC5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642938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73" name="multi.row.1.frame.0">
            <a:extLst xmlns:a="http://schemas.openxmlformats.org/drawingml/2006/main">
              <a:ext uri="{FF2B5EF4-FFF2-40B4-BE49-F238E27FC236}">
                <a16:creationId xmlns:a16="http://schemas.microsoft.com/office/drawing/2014/main" id="{B216067B-B409-4104-A5CF-C10817A8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0960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74" name="multi.row.1.s">
            <a:extLst xmlns:a="http://schemas.openxmlformats.org/drawingml/2006/main">
              <a:ext uri="{FF2B5EF4-FFF2-40B4-BE49-F238E27FC236}">
                <a16:creationId xmlns:a16="http://schemas.microsoft.com/office/drawing/2014/main" id="{DEFCDB27-7184-4ACA-8570-CE044262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4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C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s</a:t>
            </a:r>
          </a:p>
        </p:txBody>
      </p:sp>
      <p:sp>
        <p:nvSpPr>
          <p:cNvPr id="75" name="multi.row.1.token.0">
            <a:extLst xmlns:a="http://schemas.openxmlformats.org/drawingml/2006/main">
              <a:ext uri="{FF2B5EF4-FFF2-40B4-BE49-F238E27FC236}">
                <a16:creationId xmlns:a16="http://schemas.microsoft.com/office/drawing/2014/main" id="{A4ED3629-726B-46E7-8E6E-25724713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64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1"/>
          </a:solidFill>
          <a:ln xmlns:a="http://schemas.openxmlformats.org/drawingml/2006/main" w="11430">
            <a:solidFill>
              <a:srgbClr val="9A9A9A"/>
            </a:solidFill>
            <a:prstDash val="dash"/>
          </a:ln>
        </p:spPr>
      </p:sp>
      <p:sp>
        <p:nvSpPr>
          <p:cNvPr id="76" name="multi.row.1.token.1">
            <a:extLst xmlns:a="http://schemas.openxmlformats.org/drawingml/2006/main">
              <a:ext uri="{FF2B5EF4-FFF2-40B4-BE49-F238E27FC236}">
                <a16:creationId xmlns:a16="http://schemas.microsoft.com/office/drawing/2014/main" id="{35AB5FFE-E287-47A5-A798-C615A481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4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FD2"/>
          </a:solidFill>
          <a:ln xmlns:a="http://schemas.openxmlformats.org/drawingml/2006/main" w="11430">
            <a:solidFill>
              <a:srgbClr val="9A9A9A"/>
            </a:solidFill>
            <a:prstDash val="dash"/>
          </a:ln>
        </p:spPr>
      </p:sp>
      <p:sp>
        <p:nvSpPr>
          <p:cNvPr id="77" name="multi.row.2.frame.7">
            <a:extLst xmlns:a="http://schemas.openxmlformats.org/drawingml/2006/main">
              <a:ext uri="{FF2B5EF4-FFF2-40B4-BE49-F238E27FC236}">
                <a16:creationId xmlns:a16="http://schemas.microsoft.com/office/drawing/2014/main" id="{0884E6EB-D9D9-486A-804A-FB280A16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0490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78" name="multi.row.2.frame.3.5">
            <a:extLst xmlns:a="http://schemas.openxmlformats.org/drawingml/2006/main">
              <a:ext uri="{FF2B5EF4-FFF2-40B4-BE49-F238E27FC236}">
                <a16:creationId xmlns:a16="http://schemas.microsoft.com/office/drawing/2014/main" id="{4723553E-320D-46BA-975E-D738E072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1071563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79" name="multi.row.2.frame.0">
            <a:extLst xmlns:a="http://schemas.openxmlformats.org/drawingml/2006/main">
              <a:ext uri="{FF2B5EF4-FFF2-40B4-BE49-F238E27FC236}">
                <a16:creationId xmlns:a16="http://schemas.microsoft.com/office/drawing/2014/main" id="{909EC274-4450-4DCE-BFB2-31F24035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038225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AAAA"/>
            </a:solidFill>
            <a:prstDash val="solid"/>
          </a:ln>
        </p:spPr>
      </p:sp>
      <p:sp>
        <p:nvSpPr>
          <p:cNvPr id="80" name="multi.row.2.s">
            <a:extLst xmlns:a="http://schemas.openxmlformats.org/drawingml/2006/main">
              <a:ext uri="{FF2B5EF4-FFF2-40B4-BE49-F238E27FC236}">
                <a16:creationId xmlns:a16="http://schemas.microsoft.com/office/drawing/2014/main" id="{2F2D568A-2DE9-414E-8DB7-9FC74DFB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076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C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s</a:t>
            </a:r>
          </a:p>
        </p:txBody>
      </p:sp>
      <p:sp>
        <p:nvSpPr>
          <p:cNvPr id="81" name="multi.row.2.token.0">
            <a:extLst xmlns:a="http://schemas.openxmlformats.org/drawingml/2006/main">
              <a:ext uri="{FF2B5EF4-FFF2-40B4-BE49-F238E27FC236}">
                <a16:creationId xmlns:a16="http://schemas.microsoft.com/office/drawing/2014/main" id="{2841F6D1-2C47-41D0-A279-D58A2927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076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1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</p:sp>
      <p:sp>
        <p:nvSpPr>
          <p:cNvPr id="82" name="multi.row.2.token.1">
            <a:extLst xmlns:a="http://schemas.openxmlformats.org/drawingml/2006/main">
              <a:ext uri="{FF2B5EF4-FFF2-40B4-BE49-F238E27FC236}">
                <a16:creationId xmlns:a16="http://schemas.microsoft.com/office/drawing/2014/main" id="{D02CD8B0-DA4D-42D3-A191-6ABA8B66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076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1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</p:sp>
      <p:sp>
        <p:nvSpPr>
          <p:cNvPr id="83" name="multi.formula">
            <a:extLst xmlns:a="http://schemas.openxmlformats.org/drawingml/2006/main">
              <a:ext uri="{FF2B5EF4-FFF2-40B4-BE49-F238E27FC236}">
                <a16:creationId xmlns:a16="http://schemas.microsoft.com/office/drawing/2014/main" id="{1D2A090F-7B15-4EF5-BC6C-DC8E2693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95425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111111"/>
                </a:solidFill>
              </a:defRPr>
            </a:pPr>
            <a:r>
              <a:rPr sz="900" b="0" i="1">
                <a:solidFill>
                  <a:srgbClr val="111111"/>
                </a:solidFill>
              </a:rPr>
              <a:t>a ∼ pθ(a|[s;r₁;…;rₙ],zₜⁿ)…pθ(r₁|s,zₜ¹)</a:t>
            </a:r>
          </a:p>
        </p:txBody>
      </p:sp>
      <p:sp>
        <p:nvSpPr>
          <p:cNvPr id="84" name="multi.button">
            <a:extLst xmlns:a="http://schemas.openxmlformats.org/drawingml/2006/main">
              <a:ext uri="{FF2B5EF4-FFF2-40B4-BE49-F238E27FC236}">
                <a16:creationId xmlns:a16="http://schemas.microsoft.com/office/drawing/2014/main" id="{839CF6B9-9286-445C-90A4-F0F6793A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85950"/>
            <a:ext cx="1581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6FFF1"/>
          </a:solidFill>
          <a:ln xmlns:a="http://schemas.openxmlformats.org/drawingml/2006/main" w="9525">
            <a:solidFill>
              <a:srgbClr val="A6D4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4D8138"/>
                </a:solidFill>
              </a:defRPr>
            </a:pPr>
            <a:r>
              <a:rPr sz="900">
                <a:solidFill>
                  <a:srgbClr val="4D8138"/>
                </a:solidFill>
              </a:rPr>
              <a:t>Multi-Pass</a:t>
            </a:r>
          </a:p>
        </p:txBody>
      </p:sp>
      <p:sp>
        <p:nvSpPr>
          <p:cNvPr id="85" name="diffusion.caption">
            <a:extLst xmlns:a="http://schemas.openxmlformats.org/drawingml/2006/main">
              <a:ext uri="{FF2B5EF4-FFF2-40B4-BE49-F238E27FC236}">
                <a16:creationId xmlns:a16="http://schemas.microsoft.com/office/drawing/2014/main" id="{DF5839C1-FE18-4B5F-83A0-E2F1BC5F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28600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1">
                <a:solidFill>
                  <a:srgbClr val="111111"/>
                </a:solidFill>
              </a:defRPr>
            </a:pPr>
            <a:r>
              <a:rPr sz="1275" b="1" i="1">
                <a:solidFill>
                  <a:srgbClr val="111111"/>
                </a:solidFill>
              </a:rPr>
              <a:t>Diffusion-of-Thoughts (DoT)</a:t>
            </a:r>
          </a:p>
        </p:txBody>
      </p:sp>
      <p:sp>
        <p:nvSpPr>
          <p:cNvPr id="86" name="legend.text-space">
            <a:extLst xmlns:a="http://schemas.openxmlformats.org/drawingml/2006/main">
              <a:ext uri="{FF2B5EF4-FFF2-40B4-BE49-F238E27FC236}">
                <a16:creationId xmlns:a16="http://schemas.microsoft.com/office/drawing/2014/main" id="{821EE2E4-3040-4253-BF45-D9210F6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90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EF5"/>
          </a:solidFill>
          <a:ln xmlns:a="http://schemas.openxmlformats.org/drawingml/2006/main" w="7620">
            <a:solidFill>
              <a:srgbClr val="999999"/>
            </a:solidFill>
            <a:prstDash val="solid"/>
          </a:ln>
        </p:spPr>
      </p:sp>
      <p:sp>
        <p:nvSpPr>
          <p:cNvPr id="87" name="legend.text-space-label">
            <a:extLst xmlns:a="http://schemas.openxmlformats.org/drawingml/2006/main">
              <a:ext uri="{FF2B5EF4-FFF2-40B4-BE49-F238E27FC236}">
                <a16:creationId xmlns:a16="http://schemas.microsoft.com/office/drawing/2014/main" id="{37459826-1191-402C-9942-1B8711F0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526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1">
                <a:solidFill>
                  <a:srgbClr val="777777"/>
                </a:solidFill>
              </a:defRPr>
            </a:pPr>
            <a:r>
              <a:rPr sz="675" b="0" i="1">
                <a:solidFill>
                  <a:srgbClr val="777777"/>
                </a:solidFill>
              </a:rPr>
              <a:t>in text space</a:t>
            </a:r>
          </a:p>
        </p:txBody>
      </p:sp>
      <p:sp>
        <p:nvSpPr>
          <p:cNvPr id="88" name="legend.hidden-space">
            <a:extLst xmlns:a="http://schemas.openxmlformats.org/drawingml/2006/main">
              <a:ext uri="{FF2B5EF4-FFF2-40B4-BE49-F238E27FC236}">
                <a16:creationId xmlns:a16="http://schemas.microsoft.com/office/drawing/2014/main" id="{CA96F4E4-52F8-4091-987E-C7CAB32E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90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4"/>
          </a:solidFill>
          <a:ln xmlns:a="http://schemas.openxmlformats.org/drawingml/2006/main" w="7620">
            <a:solidFill>
              <a:srgbClr val="999999"/>
            </a:solidFill>
            <a:prstDash val="dash"/>
          </a:ln>
        </p:spPr>
      </p:sp>
      <p:sp>
        <p:nvSpPr>
          <p:cNvPr id="89" name="legend.hidden-space-label">
            <a:extLst xmlns:a="http://schemas.openxmlformats.org/drawingml/2006/main">
              <a:ext uri="{FF2B5EF4-FFF2-40B4-BE49-F238E27FC236}">
                <a16:creationId xmlns:a16="http://schemas.microsoft.com/office/drawing/2014/main" id="{AE8FC0D8-F954-4741-9791-56B150C6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526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1">
                <a:solidFill>
                  <a:srgbClr val="777777"/>
                </a:solidFill>
              </a:defRPr>
            </a:pPr>
            <a:r>
              <a:rPr sz="675" b="0" i="1">
                <a:solidFill>
                  <a:srgbClr val="777777"/>
                </a:solidFill>
              </a:rPr>
              <a:t>in hidden space</a:t>
            </a:r>
          </a:p>
        </p:txBody>
      </p:sp>
      <p:sp>
        <p:nvSpPr>
          <p:cNvPr id="90" name="legend.reasoning">
            <a:extLst xmlns:a="http://schemas.openxmlformats.org/drawingml/2006/main">
              <a:ext uri="{FF2B5EF4-FFF2-40B4-BE49-F238E27FC236}">
                <a16:creationId xmlns:a16="http://schemas.microsoft.com/office/drawing/2014/main" id="{30316B69-25AF-4942-930A-77867456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765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BAE45"/>
            </a:solidFill>
            <a:prstDash val="solid"/>
          </a:ln>
        </p:spPr>
      </p:sp>
      <p:sp>
        <p:nvSpPr>
          <p:cNvPr id="91" name="legend.reasoning.head">
            <a:extLst xmlns:a="http://schemas.openxmlformats.org/drawingml/2006/main">
              <a:ext uri="{FF2B5EF4-FFF2-40B4-BE49-F238E27FC236}">
                <a16:creationId xmlns:a16="http://schemas.microsoft.com/office/drawing/2014/main" id="{3E47FA06-2607-47E6-A9F7-AF058247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34213" y="24431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A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legend.reasoning-label">
            <a:extLst xmlns:a="http://schemas.openxmlformats.org/drawingml/2006/main">
              <a:ext uri="{FF2B5EF4-FFF2-40B4-BE49-F238E27FC236}">
                <a16:creationId xmlns:a16="http://schemas.microsoft.com/office/drawing/2014/main" id="{8E791734-C169-4F62-8E96-AD91ED8B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526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1">
                <a:solidFill>
                  <a:srgbClr val="777777"/>
                </a:solidFill>
              </a:defRPr>
            </a:pPr>
            <a:r>
              <a:rPr sz="600" b="0" i="1">
                <a:solidFill>
                  <a:srgbClr val="777777"/>
                </a:solidFill>
              </a:rPr>
              <a:t>Reasoning path</a:t>
            </a:r>
          </a:p>
        </p:txBody>
      </p:sp>
      <p:sp>
        <p:nvSpPr>
          <p:cNvPr id="93" name="panel.self-correction-divider">
            <a:extLst xmlns:a="http://schemas.openxmlformats.org/drawingml/2006/main">
              <a:ext uri="{FF2B5EF4-FFF2-40B4-BE49-F238E27FC236}">
                <a16:creationId xmlns:a16="http://schemas.microsoft.com/office/drawing/2014/main" id="{B94D59B9-B91A-4067-8780-8611BE70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0"/>
            <a:ext cx="0" cy="2276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5C5"/>
            </a:solidFill>
            <a:prstDash val="solid"/>
          </a:ln>
        </p:spPr>
      </p:sp>
      <p:sp>
        <p:nvSpPr>
          <p:cNvPr id="94" name="training.label">
            <a:extLst xmlns:a="http://schemas.openxmlformats.org/drawingml/2006/main">
              <a:ext uri="{FF2B5EF4-FFF2-40B4-BE49-F238E27FC236}">
                <a16:creationId xmlns:a16="http://schemas.microsoft.com/office/drawing/2014/main" id="{70685563-2B71-4416-BFDF-3B1EA743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0"/>
            <a:ext cx="742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FF0"/>
          </a:solidFill>
          <a:ln xmlns:a="http://schemas.openxmlformats.org/drawingml/2006/main" w="7620">
            <a:solidFill>
              <a:srgbClr val="B8DDA8"/>
            </a:solidFill>
            <a:prstDash val="solid"/>
          </a:ln>
        </p:spPr>
      </p:sp>
      <p:sp>
        <p:nvSpPr>
          <p:cNvPr id="95" name="training.label.text">
            <a:extLst xmlns:a="http://schemas.openxmlformats.org/drawingml/2006/main">
              <a:ext uri="{FF2B5EF4-FFF2-40B4-BE49-F238E27FC236}">
                <a16:creationId xmlns:a16="http://schemas.microsoft.com/office/drawing/2014/main" id="{BA5044AB-2A12-4683-BDC2-1845EFC7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0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8F62"/>
                </a:solidFill>
              </a:defRPr>
            </a:pPr>
            <a:r>
              <a:rPr sz="750" b="0" i="0">
                <a:solidFill>
                  <a:srgbClr val="6F8F62"/>
                </a:solidFill>
              </a:rPr>
              <a:t>Training</a:t>
            </a:r>
          </a:p>
        </p:txBody>
      </p:sp>
      <p:sp>
        <p:nvSpPr>
          <p:cNvPr id="96" name="training.axis-y">
            <a:extLst xmlns:a="http://schemas.openxmlformats.org/drawingml/2006/main">
              <a:ext uri="{FF2B5EF4-FFF2-40B4-BE49-F238E27FC236}">
                <a16:creationId xmlns:a16="http://schemas.microsoft.com/office/drawing/2014/main" id="{56439B0D-8E07-489E-8334-FE8E40AB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"/>
            <a:ext cx="0" cy="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C766"/>
            </a:solidFill>
            <a:prstDash val="solid"/>
          </a:ln>
        </p:spPr>
      </p:sp>
      <p:sp>
        <p:nvSpPr>
          <p:cNvPr id="97" name="training.axis-y.head">
            <a:extLst xmlns:a="http://schemas.openxmlformats.org/drawingml/2006/main">
              <a:ext uri="{FF2B5EF4-FFF2-40B4-BE49-F238E27FC236}">
                <a16:creationId xmlns:a16="http://schemas.microsoft.com/office/drawing/2014/main" id="{2A5DF1F8-3034-4308-B5BD-78EC3782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77213" y="12620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C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training.z0">
            <a:extLst xmlns:a="http://schemas.openxmlformats.org/drawingml/2006/main">
              <a:ext uri="{FF2B5EF4-FFF2-40B4-BE49-F238E27FC236}">
                <a16:creationId xmlns:a16="http://schemas.microsoft.com/office/drawing/2014/main" id="{DF6452BD-0D8E-45E6-BC5D-0E98A691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8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111111"/>
                </a:solidFill>
              </a:defRPr>
            </a:pPr>
            <a:r>
              <a:rPr sz="825" b="0" i="1">
                <a:solidFill>
                  <a:srgbClr val="111111"/>
                </a:solidFill>
              </a:rPr>
              <a:t>z₀</a:t>
            </a:r>
          </a:p>
        </p:txBody>
      </p:sp>
      <p:sp>
        <p:nvSpPr>
          <p:cNvPr id="99" name="training.zT">
            <a:extLst xmlns:a="http://schemas.openxmlformats.org/drawingml/2006/main">
              <a:ext uri="{FF2B5EF4-FFF2-40B4-BE49-F238E27FC236}">
                <a16:creationId xmlns:a16="http://schemas.microsoft.com/office/drawing/2014/main" id="{B1FBC9A8-4C69-4834-B529-9DD5BD25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2858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111111"/>
                </a:solidFill>
              </a:defRPr>
            </a:pPr>
            <a:r>
              <a:rPr sz="825" b="0" i="1">
                <a:solidFill>
                  <a:srgbClr val="111111"/>
                </a:solidFill>
              </a:rPr>
              <a:t>zₜ</a:t>
            </a:r>
          </a:p>
        </p:txBody>
      </p:sp>
      <p:sp>
        <p:nvSpPr>
          <p:cNvPr id="100" name="training.expected">
            <a:extLst xmlns:a="http://schemas.openxmlformats.org/drawingml/2006/main">
              <a:ext uri="{FF2B5EF4-FFF2-40B4-BE49-F238E27FC236}">
                <a16:creationId xmlns:a16="http://schemas.microsoft.com/office/drawing/2014/main" id="{93793373-1D1B-467C-AF98-40083F9A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1500"/>
            <a:ext cx="3619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6D989"/>
            </a:solidFill>
            <a:prstDash val="dash"/>
          </a:ln>
        </p:spPr>
      </p:sp>
      <p:sp>
        <p:nvSpPr>
          <p:cNvPr id="101" name="training.expected.head">
            <a:extLst xmlns:a="http://schemas.openxmlformats.org/drawingml/2006/main">
              <a:ext uri="{FF2B5EF4-FFF2-40B4-BE49-F238E27FC236}">
                <a16:creationId xmlns:a16="http://schemas.microsoft.com/office/drawing/2014/main" id="{9EE177D4-C23A-40D4-B270-32BD950C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51849">
            <a:off x="8539163" y="5381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6D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training.predicted.1">
            <a:extLst xmlns:a="http://schemas.openxmlformats.org/drawingml/2006/main">
              <a:ext uri="{FF2B5EF4-FFF2-40B4-BE49-F238E27FC236}">
                <a16:creationId xmlns:a16="http://schemas.microsoft.com/office/drawing/2014/main" id="{827E6DC1-9F41-4739-9763-88606084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942975"/>
            <a:ext cx="13335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B044"/>
            </a:solidFill>
            <a:prstDash val="solid"/>
          </a:ln>
        </p:spPr>
      </p:sp>
      <p:sp>
        <p:nvSpPr>
          <p:cNvPr id="103" name="training.predicted.1.head">
            <a:extLst xmlns:a="http://schemas.openxmlformats.org/drawingml/2006/main">
              <a:ext uri="{FF2B5EF4-FFF2-40B4-BE49-F238E27FC236}">
                <a16:creationId xmlns:a16="http://schemas.microsoft.com/office/drawing/2014/main" id="{29F3EA6D-006F-4DF2-8575-17922024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46160">
            <a:off x="8310563" y="90963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B0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training.predicted.2">
            <a:extLst xmlns:a="http://schemas.openxmlformats.org/drawingml/2006/main">
              <a:ext uri="{FF2B5EF4-FFF2-40B4-BE49-F238E27FC236}">
                <a16:creationId xmlns:a16="http://schemas.microsoft.com/office/drawing/2014/main" id="{D27C6DBD-1B54-48B3-915C-80618217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62000"/>
            <a:ext cx="24765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B044"/>
            </a:solidFill>
            <a:prstDash val="solid"/>
          </a:ln>
        </p:spPr>
      </p:sp>
      <p:sp>
        <p:nvSpPr>
          <p:cNvPr id="105" name="training.predicted.2.head">
            <a:extLst xmlns:a="http://schemas.openxmlformats.org/drawingml/2006/main">
              <a:ext uri="{FF2B5EF4-FFF2-40B4-BE49-F238E27FC236}">
                <a16:creationId xmlns:a16="http://schemas.microsoft.com/office/drawing/2014/main" id="{A1996540-0F27-4624-8B1E-34F8BCF4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230509">
            <a:off x="8558213" y="7286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B0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training.recover">
            <a:extLst xmlns:a="http://schemas.openxmlformats.org/drawingml/2006/main">
              <a:ext uri="{FF2B5EF4-FFF2-40B4-BE49-F238E27FC236}">
                <a16:creationId xmlns:a16="http://schemas.microsoft.com/office/drawing/2014/main" id="{39A92840-01BE-4771-847E-A7995D98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D87070"/>
                </a:solidFill>
              </a:defRPr>
            </a:pPr>
            <a:r>
              <a:rPr sz="675" b="0" i="0">
                <a:solidFill>
                  <a:srgbClr val="D87070"/>
                </a:solidFill>
              </a:rPr>
              <a:t>Learning to recover</a:t>
            </a:r>
          </a:p>
          <a:p xmlns:a="http://schemas.openxmlformats.org/drawingml/2006/main">
            <a:pPr algn="ctr">
              <a:defRPr sz="675" b="0" i="0">
                <a:solidFill>
                  <a:srgbClr val="D87070"/>
                </a:solidFill>
              </a:defRPr>
            </a:pPr>
            <a:r>
              <a:rPr sz="675" b="0" i="0">
                <a:solidFill>
                  <a:srgbClr val="D87070"/>
                </a:solidFill>
              </a:rPr>
              <a:t>from mistakes</a:t>
            </a:r>
          </a:p>
        </p:txBody>
      </p:sp>
      <p:sp>
        <p:nvSpPr>
          <p:cNvPr id="107" name="training.expected-label">
            <a:extLst xmlns:a="http://schemas.openxmlformats.org/drawingml/2006/main">
              <a:ext uri="{FF2B5EF4-FFF2-40B4-BE49-F238E27FC236}">
                <a16:creationId xmlns:a16="http://schemas.microsoft.com/office/drawing/2014/main" id="{8F028469-B163-4463-A0A1-F52929AD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723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86BC6A"/>
                </a:solidFill>
              </a:defRPr>
            </a:pPr>
            <a:r>
              <a:rPr sz="750" b="0" i="0">
                <a:solidFill>
                  <a:srgbClr val="86BC6A"/>
                </a:solidFill>
              </a:rPr>
              <a:t>Expected</a:t>
            </a:r>
          </a:p>
        </p:txBody>
      </p:sp>
      <p:sp>
        <p:nvSpPr>
          <p:cNvPr id="108" name="training.predicted-label">
            <a:extLst xmlns:a="http://schemas.openxmlformats.org/drawingml/2006/main">
              <a:ext uri="{FF2B5EF4-FFF2-40B4-BE49-F238E27FC236}">
                <a16:creationId xmlns:a16="http://schemas.microsoft.com/office/drawing/2014/main" id="{3C1524A8-0BC3-48E6-A40F-D7B1CD39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92392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4F9436"/>
                </a:solidFill>
              </a:defRPr>
            </a:pPr>
            <a:r>
              <a:rPr sz="750" b="0" i="0">
                <a:solidFill>
                  <a:srgbClr val="4F9436"/>
                </a:solidFill>
              </a:rPr>
              <a:t>Predicted</a:t>
            </a:r>
          </a:p>
        </p:txBody>
      </p:sp>
      <p:sp>
        <p:nvSpPr>
          <p:cNvPr id="109" name="training.prediction">
            <a:extLst xmlns:a="http://schemas.openxmlformats.org/drawingml/2006/main">
              <a:ext uri="{FF2B5EF4-FFF2-40B4-BE49-F238E27FC236}">
                <a16:creationId xmlns:a16="http://schemas.microsoft.com/office/drawing/2014/main" id="{C7924278-E268-441B-A9EA-C69B5993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61975"/>
            <a:ext cx="29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1">
                <a:solidFill>
                  <a:srgbClr val="111111"/>
                </a:solidFill>
              </a:defRPr>
            </a:pPr>
            <a:r>
              <a:rPr sz="900" b="0" i="1">
                <a:solidFill>
                  <a:srgbClr val="111111"/>
                </a:solidFill>
              </a:rPr>
              <a:t>ẑₜ</a:t>
            </a:r>
          </a:p>
        </p:txBody>
      </p:sp>
      <p:sp>
        <p:nvSpPr>
          <p:cNvPr id="110" name="inference.label">
            <a:extLst xmlns:a="http://schemas.openxmlformats.org/drawingml/2006/main">
              <a:ext uri="{FF2B5EF4-FFF2-40B4-BE49-F238E27FC236}">
                <a16:creationId xmlns:a16="http://schemas.microsoft.com/office/drawing/2014/main" id="{79E03EA8-4EB4-41C6-B874-F7C7F5D7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57325"/>
            <a:ext cx="742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FF0"/>
          </a:solidFill>
          <a:ln xmlns:a="http://schemas.openxmlformats.org/drawingml/2006/main" w="7620">
            <a:solidFill>
              <a:srgbClr val="B8DDA8"/>
            </a:solidFill>
            <a:prstDash val="solid"/>
          </a:ln>
        </p:spPr>
      </p:sp>
      <p:sp>
        <p:nvSpPr>
          <p:cNvPr id="111" name="inference.label.text">
            <a:extLst xmlns:a="http://schemas.openxmlformats.org/drawingml/2006/main">
              <a:ext uri="{FF2B5EF4-FFF2-40B4-BE49-F238E27FC236}">
                <a16:creationId xmlns:a16="http://schemas.microsoft.com/office/drawing/2014/main" id="{7AFCC32C-2F1F-4619-AF73-D5BCD9B9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457325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F8F62"/>
                </a:solidFill>
              </a:defRPr>
            </a:pPr>
            <a:r>
              <a:rPr sz="750" b="0" i="0">
                <a:solidFill>
                  <a:srgbClr val="6F8F62"/>
                </a:solidFill>
              </a:rPr>
              <a:t>Inference</a:t>
            </a:r>
          </a:p>
        </p:txBody>
      </p:sp>
      <p:sp>
        <p:nvSpPr>
          <p:cNvPr id="112" name="inference.lines">
            <a:extLst xmlns:a="http://schemas.openxmlformats.org/drawingml/2006/main">
              <a:ext uri="{FF2B5EF4-FFF2-40B4-BE49-F238E27FC236}">
                <a16:creationId xmlns:a16="http://schemas.microsoft.com/office/drawing/2014/main" id="{66744021-9118-4DD0-B418-54DE2C12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724025"/>
            <a:ext cx="130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111"/>
                </a:solidFill>
              </a:defRPr>
            </a:pPr>
            <a:r>
              <a:rPr sz="900" b="0" i="0">
                <a:solidFill>
                  <a:srgbClr val="111111"/>
                </a:solidFill>
              </a:rPr>
              <a:t>t=T    2/2=2   2+2=4</a:t>
            </a:r>
          </a:p>
          <a:p xmlns:a="http://schemas.openxmlformats.org/drawingml/2006/main">
            <a:pPr algn="l">
              <a:defRPr sz="900" b="0" i="0">
                <a:solidFill>
                  <a:srgbClr val="111111"/>
                </a:solidFill>
              </a:defRPr>
            </a:pPr>
            <a:r>
              <a:rPr sz="900" b="0" i="0">
                <a:solidFill>
                  <a:srgbClr val="111111"/>
                </a:solidFill>
              </a:rPr>
              <a:t>⋮       2/2=1   2+2=4</a:t>
            </a:r>
          </a:p>
          <a:p xmlns:a="http://schemas.openxmlformats.org/drawingml/2006/main">
            <a:pPr algn="l">
              <a:defRPr sz="900" b="0" i="0">
                <a:solidFill>
                  <a:srgbClr val="111111"/>
                </a:solidFill>
              </a:defRPr>
            </a:pPr>
            <a:r>
              <a:rPr sz="900" b="0" i="0">
                <a:solidFill>
                  <a:srgbClr val="111111"/>
                </a:solidFill>
              </a:rPr>
              <a:t>t=0    2/2=1   2+1=3</a:t>
            </a:r>
          </a:p>
        </p:txBody>
      </p:sp>
      <p:sp>
        <p:nvSpPr>
          <p:cNvPr id="113" name="self.caption">
            <a:extLst xmlns:a="http://schemas.openxmlformats.org/drawingml/2006/main">
              <a:ext uri="{FF2B5EF4-FFF2-40B4-BE49-F238E27FC236}">
                <a16:creationId xmlns:a16="http://schemas.microsoft.com/office/drawing/2014/main" id="{429C0A37-57F6-4528-BA35-F4C5D3D1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1">
                <a:solidFill>
                  <a:srgbClr val="111111"/>
                </a:solidFill>
              </a:defRPr>
            </a:pPr>
            <a:r>
              <a:rPr sz="1050" b="1" i="1">
                <a:solidFill>
                  <a:srgbClr val="111111"/>
                </a:solidFill>
              </a:rPr>
              <a:t>Self-correction</a:t>
            </a:r>
          </a:p>
        </p:txBody>
      </p:sp>
    </p:spTree>
    <p:extLst>
      <p:ext uri="{BB962C8B-B14F-4D97-AF65-F5344CB8AC3E}">
        <p14:creationId xmlns:p14="http://schemas.microsoft.com/office/powerpoint/2010/main" val="1110415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2026-07-30T15:48:33.8270000Z</dcterms:created>
  <dcterms:modified xsi:type="dcterms:W3CDTF">2026-07-30T15:48:33.8270000Z</dcterms:modified>
</coreProperties>
</file>