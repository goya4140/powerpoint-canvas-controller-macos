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d02260613c4b13" /><Relationship Type="http://schemas.openxmlformats.org/officeDocument/2006/relationships/extended-properties" Target="/docProps/app.xml" Id="Rae1de985135345bb" /><Relationship Type="http://schemas.openxmlformats.org/officeDocument/2006/relationships/officeDocument" Target="/ppt/presentation.xml" Id="R4e39c8d40219447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fe616731954b4f"/>
  </p:sldMasterIdLst>
  <p:notesMasterIdLst>
    <p:notesMasterId xmlns:r="http://schemas.openxmlformats.org/officeDocument/2006/relationships" r:id="R28a925acc1ab44be"/>
  </p:notesMasterIdLst>
  <p:sldIdLst>
    <p:sldId xmlns:r="http://schemas.openxmlformats.org/officeDocument/2006/relationships" id="256" r:id="R74dc1c924617459f"/>
  </p:sldIdLst>
  <p:sldSz cx="11096625" cy="34766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9e495e067f4f17" /><Relationship Type="http://schemas.openxmlformats.org/officeDocument/2006/relationships/slideMaster" Target="/ppt/slideMasters/slideMaster1.xml" Id="R6efe616731954b4f" /><Relationship Type="http://schemas.openxmlformats.org/officeDocument/2006/relationships/notesMaster" Target="/ppt/notesMasters/notesMaster1.xml" Id="R28a925acc1ab44be" /><Relationship Type="http://schemas.openxmlformats.org/officeDocument/2006/relationships/presProps" Target="/ppt/presProps.xml" Id="Rc72a6b55a8d64d3a" /><Relationship Type="http://schemas.openxmlformats.org/officeDocument/2006/relationships/tableStyles" Target="/ppt/tableStyles.xml" Id="R4f71c7f6d92144f6" /><Relationship Type="http://schemas.openxmlformats.org/officeDocument/2006/relationships/slide" Target="/ppt/slides/slide1.xml" Id="R74dc1c92461745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d64f6359604b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0a3165383914c6b" /><Relationship Type="http://schemas.openxmlformats.org/officeDocument/2006/relationships/notesMaster" Target="/ppt/notesMasters/notesMaster1.xml" Id="R75b3d6e26be349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https://aclanthology.org/2024.acl-long.639/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26f258df024dd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53808d62a864fdc" /><Relationship Type="http://schemas.openxmlformats.org/officeDocument/2006/relationships/slideLayout" Target="/ppt/slideLayouts/slideLayout1.xml" Id="R5e75ac2eead140b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75ac2eead140b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65a2124e7d4214" /><Relationship Type="http://schemas.openxmlformats.org/officeDocument/2006/relationships/image" Target="/ppt/media/image.png" Id="R734680e3017b46b5" /><Relationship Type="http://schemas.openxmlformats.org/officeDocument/2006/relationships/image" Target="/ppt/media/image2.png" Id="R701427ef55284207" /><Relationship Type="http://schemas.openxmlformats.org/officeDocument/2006/relationships/notesSlide" Target="/ppt/notesSlides/notesSlide1.xml" Id="R0502dcaf8eff425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divider.1">
            <a:extLst xmlns:a="http://schemas.openxmlformats.org/drawingml/2006/main">
              <a:ext uri="{FF2B5EF4-FFF2-40B4-BE49-F238E27FC236}">
                <a16:creationId xmlns:a16="http://schemas.microsoft.com/office/drawing/2014/main" id="{A229DBCD-9AC5-4AAB-9735-D2C0F9ABE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519363" y="1966913"/>
            <a:ext cx="2333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  <a:prstDash val="dash"/>
          </a:ln>
        </p:spPr>
      </p:sp>
      <p:sp>
        <p:nvSpPr>
          <p:cNvPr id="2" name="divider.2">
            <a:extLst xmlns:a="http://schemas.openxmlformats.org/drawingml/2006/main">
              <a:ext uri="{FF2B5EF4-FFF2-40B4-BE49-F238E27FC236}">
                <a16:creationId xmlns:a16="http://schemas.microsoft.com/office/drawing/2014/main" id="{FF287686-0018-4F36-BBEB-9839B8529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110288" y="1966913"/>
            <a:ext cx="2333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333"/>
            </a:solidFill>
            <a:prstDash val="dash"/>
          </a:ln>
        </p:spPr>
      </p:sp>
      <p:sp>
        <p:nvSpPr>
          <p:cNvPr id="3" name="mllm.0.frame">
            <a:extLst xmlns:a="http://schemas.openxmlformats.org/drawingml/2006/main">
              <a:ext uri="{FF2B5EF4-FFF2-40B4-BE49-F238E27FC236}">
                <a16:creationId xmlns:a16="http://schemas.microsoft.com/office/drawing/2014/main" id="{D6F5EB54-C1DD-4457-91D6-2D35E10C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04875"/>
            <a:ext cx="2733675" cy="1323975"/>
          </a:xfrm>
          <a:prstGeom xmlns:a="http://schemas.openxmlformats.org/drawingml/2006/main" prst="roundRect">
            <a:avLst>
              <a:gd name="adj" fmla="val 5755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555555"/>
            </a:solidFill>
            <a:prstDash val="solid"/>
          </a:ln>
        </p:spPr>
      </p:sp>
      <p:sp>
        <p:nvSpPr>
          <p:cNvPr id="4" name="mllm.0.title">
            <a:extLst xmlns:a="http://schemas.openxmlformats.org/drawingml/2006/main">
              <a:ext uri="{FF2B5EF4-FFF2-40B4-BE49-F238E27FC236}">
                <a16:creationId xmlns:a16="http://schemas.microsoft.com/office/drawing/2014/main" id="{9694D5EF-B067-4043-BEAB-35200C73D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111"/>
                </a:solidFill>
              </a:defRPr>
            </a:pPr>
            <a:r>
              <a:rPr sz="1275" b="1" i="0">
                <a:solidFill>
                  <a:srgbClr val="111111"/>
                </a:solidFill>
              </a:rPr>
              <a:t>MLLM</a:t>
            </a:r>
          </a:p>
        </p:txBody>
      </p:sp>
      <p:sp>
        <p:nvSpPr>
          <p:cNvPr id="5" name="mllm.0.visual.box">
            <a:extLst xmlns:a="http://schemas.openxmlformats.org/drawingml/2006/main">
              <a:ext uri="{FF2B5EF4-FFF2-40B4-BE49-F238E27FC236}">
                <a16:creationId xmlns:a16="http://schemas.microsoft.com/office/drawing/2014/main" id="{2E88C16F-787F-4234-A575-3A6B075EF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514475"/>
            <a:ext cx="12192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A8D9F0"/>
          </a:solidFill>
          <a:ln xmlns:a="http://schemas.openxmlformats.org/drawingml/2006/main" w="13335">
            <a:solidFill>
              <a:srgbClr val="058AC1"/>
            </a:solidFill>
            <a:prstDash val="solid"/>
          </a:ln>
        </p:spPr>
      </p:sp>
      <p:sp>
        <p:nvSpPr>
          <p:cNvPr id="6" name="mllm.0.visual.text">
            <a:extLst xmlns:a="http://schemas.openxmlformats.org/drawingml/2006/main">
              <a:ext uri="{FF2B5EF4-FFF2-40B4-BE49-F238E27FC236}">
                <a16:creationId xmlns:a16="http://schemas.microsoft.com/office/drawing/2014/main" id="{57AEBF08-F750-46EF-B2A1-D2A81E911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514475"/>
            <a:ext cx="1219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111"/>
                </a:solidFill>
              </a:defRPr>
            </a:pPr>
            <a:r>
              <a:rPr sz="1275" b="1" i="0">
                <a:solidFill>
                  <a:srgbClr val="111111"/>
                </a:solidFill>
              </a:rPr>
              <a:t>Visual</a:t>
            </a:r>
          </a:p>
          <a:p xmlns:a="http://schemas.openxmlformats.org/drawingml/2006/main">
            <a:pPr algn="ctr">
              <a:defRPr sz="1275" b="1" i="0">
                <a:solidFill>
                  <a:srgbClr val="111111"/>
                </a:solidFill>
              </a:defRPr>
            </a:pPr>
            <a:r>
              <a:rPr sz="1275" b="1" i="0">
                <a:solidFill>
                  <a:srgbClr val="111111"/>
                </a:solidFill>
              </a:rPr>
              <a:t>Encoder</a:t>
            </a:r>
          </a:p>
        </p:txBody>
      </p:sp>
      <p:sp>
        <p:nvSpPr>
          <p:cNvPr id="7" name="mllm.0.language.box">
            <a:extLst xmlns:a="http://schemas.openxmlformats.org/drawingml/2006/main">
              <a:ext uri="{FF2B5EF4-FFF2-40B4-BE49-F238E27FC236}">
                <a16:creationId xmlns:a16="http://schemas.microsoft.com/office/drawing/2014/main" id="{DEBFB9DD-3FD9-4D41-959D-C4BEEAE54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038225"/>
            <a:ext cx="1028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DBB0"/>
          </a:solidFill>
          <a:ln xmlns:a="http://schemas.openxmlformats.org/drawingml/2006/main" w="13335">
            <a:solidFill>
              <a:srgbClr val="DF7800"/>
            </a:solidFill>
            <a:prstDash val="solid"/>
          </a:ln>
        </p:spPr>
      </p:sp>
      <p:sp>
        <p:nvSpPr>
          <p:cNvPr id="8" name="mllm.0.language.text">
            <a:extLst xmlns:a="http://schemas.openxmlformats.org/drawingml/2006/main">
              <a:ext uri="{FF2B5EF4-FFF2-40B4-BE49-F238E27FC236}">
                <a16:creationId xmlns:a16="http://schemas.microsoft.com/office/drawing/2014/main" id="{B6026951-1D37-4AF0-8FB8-33B27C862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038225"/>
            <a:ext cx="1028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111"/>
                </a:solidFill>
              </a:defRPr>
            </a:pPr>
            <a:r>
              <a:rPr sz="1275" b="1" i="0">
                <a:solidFill>
                  <a:srgbClr val="111111"/>
                </a:solidFill>
              </a:rPr>
              <a:t>Language</a:t>
            </a:r>
          </a:p>
          <a:p xmlns:a="http://schemas.openxmlformats.org/drawingml/2006/main">
            <a:pPr algn="ctr">
              <a:defRPr sz="1275" b="1" i="0">
                <a:solidFill>
                  <a:srgbClr val="111111"/>
                </a:solidFill>
              </a:defRPr>
            </a:pPr>
            <a:r>
              <a:rPr sz="1275" b="1" i="0">
                <a:solidFill>
                  <a:srgbClr val="111111"/>
                </a:solidFill>
              </a:rPr>
              <a:t>Model</a:t>
            </a:r>
          </a:p>
        </p:txBody>
      </p:sp>
      <p:sp>
        <p:nvSpPr>
          <p:cNvPr id="9" name="mllm.0.visual-language.shaft">
            <a:extLst xmlns:a="http://schemas.openxmlformats.org/drawingml/2006/main">
              <a:ext uri="{FF2B5EF4-FFF2-40B4-BE49-F238E27FC236}">
                <a16:creationId xmlns:a16="http://schemas.microsoft.com/office/drawing/2014/main" id="{27FDD9EF-315B-4318-9378-A29D9C395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76425" y="1381125"/>
            <a:ext cx="14744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0" name="mllm.0.visual-language.head">
            <a:extLst xmlns:a="http://schemas.openxmlformats.org/drawingml/2006/main">
              <a:ext uri="{FF2B5EF4-FFF2-40B4-BE49-F238E27FC236}">
                <a16:creationId xmlns:a16="http://schemas.microsoft.com/office/drawing/2014/main" id="{17A5A7D6-A449-4C17-8B3A-3930CCD4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019300" y="13239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1" name="mllm.0.input-visual.shaft">
            <a:extLst xmlns:a="http://schemas.openxmlformats.org/drawingml/2006/main">
              <a:ext uri="{FF2B5EF4-FFF2-40B4-BE49-F238E27FC236}">
                <a16:creationId xmlns:a16="http://schemas.microsoft.com/office/drawing/2014/main" id="{6C574517-045D-43C9-A27B-E764FBC48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1116902" y="2326577"/>
            <a:ext cx="29984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2" name="mllm.0.input-visual.head">
            <a:extLst xmlns:a="http://schemas.openxmlformats.org/drawingml/2006/main">
              <a:ext uri="{FF2B5EF4-FFF2-40B4-BE49-F238E27FC236}">
                <a16:creationId xmlns:a16="http://schemas.microsoft.com/office/drawing/2014/main" id="{61FBC45B-07AC-404F-AB6C-A827FB711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9675" y="20669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3" name="mllm.0.query-language.shaft">
            <a:extLst xmlns:a="http://schemas.openxmlformats.org/drawingml/2006/main">
              <a:ext uri="{FF2B5EF4-FFF2-40B4-BE49-F238E27FC236}">
                <a16:creationId xmlns:a16="http://schemas.microsoft.com/office/drawing/2014/main" id="{88E7A315-2022-480C-8A76-C3B7D45D3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2274189" y="2093214"/>
            <a:ext cx="63322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4" name="mllm.0.query-language.head">
            <a:extLst xmlns:a="http://schemas.openxmlformats.org/drawingml/2006/main">
              <a:ext uri="{FF2B5EF4-FFF2-40B4-BE49-F238E27FC236}">
                <a16:creationId xmlns:a16="http://schemas.microsoft.com/office/drawing/2014/main" id="{840B0CA7-32D6-4FC1-8C6D-94A5C5395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33650" y="16668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5" name="mllm.0.identifier.shaft">
            <a:extLst xmlns:a="http://schemas.openxmlformats.org/drawingml/2006/main">
              <a:ext uri="{FF2B5EF4-FFF2-40B4-BE49-F238E27FC236}">
                <a16:creationId xmlns:a16="http://schemas.microsoft.com/office/drawing/2014/main" id="{8947D15C-AE29-4D46-9DA6-6FB0CDD81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2440877" y="888301"/>
            <a:ext cx="29984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6" name="mllm.0.identifier.head">
            <a:extLst xmlns:a="http://schemas.openxmlformats.org/drawingml/2006/main">
              <a:ext uri="{FF2B5EF4-FFF2-40B4-BE49-F238E27FC236}">
                <a16:creationId xmlns:a16="http://schemas.microsoft.com/office/drawing/2014/main" id="{9691BA29-69AE-4756-9E43-35953940E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33650" y="6286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7" name="mllm.0.id">
            <a:extLst xmlns:a="http://schemas.openxmlformats.org/drawingml/2006/main">
              <a:ext uri="{FF2B5EF4-FFF2-40B4-BE49-F238E27FC236}">
                <a16:creationId xmlns:a16="http://schemas.microsoft.com/office/drawing/2014/main" id="{8F8B39D9-52ED-4CFB-A7FD-5631DD47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71475"/>
            <a:ext cx="1200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id: 12138</a:t>
            </a:r>
          </a:p>
        </p:txBody>
      </p:sp>
      <p:sp>
        <p:nvSpPr>
          <p:cNvPr id="18" name="mllm.0.caption">
            <a:extLst xmlns:a="http://schemas.openxmlformats.org/drawingml/2006/main">
              <a:ext uri="{FF2B5EF4-FFF2-40B4-BE49-F238E27FC236}">
                <a16:creationId xmlns:a16="http://schemas.microsoft.com/office/drawing/2014/main" id="{EBF4108A-4282-408D-91D5-2DBFD33D0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111"/>
                </a:solidFill>
              </a:defRPr>
            </a:pPr>
            <a:r>
              <a:rPr sz="1275" b="1" i="0">
                <a:solidFill>
                  <a:srgbClr val="111111"/>
                </a:solidFill>
              </a:rPr>
              <a:t>(a) Learning to memorize</a:t>
            </a:r>
          </a:p>
        </p:txBody>
      </p:sp>
      <p:sp>
        <p:nvSpPr>
          <p:cNvPr id="19" name="mllm.1.frame">
            <a:extLst xmlns:a="http://schemas.openxmlformats.org/drawingml/2006/main">
              <a:ext uri="{FF2B5EF4-FFF2-40B4-BE49-F238E27FC236}">
                <a16:creationId xmlns:a16="http://schemas.microsoft.com/office/drawing/2014/main" id="{AAF8DAD6-D55C-4611-A5B4-B7637D724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904875"/>
            <a:ext cx="2733675" cy="1323975"/>
          </a:xfrm>
          <a:prstGeom xmlns:a="http://schemas.openxmlformats.org/drawingml/2006/main" prst="roundRect">
            <a:avLst>
              <a:gd name="adj" fmla="val 5755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555555"/>
            </a:solidFill>
            <a:prstDash val="solid"/>
          </a:ln>
        </p:spPr>
      </p:sp>
      <p:sp>
        <p:nvSpPr>
          <p:cNvPr id="20" name="mllm.1.title">
            <a:extLst xmlns:a="http://schemas.openxmlformats.org/drawingml/2006/main">
              <a:ext uri="{FF2B5EF4-FFF2-40B4-BE49-F238E27FC236}">
                <a16:creationId xmlns:a16="http://schemas.microsoft.com/office/drawing/2014/main" id="{023F79BB-539C-4C55-BAFA-A627012C3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0287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111"/>
                </a:solidFill>
              </a:defRPr>
            </a:pPr>
            <a:r>
              <a:rPr sz="1275" b="1" i="0">
                <a:solidFill>
                  <a:srgbClr val="111111"/>
                </a:solidFill>
              </a:rPr>
              <a:t>MLLM</a:t>
            </a:r>
          </a:p>
        </p:txBody>
      </p:sp>
      <p:sp>
        <p:nvSpPr>
          <p:cNvPr id="21" name="mllm.1.visual.box">
            <a:extLst xmlns:a="http://schemas.openxmlformats.org/drawingml/2006/main">
              <a:ext uri="{FF2B5EF4-FFF2-40B4-BE49-F238E27FC236}">
                <a16:creationId xmlns:a16="http://schemas.microsoft.com/office/drawing/2014/main" id="{B240193C-5687-4275-9F59-8D27642B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514475"/>
            <a:ext cx="12192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A8D9F0"/>
          </a:solidFill>
          <a:ln xmlns:a="http://schemas.openxmlformats.org/drawingml/2006/main" w="13335">
            <a:solidFill>
              <a:srgbClr val="058AC1"/>
            </a:solidFill>
            <a:prstDash val="solid"/>
          </a:ln>
        </p:spPr>
      </p:sp>
      <p:sp>
        <p:nvSpPr>
          <p:cNvPr id="22" name="mllm.1.visual.text">
            <a:extLst xmlns:a="http://schemas.openxmlformats.org/drawingml/2006/main">
              <a:ext uri="{FF2B5EF4-FFF2-40B4-BE49-F238E27FC236}">
                <a16:creationId xmlns:a16="http://schemas.microsoft.com/office/drawing/2014/main" id="{7B2C96B9-0B1B-4004-B379-C89E3EAA5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514475"/>
            <a:ext cx="1219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111"/>
                </a:solidFill>
              </a:defRPr>
            </a:pPr>
            <a:r>
              <a:rPr sz="1275" b="1" i="0">
                <a:solidFill>
                  <a:srgbClr val="111111"/>
                </a:solidFill>
              </a:rPr>
              <a:t>Visual</a:t>
            </a:r>
          </a:p>
          <a:p xmlns:a="http://schemas.openxmlformats.org/drawingml/2006/main">
            <a:pPr algn="ctr">
              <a:defRPr sz="1275" b="1" i="0">
                <a:solidFill>
                  <a:srgbClr val="111111"/>
                </a:solidFill>
              </a:defRPr>
            </a:pPr>
            <a:r>
              <a:rPr sz="1275" b="1" i="0">
                <a:solidFill>
                  <a:srgbClr val="111111"/>
                </a:solidFill>
              </a:rPr>
              <a:t>Encoder</a:t>
            </a:r>
          </a:p>
        </p:txBody>
      </p:sp>
      <p:sp>
        <p:nvSpPr>
          <p:cNvPr id="23" name="mllm.1.language.box">
            <a:extLst xmlns:a="http://schemas.openxmlformats.org/drawingml/2006/main">
              <a:ext uri="{FF2B5EF4-FFF2-40B4-BE49-F238E27FC236}">
                <a16:creationId xmlns:a16="http://schemas.microsoft.com/office/drawing/2014/main" id="{61CC9371-CD2D-4206-A526-DE39C120E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1038225"/>
            <a:ext cx="1028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DBB0"/>
          </a:solidFill>
          <a:ln xmlns:a="http://schemas.openxmlformats.org/drawingml/2006/main" w="13335">
            <a:solidFill>
              <a:srgbClr val="DF7800"/>
            </a:solidFill>
            <a:prstDash val="solid"/>
          </a:ln>
        </p:spPr>
      </p:sp>
      <p:sp>
        <p:nvSpPr>
          <p:cNvPr id="24" name="mllm.1.language.text">
            <a:extLst xmlns:a="http://schemas.openxmlformats.org/drawingml/2006/main">
              <a:ext uri="{FF2B5EF4-FFF2-40B4-BE49-F238E27FC236}">
                <a16:creationId xmlns:a16="http://schemas.microsoft.com/office/drawing/2014/main" id="{3B40096F-E8C8-486E-9F0D-36F47CA90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1038225"/>
            <a:ext cx="1028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111"/>
                </a:solidFill>
              </a:defRPr>
            </a:pPr>
            <a:r>
              <a:rPr sz="1275" b="1" i="0">
                <a:solidFill>
                  <a:srgbClr val="111111"/>
                </a:solidFill>
              </a:rPr>
              <a:t>Language</a:t>
            </a:r>
          </a:p>
          <a:p xmlns:a="http://schemas.openxmlformats.org/drawingml/2006/main">
            <a:pPr algn="ctr">
              <a:defRPr sz="1275" b="1" i="0">
                <a:solidFill>
                  <a:srgbClr val="111111"/>
                </a:solidFill>
              </a:defRPr>
            </a:pPr>
            <a:r>
              <a:rPr sz="1275" b="1" i="0">
                <a:solidFill>
                  <a:srgbClr val="111111"/>
                </a:solidFill>
              </a:rPr>
              <a:t>Model</a:t>
            </a:r>
          </a:p>
        </p:txBody>
      </p:sp>
      <p:sp>
        <p:nvSpPr>
          <p:cNvPr id="25" name="mllm.1.visual-language.shaft">
            <a:extLst xmlns:a="http://schemas.openxmlformats.org/drawingml/2006/main">
              <a:ext uri="{FF2B5EF4-FFF2-40B4-BE49-F238E27FC236}">
                <a16:creationId xmlns:a16="http://schemas.microsoft.com/office/drawing/2014/main" id="{D1B1DBCB-822D-4AB1-98C5-B2D4DB2BD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9250" y="1381125"/>
            <a:ext cx="14744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26" name="mllm.1.visual-language.head">
            <a:extLst xmlns:a="http://schemas.openxmlformats.org/drawingml/2006/main">
              <a:ext uri="{FF2B5EF4-FFF2-40B4-BE49-F238E27FC236}">
                <a16:creationId xmlns:a16="http://schemas.microsoft.com/office/drawing/2014/main" id="{41ECF2ED-A149-4A78-B6C8-2AE747C8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572125" y="13239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7" name="mllm.1.input-visual.shaft">
            <a:extLst xmlns:a="http://schemas.openxmlformats.org/drawingml/2006/main">
              <a:ext uri="{FF2B5EF4-FFF2-40B4-BE49-F238E27FC236}">
                <a16:creationId xmlns:a16="http://schemas.microsoft.com/office/drawing/2014/main" id="{501FBC1D-F85C-420F-B82B-EFD997A39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4669727" y="2326577"/>
            <a:ext cx="29984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28" name="mllm.1.input-visual.head">
            <a:extLst xmlns:a="http://schemas.openxmlformats.org/drawingml/2006/main">
              <a:ext uri="{FF2B5EF4-FFF2-40B4-BE49-F238E27FC236}">
                <a16:creationId xmlns:a16="http://schemas.microsoft.com/office/drawing/2014/main" id="{72EEE0B9-129B-4C17-92B5-29FC0E1F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0" y="20669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9" name="mllm.1.query-language.shaft">
            <a:extLst xmlns:a="http://schemas.openxmlformats.org/drawingml/2006/main">
              <a:ext uri="{FF2B5EF4-FFF2-40B4-BE49-F238E27FC236}">
                <a16:creationId xmlns:a16="http://schemas.microsoft.com/office/drawing/2014/main" id="{DF718094-AC40-44A8-9EBD-18B853CCB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5827014" y="2093214"/>
            <a:ext cx="63322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30" name="mllm.1.query-language.head">
            <a:extLst xmlns:a="http://schemas.openxmlformats.org/drawingml/2006/main">
              <a:ext uri="{FF2B5EF4-FFF2-40B4-BE49-F238E27FC236}">
                <a16:creationId xmlns:a16="http://schemas.microsoft.com/office/drawing/2014/main" id="{49F5DC22-ADF5-4DD6-8C3B-D9F11B761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6475" y="16668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31" name="mllm.1.identifier.shaft">
            <a:extLst xmlns:a="http://schemas.openxmlformats.org/drawingml/2006/main">
              <a:ext uri="{FF2B5EF4-FFF2-40B4-BE49-F238E27FC236}">
                <a16:creationId xmlns:a16="http://schemas.microsoft.com/office/drawing/2014/main" id="{962EC9E8-44F3-4638-BA65-465EF0F0D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5993702" y="888301"/>
            <a:ext cx="29984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32" name="mllm.1.identifier.head">
            <a:extLst xmlns:a="http://schemas.openxmlformats.org/drawingml/2006/main">
              <a:ext uri="{FF2B5EF4-FFF2-40B4-BE49-F238E27FC236}">
                <a16:creationId xmlns:a16="http://schemas.microsoft.com/office/drawing/2014/main" id="{70C57787-EEB9-487C-9F0F-8950B16A9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6475" y="6286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33" name="mllm.1.id">
            <a:extLst xmlns:a="http://schemas.openxmlformats.org/drawingml/2006/main">
              <a:ext uri="{FF2B5EF4-FFF2-40B4-BE49-F238E27FC236}">
                <a16:creationId xmlns:a16="http://schemas.microsoft.com/office/drawing/2014/main" id="{83DAF768-6F87-4194-B55E-0747486DD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71475"/>
            <a:ext cx="1200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id: 12138</a:t>
            </a:r>
          </a:p>
        </p:txBody>
      </p:sp>
      <p:sp>
        <p:nvSpPr>
          <p:cNvPr id="34" name="mllm.1.caption">
            <a:extLst xmlns:a="http://schemas.openxmlformats.org/drawingml/2006/main">
              <a:ext uri="{FF2B5EF4-FFF2-40B4-BE49-F238E27FC236}">
                <a16:creationId xmlns:a16="http://schemas.microsoft.com/office/drawing/2014/main" id="{0A8BECFA-B562-47C0-882E-11D198F42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1432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111"/>
                </a:solidFill>
              </a:defRPr>
            </a:pPr>
            <a:r>
              <a:rPr sz="1275" b="1" i="0">
                <a:solidFill>
                  <a:srgbClr val="111111"/>
                </a:solidFill>
              </a:rPr>
              <a:t>(b) Learning to retrieve</a:t>
            </a:r>
          </a:p>
        </p:txBody>
      </p:sp>
      <p:sp>
        <p:nvSpPr>
          <p:cNvPr id="35" name="mllm.2.frame">
            <a:extLst xmlns:a="http://schemas.openxmlformats.org/drawingml/2006/main">
              <a:ext uri="{FF2B5EF4-FFF2-40B4-BE49-F238E27FC236}">
                <a16:creationId xmlns:a16="http://schemas.microsoft.com/office/drawing/2014/main" id="{C12284C8-0CC6-42A2-AE0C-20115D62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904875"/>
            <a:ext cx="2733675" cy="1323975"/>
          </a:xfrm>
          <a:prstGeom xmlns:a="http://schemas.openxmlformats.org/drawingml/2006/main" prst="roundRect">
            <a:avLst>
              <a:gd name="adj" fmla="val 5755"/>
            </a:avLst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555555"/>
            </a:solidFill>
            <a:prstDash val="solid"/>
          </a:ln>
        </p:spPr>
      </p:sp>
      <p:sp>
        <p:nvSpPr>
          <p:cNvPr id="36" name="mllm.2.title">
            <a:extLst xmlns:a="http://schemas.openxmlformats.org/drawingml/2006/main">
              <a:ext uri="{FF2B5EF4-FFF2-40B4-BE49-F238E27FC236}">
                <a16:creationId xmlns:a16="http://schemas.microsoft.com/office/drawing/2014/main" id="{6B88D592-F5BB-4B05-83CE-B9E726903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0287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111"/>
                </a:solidFill>
              </a:defRPr>
            </a:pPr>
            <a:r>
              <a:rPr sz="1275" b="1" i="0">
                <a:solidFill>
                  <a:srgbClr val="111111"/>
                </a:solidFill>
              </a:rPr>
              <a:t>MLLM</a:t>
            </a:r>
          </a:p>
        </p:txBody>
      </p:sp>
      <p:sp>
        <p:nvSpPr>
          <p:cNvPr id="37" name="mllm.2.visual.box">
            <a:extLst xmlns:a="http://schemas.openxmlformats.org/drawingml/2006/main">
              <a:ext uri="{FF2B5EF4-FFF2-40B4-BE49-F238E27FC236}">
                <a16:creationId xmlns:a16="http://schemas.microsoft.com/office/drawing/2014/main" id="{300EC9BF-258C-4EFC-B71E-D3CAE31D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514475"/>
            <a:ext cx="12192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A8D9F0"/>
          </a:solidFill>
          <a:ln xmlns:a="http://schemas.openxmlformats.org/drawingml/2006/main" w="13335">
            <a:solidFill>
              <a:srgbClr val="058AC1"/>
            </a:solidFill>
            <a:prstDash val="solid"/>
          </a:ln>
        </p:spPr>
      </p:sp>
      <p:sp>
        <p:nvSpPr>
          <p:cNvPr id="38" name="mllm.2.visual.text">
            <a:extLst xmlns:a="http://schemas.openxmlformats.org/drawingml/2006/main">
              <a:ext uri="{FF2B5EF4-FFF2-40B4-BE49-F238E27FC236}">
                <a16:creationId xmlns:a16="http://schemas.microsoft.com/office/drawing/2014/main" id="{397AA67F-192C-476E-BAF0-49C8FEECC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514475"/>
            <a:ext cx="1219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111"/>
                </a:solidFill>
              </a:defRPr>
            </a:pPr>
            <a:r>
              <a:rPr sz="1275" b="1" i="0">
                <a:solidFill>
                  <a:srgbClr val="111111"/>
                </a:solidFill>
              </a:rPr>
              <a:t>Visual</a:t>
            </a:r>
          </a:p>
          <a:p xmlns:a="http://schemas.openxmlformats.org/drawingml/2006/main">
            <a:pPr algn="ctr">
              <a:defRPr sz="1275" b="1" i="0">
                <a:solidFill>
                  <a:srgbClr val="111111"/>
                </a:solidFill>
              </a:defRPr>
            </a:pPr>
            <a:r>
              <a:rPr sz="1275" b="1" i="0">
                <a:solidFill>
                  <a:srgbClr val="111111"/>
                </a:solidFill>
              </a:rPr>
              <a:t>Encoder</a:t>
            </a:r>
          </a:p>
        </p:txBody>
      </p:sp>
      <p:sp>
        <p:nvSpPr>
          <p:cNvPr id="39" name="mllm.2.language.box">
            <a:extLst xmlns:a="http://schemas.openxmlformats.org/drawingml/2006/main">
              <a:ext uri="{FF2B5EF4-FFF2-40B4-BE49-F238E27FC236}">
                <a16:creationId xmlns:a16="http://schemas.microsoft.com/office/drawing/2014/main" id="{E9165483-6D07-49A2-BC3A-B7EC6AA65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038225"/>
            <a:ext cx="1028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DBB0"/>
          </a:solidFill>
          <a:ln xmlns:a="http://schemas.openxmlformats.org/drawingml/2006/main" w="13335">
            <a:solidFill>
              <a:srgbClr val="DF7800"/>
            </a:solidFill>
            <a:prstDash val="solid"/>
          </a:ln>
        </p:spPr>
      </p:sp>
      <p:sp>
        <p:nvSpPr>
          <p:cNvPr id="40" name="mllm.2.language.text">
            <a:extLst xmlns:a="http://schemas.openxmlformats.org/drawingml/2006/main">
              <a:ext uri="{FF2B5EF4-FFF2-40B4-BE49-F238E27FC236}">
                <a16:creationId xmlns:a16="http://schemas.microsoft.com/office/drawing/2014/main" id="{7A45FB61-8C29-461E-9AF1-0775D1E26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038225"/>
            <a:ext cx="1028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111"/>
                </a:solidFill>
              </a:defRPr>
            </a:pPr>
            <a:r>
              <a:rPr sz="1275" b="1" i="0">
                <a:solidFill>
                  <a:srgbClr val="111111"/>
                </a:solidFill>
              </a:rPr>
              <a:t>Language</a:t>
            </a:r>
          </a:p>
          <a:p xmlns:a="http://schemas.openxmlformats.org/drawingml/2006/main">
            <a:pPr algn="ctr">
              <a:defRPr sz="1275" b="1" i="0">
                <a:solidFill>
                  <a:srgbClr val="111111"/>
                </a:solidFill>
              </a:defRPr>
            </a:pPr>
            <a:r>
              <a:rPr sz="1275" b="1" i="0">
                <a:solidFill>
                  <a:srgbClr val="111111"/>
                </a:solidFill>
              </a:rPr>
              <a:t>Model</a:t>
            </a:r>
          </a:p>
        </p:txBody>
      </p:sp>
      <p:sp>
        <p:nvSpPr>
          <p:cNvPr id="41" name="mllm.2.visual-language.shaft">
            <a:extLst xmlns:a="http://schemas.openxmlformats.org/drawingml/2006/main">
              <a:ext uri="{FF2B5EF4-FFF2-40B4-BE49-F238E27FC236}">
                <a16:creationId xmlns:a16="http://schemas.microsoft.com/office/drawing/2014/main" id="{66779CEA-1347-400A-93F3-DC8C05EC2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01125" y="1381125"/>
            <a:ext cx="14744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42" name="mllm.2.visual-language.head">
            <a:extLst xmlns:a="http://schemas.openxmlformats.org/drawingml/2006/main">
              <a:ext uri="{FF2B5EF4-FFF2-40B4-BE49-F238E27FC236}">
                <a16:creationId xmlns:a16="http://schemas.microsoft.com/office/drawing/2014/main" id="{E8F35E4E-ABBC-4BA3-BE85-2B950F5B5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144000" y="13239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3" name="mllm.2.input-visual.shaft">
            <a:extLst xmlns:a="http://schemas.openxmlformats.org/drawingml/2006/main">
              <a:ext uri="{FF2B5EF4-FFF2-40B4-BE49-F238E27FC236}">
                <a16:creationId xmlns:a16="http://schemas.microsoft.com/office/drawing/2014/main" id="{2CB7EA82-0273-4261-9041-B1DC85074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8241602" y="2326577"/>
            <a:ext cx="29984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44" name="mllm.2.input-visual.head">
            <a:extLst xmlns:a="http://schemas.openxmlformats.org/drawingml/2006/main">
              <a:ext uri="{FF2B5EF4-FFF2-40B4-BE49-F238E27FC236}">
                <a16:creationId xmlns:a16="http://schemas.microsoft.com/office/drawing/2014/main" id="{A5D46F91-ABCA-4EC5-96E8-9967DAB0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34375" y="20669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5" name="mllm.2.query-language.shaft">
            <a:extLst xmlns:a="http://schemas.openxmlformats.org/drawingml/2006/main">
              <a:ext uri="{FF2B5EF4-FFF2-40B4-BE49-F238E27FC236}">
                <a16:creationId xmlns:a16="http://schemas.microsoft.com/office/drawing/2014/main" id="{92ADEE6F-43EE-493C-8E01-1E66B8AA3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9398889" y="2093214"/>
            <a:ext cx="63322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46" name="mllm.2.query-language.head">
            <a:extLst xmlns:a="http://schemas.openxmlformats.org/drawingml/2006/main">
              <a:ext uri="{FF2B5EF4-FFF2-40B4-BE49-F238E27FC236}">
                <a16:creationId xmlns:a16="http://schemas.microsoft.com/office/drawing/2014/main" id="{FCF815F4-814D-4DE0-B0BB-6CFFBFC71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58350" y="16668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7" name="mllm.2.identifier.shaft">
            <a:extLst xmlns:a="http://schemas.openxmlformats.org/drawingml/2006/main">
              <a:ext uri="{FF2B5EF4-FFF2-40B4-BE49-F238E27FC236}">
                <a16:creationId xmlns:a16="http://schemas.microsoft.com/office/drawing/2014/main" id="{9D2BAD63-1D1A-4E9B-B63C-961B15CD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9565577" y="888301"/>
            <a:ext cx="29984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48" name="mllm.2.identifier.head">
            <a:extLst xmlns:a="http://schemas.openxmlformats.org/drawingml/2006/main">
              <a:ext uri="{FF2B5EF4-FFF2-40B4-BE49-F238E27FC236}">
                <a16:creationId xmlns:a16="http://schemas.microsoft.com/office/drawing/2014/main" id="{20062998-8F70-4AD1-AA50-37C110B5E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58350" y="6286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9" name="mllm.2.id">
            <a:extLst xmlns:a="http://schemas.openxmlformats.org/drawingml/2006/main">
              <a:ext uri="{FF2B5EF4-FFF2-40B4-BE49-F238E27FC236}">
                <a16:creationId xmlns:a16="http://schemas.microsoft.com/office/drawing/2014/main" id="{26B18650-6F65-4892-9F5E-5AB37DB1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71475"/>
            <a:ext cx="1200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111"/>
                </a:solidFill>
              </a:defRPr>
            </a:pPr>
            <a:r>
              <a:rPr sz="1350" b="1" i="0">
                <a:solidFill>
                  <a:srgbClr val="111111"/>
                </a:solidFill>
              </a:rPr>
              <a:t>id: 13768</a:t>
            </a:r>
          </a:p>
        </p:txBody>
      </p:sp>
      <p:sp>
        <p:nvSpPr>
          <p:cNvPr id="50" name="mllm.2.caption">
            <a:extLst xmlns:a="http://schemas.openxmlformats.org/drawingml/2006/main">
              <a:ext uri="{FF2B5EF4-FFF2-40B4-BE49-F238E27FC236}">
                <a16:creationId xmlns:a16="http://schemas.microsoft.com/office/drawing/2014/main" id="{D623B21D-DE5D-42F9-8F1C-AFFBBAD62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432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111"/>
                </a:solidFill>
              </a:defRPr>
            </a:pPr>
            <a:r>
              <a:rPr sz="1275" b="1" i="0">
                <a:solidFill>
                  <a:srgbClr val="111111"/>
                </a:solidFill>
              </a:rPr>
              <a:t>(c) Inference</a:t>
            </a:r>
          </a:p>
        </p:txBody>
      </p:sp>
      <p:pic>
        <p:nvPicPr>
          <p:cNvPr id="1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4680e3017b46b5"/>
          <a:stretch xmlns:a="http://schemas.openxmlformats.org/drawingml/2006/main"/>
        </p:blipFill>
        <p:spPr>
          <a:xfrm xmlns:a="http://schemas.openxmlformats.org/drawingml/2006/main">
            <a:off x="800100" y="2486025"/>
            <a:ext cx="923925" cy="619125"/>
          </a:xfrm>
          <a:prstGeom xmlns:a="http://schemas.openxmlformats.org/drawingml/2006/main" prst="rect">
            <a:avLst/>
          </a:prstGeom>
        </p:spPr>
      </p:pic>
      <p:pic>
        <p:nvPicPr>
          <p:cNvPr id="1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1427ef55284207"/>
          <a:stretch xmlns:a="http://schemas.openxmlformats.org/drawingml/2006/main"/>
        </p:blipFill>
        <p:spPr>
          <a:xfrm xmlns:a="http://schemas.openxmlformats.org/drawingml/2006/main">
            <a:off x="7915275" y="133350"/>
            <a:ext cx="942975" cy="666750"/>
          </a:xfrm>
          <a:prstGeom xmlns:a="http://schemas.openxmlformats.org/drawingml/2006/main" prst="rect">
            <a:avLst/>
          </a:prstGeom>
        </p:spPr>
      </p:pic>
      <p:sp>
        <p:nvSpPr>
          <p:cNvPr id="53" name="inference.image-id.shaft">
            <a:extLst xmlns:a="http://schemas.openxmlformats.org/drawingml/2006/main">
              <a:ext uri="{FF2B5EF4-FFF2-40B4-BE49-F238E27FC236}">
                <a16:creationId xmlns:a16="http://schemas.microsoft.com/office/drawing/2014/main" id="{5FD3917F-FA04-4521-B700-8C3F52553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96350" y="552450"/>
            <a:ext cx="2712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dash"/>
          </a:ln>
        </p:spPr>
      </p:sp>
      <p:sp>
        <p:nvSpPr>
          <p:cNvPr id="54" name="inference.image-id.head">
            <a:extLst xmlns:a="http://schemas.openxmlformats.org/drawingml/2006/main">
              <a:ext uri="{FF2B5EF4-FFF2-40B4-BE49-F238E27FC236}">
                <a16:creationId xmlns:a16="http://schemas.microsoft.com/office/drawing/2014/main" id="{57F06C18-F8B6-4066-8A2C-B3A265B46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163050" y="4953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55" name="memorize.prompt">
            <a:extLst xmlns:a="http://schemas.openxmlformats.org/drawingml/2006/main">
              <a:ext uri="{FF2B5EF4-FFF2-40B4-BE49-F238E27FC236}">
                <a16:creationId xmlns:a16="http://schemas.microsoft.com/office/drawing/2014/main" id="{046CD1BB-C2F4-40DA-A943-8161F8C96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381250"/>
            <a:ext cx="171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111"/>
                </a:solidFill>
              </a:defRPr>
            </a:pPr>
            <a:r>
              <a:rPr sz="1200" b="1" i="0">
                <a:solidFill>
                  <a:srgbClr val="111111"/>
                </a:solidFill>
              </a:rPr>
              <a:t>Predict the identifier</a:t>
            </a:r>
          </a:p>
          <a:p xmlns:a="http://schemas.openxmlformats.org/drawingml/2006/main">
            <a:pPr algn="ctr">
              <a:defRPr sz="1200" b="1" i="0">
                <a:solidFill>
                  <a:srgbClr val="111111"/>
                </a:solidFill>
              </a:defRPr>
            </a:pPr>
            <a:r>
              <a:rPr sz="1200" b="1" i="0">
                <a:solidFill>
                  <a:srgbClr val="111111"/>
                </a:solidFill>
              </a:rPr>
              <a:t>for the &lt;image&gt;</a:t>
            </a:r>
          </a:p>
        </p:txBody>
      </p:sp>
      <p:sp>
        <p:nvSpPr>
          <p:cNvPr id="56" name="retrieve.prompt">
            <a:extLst xmlns:a="http://schemas.openxmlformats.org/drawingml/2006/main">
              <a:ext uri="{FF2B5EF4-FFF2-40B4-BE49-F238E27FC236}">
                <a16:creationId xmlns:a16="http://schemas.microsoft.com/office/drawing/2014/main" id="{F25D95B4-1055-419A-AA00-4AF29D76E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343150"/>
            <a:ext cx="23336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11111"/>
                </a:solidFill>
              </a:defRPr>
            </a:pPr>
            <a:r>
              <a:rPr sz="1125" b="1" i="0">
                <a:solidFill>
                  <a:srgbClr val="111111"/>
                </a:solidFill>
              </a:rPr>
              <a:t>Predict the image identifier</a:t>
            </a:r>
          </a:p>
          <a:p xmlns:a="http://schemas.openxmlformats.org/drawingml/2006/main">
            <a:pPr algn="ctr">
              <a:defRPr sz="1125" b="1" i="0">
                <a:solidFill>
                  <a:srgbClr val="111111"/>
                </a:solidFill>
              </a:defRPr>
            </a:pPr>
            <a:r>
              <a:rPr sz="1125" b="1" i="0">
                <a:solidFill>
                  <a:srgbClr val="111111"/>
                </a:solidFill>
              </a:rPr>
              <a:t>corresponding to the given</a:t>
            </a:r>
          </a:p>
          <a:p xmlns:a="http://schemas.openxmlformats.org/drawingml/2006/main">
            <a:pPr algn="ctr">
              <a:defRPr sz="1125" b="1" i="0">
                <a:solidFill>
                  <a:srgbClr val="111111"/>
                </a:solidFill>
              </a:defRPr>
            </a:pPr>
            <a:r>
              <a:rPr sz="1125" b="1" i="0">
                <a:solidFill>
                  <a:srgbClr val="111111"/>
                </a:solidFill>
              </a:rPr>
              <a:t>query: A girl hops across</a:t>
            </a:r>
          </a:p>
          <a:p xmlns:a="http://schemas.openxmlformats.org/drawingml/2006/main">
            <a:pPr algn="ctr">
              <a:defRPr sz="1125" b="1" i="0">
                <a:solidFill>
                  <a:srgbClr val="111111"/>
                </a:solidFill>
              </a:defRPr>
            </a:pPr>
            <a:r>
              <a:rPr sz="1125" b="1" i="0">
                <a:solidFill>
                  <a:srgbClr val="111111"/>
                </a:solidFill>
              </a:rPr>
              <a:t>the river, from rock to rock.</a:t>
            </a:r>
          </a:p>
        </p:txBody>
      </p:sp>
      <p:sp>
        <p:nvSpPr>
          <p:cNvPr id="57" name="inference.prompt">
            <a:extLst xmlns:a="http://schemas.openxmlformats.org/drawingml/2006/main">
              <a:ext uri="{FF2B5EF4-FFF2-40B4-BE49-F238E27FC236}">
                <a16:creationId xmlns:a16="http://schemas.microsoft.com/office/drawing/2014/main" id="{312C43CE-2DDC-4987-A2F0-007A08948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24100"/>
            <a:ext cx="26479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11111"/>
                </a:solidFill>
              </a:defRPr>
            </a:pPr>
            <a:r>
              <a:rPr sz="1125" b="1" i="0">
                <a:solidFill>
                  <a:srgbClr val="111111"/>
                </a:solidFill>
              </a:rPr>
              <a:t>Predict the image identifier</a:t>
            </a:r>
          </a:p>
          <a:p xmlns:a="http://schemas.openxmlformats.org/drawingml/2006/main">
            <a:pPr algn="ctr">
              <a:defRPr sz="1125" b="1" i="0">
                <a:solidFill>
                  <a:srgbClr val="111111"/>
                </a:solidFill>
              </a:defRPr>
            </a:pPr>
            <a:r>
              <a:rPr sz="1125" b="1" i="0">
                <a:solidFill>
                  <a:srgbClr val="111111"/>
                </a:solidFill>
              </a:rPr>
              <a:t>corresponding to the given query:</a:t>
            </a:r>
          </a:p>
          <a:p xmlns:a="http://schemas.openxmlformats.org/drawingml/2006/main">
            <a:pPr algn="ctr">
              <a:defRPr sz="1125" b="1" i="0">
                <a:solidFill>
                  <a:srgbClr val="111111"/>
                </a:solidFill>
              </a:defRPr>
            </a:pPr>
            <a:r>
              <a:rPr sz="1125" b="1" i="0">
                <a:solidFill>
                  <a:srgbClr val="111111"/>
                </a:solidFill>
              </a:rPr>
              <a:t>Three dogs play together in a field.</a:t>
            </a:r>
          </a:p>
        </p:txBody>
      </p:sp>
    </p:spTree>
    <p:extLst>
      <p:ext uri="{BB962C8B-B14F-4D97-AF65-F5344CB8AC3E}">
        <p14:creationId xmlns:p14="http://schemas.microsoft.com/office/powerpoint/2010/main" val="18521478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2026-07-31T03:06:59.7260000Z</dcterms:created>
  <dcterms:modified xsi:type="dcterms:W3CDTF">2026-07-31T03:06:59.7260000Z</dcterms:modified>
</coreProperties>
</file>