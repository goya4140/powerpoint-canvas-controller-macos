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e0518ab8fa45a4" /><Relationship Type="http://schemas.openxmlformats.org/officeDocument/2006/relationships/extended-properties" Target="/docProps/app.xml" Id="R2c821df0ca7d4d59" /><Relationship Type="http://schemas.openxmlformats.org/officeDocument/2006/relationships/officeDocument" Target="/ppt/presentation.xml" Id="Re62ac107ce0445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e99f94b2d4ab9"/>
  </p:sldMasterIdLst>
  <p:notesMasterIdLst>
    <p:notesMasterId xmlns:r="http://schemas.openxmlformats.org/officeDocument/2006/relationships" r:id="R3e1e4068c65542a3"/>
  </p:notesMasterIdLst>
  <p:sldIdLst>
    <p:sldId xmlns:r="http://schemas.openxmlformats.org/officeDocument/2006/relationships" id="256" r:id="R07c4e413130e4676"/>
  </p:sldIdLst>
  <p:sldSz cx="12058650" cy="3314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58f1943f54048" /><Relationship Type="http://schemas.openxmlformats.org/officeDocument/2006/relationships/slideMaster" Target="/ppt/slideMasters/slideMaster1.xml" Id="R902e99f94b2d4ab9" /><Relationship Type="http://schemas.openxmlformats.org/officeDocument/2006/relationships/notesMaster" Target="/ppt/notesMasters/notesMaster1.xml" Id="R3e1e4068c65542a3" /><Relationship Type="http://schemas.openxmlformats.org/officeDocument/2006/relationships/presProps" Target="/ppt/presProps.xml" Id="Ra52e7aa80a1f4b05" /><Relationship Type="http://schemas.openxmlformats.org/officeDocument/2006/relationships/tableStyles" Target="/ppt/tableStyles.xml" Id="Rcd932f592e0c49f4" /><Relationship Type="http://schemas.openxmlformats.org/officeDocument/2006/relationships/slide" Target="/ppt/slides/slide1.xml" Id="R07c4e413130e46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686f966f9144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2537d45118499c" /><Relationship Type="http://schemas.openxmlformats.org/officeDocument/2006/relationships/notesMaster" Target="/ppt/notesMasters/notesMaster1.xml" Id="Rfd518e41a4c046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https://openaccess.thecvf.com/content/CVPR2024/html/Huang_HumanNorm_Learning_Normal_Diffusion_Model_for_High-quality_and_Realistic_3D_CVPR_2024_paper.html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dc8f502f943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00b6d8532441ec" /><Relationship Type="http://schemas.openxmlformats.org/officeDocument/2006/relationships/slideLayout" Target="/ppt/slideLayouts/slideLayout1.xml" Id="R159c7f9c2ba44d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9c7f9c2ba44d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f3832e8f94cd0" /><Relationship Type="http://schemas.openxmlformats.org/officeDocument/2006/relationships/image" Target="/ppt/media/image.png" Id="Rc4c946ca3d4d4154" /><Relationship Type="http://schemas.openxmlformats.org/officeDocument/2006/relationships/image" Target="/ppt/media/image2.png" Id="R8705004c19ad4744" /><Relationship Type="http://schemas.openxmlformats.org/officeDocument/2006/relationships/image" Target="/ppt/media/image3.png" Id="R17594e3847d548cb" /><Relationship Type="http://schemas.openxmlformats.org/officeDocument/2006/relationships/image" Target="/ppt/media/image4.png" Id="R14a8f01a134f4c22" /><Relationship Type="http://schemas.openxmlformats.org/officeDocument/2006/relationships/image" Target="/ppt/media/image5.png" Id="Rc83ba56e53cf4295" /><Relationship Type="http://schemas.openxmlformats.org/officeDocument/2006/relationships/image" Target="/ppt/media/image6.png" Id="Rbd0b66d574494027" /><Relationship Type="http://schemas.openxmlformats.org/officeDocument/2006/relationships/image" Target="/ppt/media/image7.png" Id="Rb6635cf033f54445" /><Relationship Type="http://schemas.openxmlformats.org/officeDocument/2006/relationships/image" Target="/ppt/media/image8.png" Id="Rdddb2359137747dc" /><Relationship Type="http://schemas.openxmlformats.org/officeDocument/2006/relationships/image" Target="/ppt/media/image9.png" Id="R90973976b8994339" /><Relationship Type="http://schemas.openxmlformats.org/officeDocument/2006/relationships/image" Target="/ppt/media/image10.png" Id="R5ea1e3caeb174973" /><Relationship Type="http://schemas.openxmlformats.org/officeDocument/2006/relationships/image" Target="/ppt/media/image11.png" Id="Rd6b7f80b5ea24605" /><Relationship Type="http://schemas.openxmlformats.org/officeDocument/2006/relationships/image" Target="/ppt/media/image12.png" Id="Rc3a074d5abca4091" /><Relationship Type="http://schemas.openxmlformats.org/officeDocument/2006/relationships/image" Target="/ppt/media/image13.png" Id="R5fee0eeb0ff84bcb" /><Relationship Type="http://schemas.openxmlformats.org/officeDocument/2006/relationships/image" Target="/ppt/media/image14.png" Id="R5d26b786d5cb421b" /><Relationship Type="http://schemas.openxmlformats.org/officeDocument/2006/relationships/notesSlide" Target="/ppt/notesSlides/notesSlide1.xml" Id="R83883503a2d24d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eometry.bg">
            <a:extLst xmlns:a="http://schemas.openxmlformats.org/drawingml/2006/main">
              <a:ext uri="{FF2B5EF4-FFF2-40B4-BE49-F238E27FC236}">
                <a16:creationId xmlns:a16="http://schemas.microsoft.com/office/drawing/2014/main" id="{62FC71F0-2699-447A-B86B-D979D229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2875"/>
            <a:ext cx="587692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FAF4"/>
          </a:solidFill>
          <a:ln xmlns:a="http://schemas.openxmlformats.org/drawingml/2006/main" w="11430">
            <a:solidFill>
              <a:srgbClr val="AAAAAA"/>
            </a:solidFill>
            <a:prstDash val="solid"/>
          </a:ln>
        </p:spPr>
      </p:sp>
      <p:sp>
        <p:nvSpPr>
          <p:cNvPr id="2" name="texture.bg">
            <a:extLst xmlns:a="http://schemas.openxmlformats.org/drawingml/2006/main">
              <a:ext uri="{FF2B5EF4-FFF2-40B4-BE49-F238E27FC236}">
                <a16:creationId xmlns:a16="http://schemas.microsoft.com/office/drawing/2014/main" id="{4D5FFF68-D8A5-41E0-BBA3-6E46A59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"/>
            <a:ext cx="587692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1430">
            <a:solidFill>
              <a:srgbClr val="AAAAAA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946ca3d4d4154"/>
          <a:stretch xmlns:a="http://schemas.openxmlformats.org/drawingml/2006/main"/>
        </p:blipFill>
        <p:spPr>
          <a:xfrm xmlns:a="http://schemas.openxmlformats.org/drawingml/2006/main">
            <a:off x="428625" y="533400"/>
            <a:ext cx="1285875" cy="1466850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5004c19ad4744"/>
          <a:stretch xmlns:a="http://schemas.openxmlformats.org/drawingml/2006/main"/>
        </p:blipFill>
        <p:spPr>
          <a:xfrm xmlns:a="http://schemas.openxmlformats.org/drawingml/2006/main">
            <a:off x="2143125" y="447675"/>
            <a:ext cx="800100" cy="876300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94e3847d548cb"/>
          <a:stretch xmlns:a="http://schemas.openxmlformats.org/drawingml/2006/main"/>
        </p:blipFill>
        <p:spPr>
          <a:xfrm xmlns:a="http://schemas.openxmlformats.org/drawingml/2006/main">
            <a:off x="2143125" y="1562100"/>
            <a:ext cx="800100" cy="866775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8f01a134f4c22"/>
          <a:stretch xmlns:a="http://schemas.openxmlformats.org/drawingml/2006/main"/>
        </p:blipFill>
        <p:spPr>
          <a:xfrm xmlns:a="http://schemas.openxmlformats.org/drawingml/2006/main">
            <a:off x="3429000" y="676275"/>
            <a:ext cx="904875" cy="638175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ba56e53cf4295"/>
          <a:stretch xmlns:a="http://schemas.openxmlformats.org/drawingml/2006/main"/>
        </p:blipFill>
        <p:spPr>
          <a:xfrm xmlns:a="http://schemas.openxmlformats.org/drawingml/2006/main">
            <a:off x="3429000" y="1762125"/>
            <a:ext cx="904875" cy="638175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b66d574494027"/>
          <a:stretch xmlns:a="http://schemas.openxmlformats.org/drawingml/2006/main"/>
        </p:blipFill>
        <p:spPr>
          <a:xfrm xmlns:a="http://schemas.openxmlformats.org/drawingml/2006/main">
            <a:off x="4552950" y="762000"/>
            <a:ext cx="1400175" cy="55245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35cf033f54445"/>
          <a:stretch xmlns:a="http://schemas.openxmlformats.org/drawingml/2006/main"/>
        </p:blipFill>
        <p:spPr>
          <a:xfrm xmlns:a="http://schemas.openxmlformats.org/drawingml/2006/main">
            <a:off x="4552950" y="1724025"/>
            <a:ext cx="1400175" cy="55245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b2359137747dc"/>
          <a:stretch xmlns:a="http://schemas.openxmlformats.org/drawingml/2006/main"/>
        </p:blipFill>
        <p:spPr>
          <a:xfrm xmlns:a="http://schemas.openxmlformats.org/drawingml/2006/main">
            <a:off x="6362700" y="552450"/>
            <a:ext cx="1285875" cy="1466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73976b8994339"/>
          <a:stretch xmlns:a="http://schemas.openxmlformats.org/drawingml/2006/main"/>
        </p:blipFill>
        <p:spPr>
          <a:xfrm xmlns:a="http://schemas.openxmlformats.org/drawingml/2006/main">
            <a:off x="7953375" y="438150"/>
            <a:ext cx="800100" cy="8763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1e3caeb174973"/>
          <a:stretch xmlns:a="http://schemas.openxmlformats.org/drawingml/2006/main"/>
        </p:blipFill>
        <p:spPr>
          <a:xfrm xmlns:a="http://schemas.openxmlformats.org/drawingml/2006/main">
            <a:off x="7953375" y="1562100"/>
            <a:ext cx="800100" cy="86677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7f80b5ea24605"/>
          <a:stretch xmlns:a="http://schemas.openxmlformats.org/drawingml/2006/main"/>
        </p:blipFill>
        <p:spPr>
          <a:xfrm xmlns:a="http://schemas.openxmlformats.org/drawingml/2006/main">
            <a:off x="9220200" y="733425"/>
            <a:ext cx="952500" cy="857250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074d5abca4091"/>
          <a:stretch xmlns:a="http://schemas.openxmlformats.org/drawingml/2006/main"/>
        </p:blipFill>
        <p:spPr>
          <a:xfrm xmlns:a="http://schemas.openxmlformats.org/drawingml/2006/main">
            <a:off x="10458450" y="762000"/>
            <a:ext cx="1390650" cy="5715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e0eeb0ff84bcb"/>
          <a:stretch xmlns:a="http://schemas.openxmlformats.org/drawingml/2006/main"/>
        </p:blipFill>
        <p:spPr>
          <a:xfrm xmlns:a="http://schemas.openxmlformats.org/drawingml/2006/main">
            <a:off x="10639425" y="1657350"/>
            <a:ext cx="904875" cy="809625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6b786d5cb421b"/>
          <a:stretch xmlns:a="http://schemas.openxmlformats.org/drawingml/2006/main"/>
        </p:blipFill>
        <p:spPr>
          <a:xfrm xmlns:a="http://schemas.openxmlformats.org/drawingml/2006/main">
            <a:off x="9001125" y="1924050"/>
            <a:ext cx="1676400" cy="590550"/>
          </a:xfrm>
          <a:prstGeom xmlns:a="http://schemas.openxmlformats.org/drawingml/2006/main" prst="rect">
            <a:avLst/>
          </a:prstGeom>
        </p:spPr>
      </p:pic>
      <p:sp>
        <p:nvSpPr>
          <p:cNvPr id="17" name="geometry.back.top.segment.0">
            <a:extLst xmlns:a="http://schemas.openxmlformats.org/drawingml/2006/main">
              <a:ext uri="{FF2B5EF4-FFF2-40B4-BE49-F238E27FC236}">
                <a16:creationId xmlns:a16="http://schemas.microsoft.com/office/drawing/2014/main" id="{47AE2968-D3F8-448A-946B-02620077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014913" y="509588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18" name="geometry.back.top.segment.1">
            <a:extLst xmlns:a="http://schemas.openxmlformats.org/drawingml/2006/main">
              <a:ext uri="{FF2B5EF4-FFF2-40B4-BE49-F238E27FC236}">
                <a16:creationId xmlns:a16="http://schemas.microsoft.com/office/drawing/2014/main" id="{F8027C14-FA9A-40ED-9D9E-21B150A1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47750" y="276225"/>
            <a:ext cx="420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19" name="geometry.back.top.end.shaft">
            <a:extLst xmlns:a="http://schemas.openxmlformats.org/drawingml/2006/main">
              <a:ext uri="{FF2B5EF4-FFF2-40B4-BE49-F238E27FC236}">
                <a16:creationId xmlns:a16="http://schemas.microsoft.com/office/drawing/2014/main" id="{7E54EF5B-7204-47F6-89ED-5FC2867E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1626" y="502349"/>
            <a:ext cx="452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20" name="geometry.back.top.end.head">
            <a:extLst xmlns:a="http://schemas.openxmlformats.org/drawingml/2006/main">
              <a:ext uri="{FF2B5EF4-FFF2-40B4-BE49-F238E27FC236}">
                <a16:creationId xmlns:a16="http://schemas.microsoft.com/office/drawing/2014/main" id="{F170E75C-95C0-4ACB-8035-9CE5815F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90600" y="723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geometry.back.bottom.segment.0">
            <a:extLst xmlns:a="http://schemas.openxmlformats.org/drawingml/2006/main">
              <a:ext uri="{FF2B5EF4-FFF2-40B4-BE49-F238E27FC236}">
                <a16:creationId xmlns:a16="http://schemas.microsoft.com/office/drawing/2014/main" id="{D1BFBB90-9DA3-4F2F-BCF5-C0859392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62538" y="2462213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22" name="geometry.back.bottom.segment.1">
            <a:extLst xmlns:a="http://schemas.openxmlformats.org/drawingml/2006/main">
              <a:ext uri="{FF2B5EF4-FFF2-40B4-BE49-F238E27FC236}">
                <a16:creationId xmlns:a16="http://schemas.microsoft.com/office/drawing/2014/main" id="{FD7C294B-586D-43D3-AB3F-EB7ACE42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47750" y="2647950"/>
            <a:ext cx="420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23" name="geometry.back.bottom.end.shaft">
            <a:extLst xmlns:a="http://schemas.openxmlformats.org/drawingml/2006/main">
              <a:ext uri="{FF2B5EF4-FFF2-40B4-BE49-F238E27FC236}">
                <a16:creationId xmlns:a16="http://schemas.microsoft.com/office/drawing/2014/main" id="{C303D4EA-4AA0-4761-842C-EB030370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54964" y="2455164"/>
            <a:ext cx="3855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24" name="geometry.back.bottom.end.head">
            <a:extLst xmlns:a="http://schemas.openxmlformats.org/drawingml/2006/main">
              <a:ext uri="{FF2B5EF4-FFF2-40B4-BE49-F238E27FC236}">
                <a16:creationId xmlns:a16="http://schemas.microsoft.com/office/drawing/2014/main" id="{786AAE6C-1C05-494C-83A8-FEF65944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152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geometry.dm-normal.shaft">
            <a:extLst xmlns:a="http://schemas.openxmlformats.org/drawingml/2006/main">
              <a:ext uri="{FF2B5EF4-FFF2-40B4-BE49-F238E27FC236}">
                <a16:creationId xmlns:a16="http://schemas.microsoft.com/office/drawing/2014/main" id="{BA1B1F58-488D-4D41-B905-9C33640E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1104900"/>
            <a:ext cx="3379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6" name="geometry.dm-normal.head">
            <a:extLst xmlns:a="http://schemas.openxmlformats.org/drawingml/2006/main">
              <a:ext uri="{FF2B5EF4-FFF2-40B4-BE49-F238E27FC236}">
                <a16:creationId xmlns:a16="http://schemas.microsoft.com/office/drawing/2014/main" id="{429CF789-7769-4FC4-A8C5-0FE6669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47875" y="1047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7" name="geometry.dm-depth.shaft">
            <a:extLst xmlns:a="http://schemas.openxmlformats.org/drawingml/2006/main">
              <a:ext uri="{FF2B5EF4-FFF2-40B4-BE49-F238E27FC236}">
                <a16:creationId xmlns:a16="http://schemas.microsoft.com/office/drawing/2014/main" id="{248400CC-363F-49DA-8039-EC7A2EA3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1952625"/>
            <a:ext cx="3379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8" name="geometry.dm-depth.head">
            <a:extLst xmlns:a="http://schemas.openxmlformats.org/drawingml/2006/main">
              <a:ext uri="{FF2B5EF4-FFF2-40B4-BE49-F238E27FC236}">
                <a16:creationId xmlns:a16="http://schemas.microsoft.com/office/drawing/2014/main" id="{5C01C20C-9316-48C2-89BB-69082D03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47875" y="1895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9" name="geometry.normal-model.shaft">
            <a:extLst xmlns:a="http://schemas.openxmlformats.org/drawingml/2006/main">
              <a:ext uri="{FF2B5EF4-FFF2-40B4-BE49-F238E27FC236}">
                <a16:creationId xmlns:a16="http://schemas.microsoft.com/office/drawing/2014/main" id="{DDB43F15-3393-4265-9293-31A2316A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866775"/>
            <a:ext cx="395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0" name="geometry.normal-model.head">
            <a:extLst xmlns:a="http://schemas.openxmlformats.org/drawingml/2006/main">
              <a:ext uri="{FF2B5EF4-FFF2-40B4-BE49-F238E27FC236}">
                <a16:creationId xmlns:a16="http://schemas.microsoft.com/office/drawing/2014/main" id="{BECE9077-EF1F-4504-8793-08F98804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33750" y="809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geometry.depth-model.shaft">
            <a:extLst xmlns:a="http://schemas.openxmlformats.org/drawingml/2006/main">
              <a:ext uri="{FF2B5EF4-FFF2-40B4-BE49-F238E27FC236}">
                <a16:creationId xmlns:a16="http://schemas.microsoft.com/office/drawing/2014/main" id="{D8088E7C-76BC-47FF-842B-F0EB887D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1990725"/>
            <a:ext cx="395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2" name="geometry.depth-model.head">
            <a:extLst xmlns:a="http://schemas.openxmlformats.org/drawingml/2006/main">
              <a:ext uri="{FF2B5EF4-FFF2-40B4-BE49-F238E27FC236}">
                <a16:creationId xmlns:a16="http://schemas.microsoft.com/office/drawing/2014/main" id="{D23D4E13-D07D-4ED2-BE05-A7D80C5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33750" y="1933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geometry.model-loss1.shaft">
            <a:extLst xmlns:a="http://schemas.openxmlformats.org/drawingml/2006/main">
              <a:ext uri="{FF2B5EF4-FFF2-40B4-BE49-F238E27FC236}">
                <a16:creationId xmlns:a16="http://schemas.microsoft.com/office/drawing/2014/main" id="{9FD3F337-2940-4182-AE44-79C204FB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990600"/>
            <a:ext cx="1283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4" name="geometry.model-loss1.head">
            <a:extLst xmlns:a="http://schemas.openxmlformats.org/drawingml/2006/main">
              <a:ext uri="{FF2B5EF4-FFF2-40B4-BE49-F238E27FC236}">
                <a16:creationId xmlns:a16="http://schemas.microsoft.com/office/drawing/2014/main" id="{F054F32F-1F82-4EA3-B9AF-1698DD12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57700" y="93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5" name="geometry.model-loss2.shaft">
            <a:extLst xmlns:a="http://schemas.openxmlformats.org/drawingml/2006/main">
              <a:ext uri="{FF2B5EF4-FFF2-40B4-BE49-F238E27FC236}">
                <a16:creationId xmlns:a16="http://schemas.microsoft.com/office/drawing/2014/main" id="{B829FAEF-915E-431C-888E-741FAE30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009775"/>
            <a:ext cx="1283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6" name="geometry.model-loss2.head">
            <a:extLst xmlns:a="http://schemas.openxmlformats.org/drawingml/2006/main">
              <a:ext uri="{FF2B5EF4-FFF2-40B4-BE49-F238E27FC236}">
                <a16:creationId xmlns:a16="http://schemas.microsoft.com/office/drawing/2014/main" id="{55B57DD0-A1C7-44D9-B831-65E03BDF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57700" y="1952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7" name="texture.back.top.segment.0">
            <a:extLst xmlns:a="http://schemas.openxmlformats.org/drawingml/2006/main">
              <a:ext uri="{FF2B5EF4-FFF2-40B4-BE49-F238E27FC236}">
                <a16:creationId xmlns:a16="http://schemas.microsoft.com/office/drawing/2014/main" id="{BE3ACD56-0A06-468C-AC01-BDCF123E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39463" y="519113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38" name="texture.back.top.segment.1">
            <a:extLst xmlns:a="http://schemas.openxmlformats.org/drawingml/2006/main">
              <a:ext uri="{FF2B5EF4-FFF2-40B4-BE49-F238E27FC236}">
                <a16:creationId xmlns:a16="http://schemas.microsoft.com/office/drawing/2014/main" id="{260E07CF-3BF6-40A8-A21C-48986100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991350" y="27622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39" name="texture.back.top.end.shaft">
            <a:extLst xmlns:a="http://schemas.openxmlformats.org/drawingml/2006/main">
              <a:ext uri="{FF2B5EF4-FFF2-40B4-BE49-F238E27FC236}">
                <a16:creationId xmlns:a16="http://schemas.microsoft.com/office/drawing/2014/main" id="{ACF1FA20-CB6A-440D-A868-69C70532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5227" y="502349"/>
            <a:ext cx="452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40" name="texture.back.top.end.head">
            <a:extLst xmlns:a="http://schemas.openxmlformats.org/drawingml/2006/main">
              <a:ext uri="{FF2B5EF4-FFF2-40B4-BE49-F238E27FC236}">
                <a16:creationId xmlns:a16="http://schemas.microsoft.com/office/drawing/2014/main" id="{F2F34B90-3C3B-4ABB-8F48-1FBA5AB3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934200" y="723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1" name="texture.back.bottom.segment.0">
            <a:extLst xmlns:a="http://schemas.openxmlformats.org/drawingml/2006/main">
              <a:ext uri="{FF2B5EF4-FFF2-40B4-BE49-F238E27FC236}">
                <a16:creationId xmlns:a16="http://schemas.microsoft.com/office/drawing/2014/main" id="{0F638D1C-29FD-40B2-BB3C-60CAD3B0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548938" y="2557463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42" name="texture.back.bottom.segment.1">
            <a:extLst xmlns:a="http://schemas.openxmlformats.org/drawingml/2006/main">
              <a:ext uri="{FF2B5EF4-FFF2-40B4-BE49-F238E27FC236}">
                <a16:creationId xmlns:a16="http://schemas.microsoft.com/office/drawing/2014/main" id="{5AC3BC68-8396-47A1-B3A5-F95D8B9A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991350" y="2647950"/>
            <a:ext cx="364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43" name="texture.back.bottom.end.shaft">
            <a:extLst xmlns:a="http://schemas.openxmlformats.org/drawingml/2006/main">
              <a:ext uri="{FF2B5EF4-FFF2-40B4-BE49-F238E27FC236}">
                <a16:creationId xmlns:a16="http://schemas.microsoft.com/office/drawing/2014/main" id="{5283A616-5220-4B03-9502-19A70C8D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798564" y="2455164"/>
            <a:ext cx="3855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44" name="texture.back.bottom.end.head">
            <a:extLst xmlns:a="http://schemas.openxmlformats.org/drawingml/2006/main">
              <a:ext uri="{FF2B5EF4-FFF2-40B4-BE49-F238E27FC236}">
                <a16:creationId xmlns:a16="http://schemas.microsoft.com/office/drawing/2014/main" id="{E7B315AB-10BB-40A1-9FCD-A5878BB5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152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5" name="texture.dm-normal.shaft">
            <a:extLst xmlns:a="http://schemas.openxmlformats.org/drawingml/2006/main">
              <a:ext uri="{FF2B5EF4-FFF2-40B4-BE49-F238E27FC236}">
                <a16:creationId xmlns:a16="http://schemas.microsoft.com/office/drawing/2014/main" id="{95F5D2EE-732D-4B3B-9F57-09C5D229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1104900"/>
            <a:ext cx="2141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6" name="texture.dm-normal.head">
            <a:extLst xmlns:a="http://schemas.openxmlformats.org/drawingml/2006/main">
              <a:ext uri="{FF2B5EF4-FFF2-40B4-BE49-F238E27FC236}">
                <a16:creationId xmlns:a16="http://schemas.microsoft.com/office/drawing/2014/main" id="{FC383F04-FAE2-45D3-93D6-012DDD8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8125" y="1047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7" name="texture.dm-color.shaft">
            <a:extLst xmlns:a="http://schemas.openxmlformats.org/drawingml/2006/main">
              <a:ext uri="{FF2B5EF4-FFF2-40B4-BE49-F238E27FC236}">
                <a16:creationId xmlns:a16="http://schemas.microsoft.com/office/drawing/2014/main" id="{CA79D596-84D4-44CD-A5D4-532822F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1952625"/>
            <a:ext cx="2141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8" name="texture.dm-color.head">
            <a:extLst xmlns:a="http://schemas.openxmlformats.org/drawingml/2006/main">
              <a:ext uri="{FF2B5EF4-FFF2-40B4-BE49-F238E27FC236}">
                <a16:creationId xmlns:a16="http://schemas.microsoft.com/office/drawing/2014/main" id="{6FADA6A4-EA2E-4581-8C2D-F817B8F2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8125" y="1895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9" name="texture.normal-model.shaft">
            <a:extLst xmlns:a="http://schemas.openxmlformats.org/drawingml/2006/main">
              <a:ext uri="{FF2B5EF4-FFF2-40B4-BE49-F238E27FC236}">
                <a16:creationId xmlns:a16="http://schemas.microsoft.com/office/drawing/2014/main" id="{8B736316-8796-4C2A-A6C1-06637CDD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866775"/>
            <a:ext cx="3760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0" name="texture.normal-model.head">
            <a:extLst xmlns:a="http://schemas.openxmlformats.org/drawingml/2006/main">
              <a:ext uri="{FF2B5EF4-FFF2-40B4-BE49-F238E27FC236}">
                <a16:creationId xmlns:a16="http://schemas.microsoft.com/office/drawing/2014/main" id="{1872EA4E-89ED-4B7C-9CCE-52E4A49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24950" y="809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1" name="texture.color-model.shaft">
            <a:extLst xmlns:a="http://schemas.openxmlformats.org/drawingml/2006/main">
              <a:ext uri="{FF2B5EF4-FFF2-40B4-BE49-F238E27FC236}">
                <a16:creationId xmlns:a16="http://schemas.microsoft.com/office/drawing/2014/main" id="{8B78EAA9-2BC9-4A74-8F8F-8E12B19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1990725"/>
            <a:ext cx="3760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2" name="texture.color-model.head">
            <a:extLst xmlns:a="http://schemas.openxmlformats.org/drawingml/2006/main">
              <a:ext uri="{FF2B5EF4-FFF2-40B4-BE49-F238E27FC236}">
                <a16:creationId xmlns:a16="http://schemas.microsoft.com/office/drawing/2014/main" id="{00EC65A9-8C6B-4BA7-B17C-DBB27865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24950" y="1933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3" name="texture.model-loss.shaft">
            <a:extLst xmlns:a="http://schemas.openxmlformats.org/drawingml/2006/main">
              <a:ext uri="{FF2B5EF4-FFF2-40B4-BE49-F238E27FC236}">
                <a16:creationId xmlns:a16="http://schemas.microsoft.com/office/drawing/2014/main" id="{CCE953D7-A13D-4E4C-94A6-B60F415D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1076325"/>
            <a:ext cx="195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4" name="texture.model-loss.head">
            <a:extLst xmlns:a="http://schemas.openxmlformats.org/drawingml/2006/main">
              <a:ext uri="{FF2B5EF4-FFF2-40B4-BE49-F238E27FC236}">
                <a16:creationId xmlns:a16="http://schemas.microsoft.com/office/drawing/2014/main" id="{3F3AE656-1F1C-4D90-8695-48345226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63200" y="1019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5" name="caption.geometry">
            <a:extLst xmlns:a="http://schemas.openxmlformats.org/drawingml/2006/main">
              <a:ext uri="{FF2B5EF4-FFF2-40B4-BE49-F238E27FC236}">
                <a16:creationId xmlns:a16="http://schemas.microsoft.com/office/drawing/2014/main" id="{CE6ADC38-CEEA-42AD-8720-5447AB2F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479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(a) Geometry Generation</a:t>
            </a:r>
          </a:p>
        </p:txBody>
      </p:sp>
      <p:sp>
        <p:nvSpPr>
          <p:cNvPr id="56" name="caption.texture">
            <a:extLst xmlns:a="http://schemas.openxmlformats.org/drawingml/2006/main">
              <a:ext uri="{FF2B5EF4-FFF2-40B4-BE49-F238E27FC236}">
                <a16:creationId xmlns:a16="http://schemas.microsoft.com/office/drawing/2014/main" id="{7F8DE99A-C560-42C0-947C-36F8704D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479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(b) Texture Generation</a:t>
            </a:r>
          </a:p>
        </p:txBody>
      </p:sp>
      <p:sp>
        <p:nvSpPr>
          <p:cNvPr id="57" name="geometry.back.label">
            <a:extLst xmlns:a="http://schemas.openxmlformats.org/drawingml/2006/main">
              <a:ext uri="{FF2B5EF4-FFF2-40B4-BE49-F238E27FC236}">
                <a16:creationId xmlns:a16="http://schemas.microsoft.com/office/drawing/2014/main" id="{571B7094-BAE3-4C84-962B-F7767A1F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Back Propagation</a:t>
            </a:r>
          </a:p>
        </p:txBody>
      </p:sp>
      <p:sp>
        <p:nvSpPr>
          <p:cNvPr id="58" name="texture.back.label">
            <a:extLst xmlns:a="http://schemas.openxmlformats.org/drawingml/2006/main">
              <a:ext uri="{FF2B5EF4-FFF2-40B4-BE49-F238E27FC236}">
                <a16:creationId xmlns:a16="http://schemas.microsoft.com/office/drawing/2014/main" id="{C10A3B1D-A41D-451E-8FA0-F1709691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Back Propagation</a:t>
            </a:r>
          </a:p>
        </p:txBody>
      </p:sp>
      <p:sp>
        <p:nvSpPr>
          <p:cNvPr id="59" name="geometry.labels">
            <a:extLst xmlns:a="http://schemas.openxmlformats.org/drawingml/2006/main">
              <a:ext uri="{FF2B5EF4-FFF2-40B4-BE49-F238E27FC236}">
                <a16:creationId xmlns:a16="http://schemas.microsoft.com/office/drawing/2014/main" id="{0F2BC8A9-4647-448A-BAB4-443AAF42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36861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DMTET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normal z₀ⁿ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Add noise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“A photo of Messi, [b], [v]”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depth z₀ᵈ</a:t>
            </a:r>
          </a:p>
        </p:txBody>
      </p:sp>
      <p:sp>
        <p:nvSpPr>
          <p:cNvPr id="60" name="texture.labels">
            <a:extLst xmlns:a="http://schemas.openxmlformats.org/drawingml/2006/main">
              <a:ext uri="{FF2B5EF4-FFF2-40B4-BE49-F238E27FC236}">
                <a16:creationId xmlns:a16="http://schemas.microsoft.com/office/drawing/2014/main" id="{D828DEDD-AA65-47DA-B72B-C9A6FF24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DMTET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normal z₀ⁿ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Add noise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color x₀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Multi-denoise</a:t>
            </a:r>
          </a:p>
        </p:txBody>
      </p:sp>
    </p:spTree>
    <p:extLst>
      <p:ext uri="{BB962C8B-B14F-4D97-AF65-F5344CB8AC3E}">
        <p14:creationId xmlns:p14="http://schemas.microsoft.com/office/powerpoint/2010/main" val="2075547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2026-07-31T03:07:03.7450000Z</dcterms:created>
  <dcterms:modified xsi:type="dcterms:W3CDTF">2026-07-31T03:07:03.7450000Z</dcterms:modified>
</coreProperties>
</file>