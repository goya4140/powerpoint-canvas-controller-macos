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a81fa19ac4a2e" /><Relationship Type="http://schemas.openxmlformats.org/officeDocument/2006/relationships/extended-properties" Target="/docProps/app.xml" Id="R5c4a800ced3645ad" /><Relationship Type="http://schemas.openxmlformats.org/officeDocument/2006/relationships/officeDocument" Target="/ppt/presentation.xml" Id="R14fcca9ef80f4c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3f6d2d486c4706"/>
  </p:sldMasterIdLst>
  <p:notesMasterIdLst>
    <p:notesMasterId xmlns:r="http://schemas.openxmlformats.org/officeDocument/2006/relationships" r:id="Rd6b9a06a2c8045e8"/>
  </p:notesMasterIdLst>
  <p:sldIdLst>
    <p:sldId xmlns:r="http://schemas.openxmlformats.org/officeDocument/2006/relationships" id="256" r:id="R974ce529e498439b"/>
  </p:sldIdLst>
  <p:sldSz cx="10629900" cy="5448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d2a6ae669d474d" /><Relationship Type="http://schemas.openxmlformats.org/officeDocument/2006/relationships/slideMaster" Target="/ppt/slideMasters/slideMaster1.xml" Id="Ree3f6d2d486c4706" /><Relationship Type="http://schemas.openxmlformats.org/officeDocument/2006/relationships/notesMaster" Target="/ppt/notesMasters/notesMaster1.xml" Id="Rd6b9a06a2c8045e8" /><Relationship Type="http://schemas.openxmlformats.org/officeDocument/2006/relationships/presProps" Target="/ppt/presProps.xml" Id="R4b95959e12884423" /><Relationship Type="http://schemas.openxmlformats.org/officeDocument/2006/relationships/tableStyles" Target="/ppt/tableStyles.xml" Id="R092adac75d194c1a" /><Relationship Type="http://schemas.openxmlformats.org/officeDocument/2006/relationships/slide" Target="/ppt/slides/slide1.xml" Id="R974ce529e49843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c475910e2a4b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aecf2f4a55468b" /><Relationship Type="http://schemas.openxmlformats.org/officeDocument/2006/relationships/notesMaster" Target="/ppt/notesMasters/notesMaster1.xml" Id="R27440d35e6cf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TransliCo: A Contrastive Learning Framework to Address the Script Barrier in Multilingual Pretrained Language Models, ACL 2024, Figure 2: https://aclanthology.org/2024.acl-long.136/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b26cafc6447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e77ac5d0a74f86" /><Relationship Type="http://schemas.openxmlformats.org/officeDocument/2006/relationships/slideLayout" Target="/ppt/slideLayouts/slideLayout1.xml" Id="R5d2978bc525a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2978bc525a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f07a8ea5a4a64" /><Relationship Type="http://schemas.openxmlformats.org/officeDocument/2006/relationships/notesSlide" Target="/ppt/notesSlides/notesSlide1.xml" Id="R6c7aec900c2b45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objectives.frame">
            <a:extLst xmlns:a="http://schemas.openxmlformats.org/drawingml/2006/main">
              <a:ext uri="{FF2B5EF4-FFF2-40B4-BE49-F238E27FC236}">
                <a16:creationId xmlns:a16="http://schemas.microsoft.com/office/drawing/2014/main" id="{D4CFE448-451A-45C1-A8C0-BCC1FE0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1950"/>
            <a:ext cx="3048000" cy="1171575"/>
          </a:xfrm>
          <a:prstGeom xmlns:a="http://schemas.openxmlformats.org/drawingml/2006/main" prst="roundRect">
            <a:avLst>
              <a:gd name="adj" fmla="val 650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5425F"/>
            </a:solidFill>
            <a:prstDash val="dash"/>
          </a:ln>
        </p:spPr>
      </p:sp>
      <p:sp>
        <p:nvSpPr>
          <p:cNvPr id="2" name="objectives.text">
            <a:extLst xmlns:a="http://schemas.openxmlformats.org/drawingml/2006/main">
              <a:ext uri="{FF2B5EF4-FFF2-40B4-BE49-F238E27FC236}">
                <a16:creationId xmlns:a16="http://schemas.microsoft.com/office/drawing/2014/main" id="{55154F6F-0B81-4CE1-B5BC-DB4FB35D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286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Fine-tuning Objectives:</a:t>
            </a:r>
          </a:p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Masked Language Modeling (MLM)</a:t>
            </a:r>
          </a:p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Transliteration Contrastive Modeling (TCM)</a:t>
            </a:r>
          </a:p>
        </p:txBody>
      </p:sp>
      <p:sp>
        <p:nvSpPr>
          <p:cNvPr id="3" name="top.panel">
            <a:extLst xmlns:a="http://schemas.openxmlformats.org/drawingml/2006/main">
              <a:ext uri="{FF2B5EF4-FFF2-40B4-BE49-F238E27FC236}">
                <a16:creationId xmlns:a16="http://schemas.microsoft.com/office/drawing/2014/main" id="{AE611C31-5A96-46A9-8576-08A0AD3A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2450"/>
            <a:ext cx="3771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DA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4" name="top.label">
            <a:extLst xmlns:a="http://schemas.openxmlformats.org/drawingml/2006/main">
              <a:ext uri="{FF2B5EF4-FFF2-40B4-BE49-F238E27FC236}">
                <a16:creationId xmlns:a16="http://schemas.microsoft.com/office/drawing/2014/main" id="{ABEAA93A-A636-46C8-BD08-7D024440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9144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Transformer</a:t>
            </a:r>
          </a:p>
        </p:txBody>
      </p:sp>
      <p:sp>
        <p:nvSpPr>
          <p:cNvPr id="5" name="top.output-frame">
            <a:extLst xmlns:a="http://schemas.openxmlformats.org/drawingml/2006/main">
              <a:ext uri="{FF2B5EF4-FFF2-40B4-BE49-F238E27FC236}">
                <a16:creationId xmlns:a16="http://schemas.microsoft.com/office/drawing/2014/main" id="{38986812-ECEA-4F98-8C0F-DACF906C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38200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25F"/>
            </a:solidFill>
            <a:prstDash val="dash"/>
          </a:ln>
        </p:spPr>
      </p:sp>
      <p:sp>
        <p:nvSpPr>
          <p:cNvPr id="6" name="top.output-label">
            <a:extLst xmlns:a="http://schemas.openxmlformats.org/drawingml/2006/main">
              <a:ext uri="{FF2B5EF4-FFF2-40B4-BE49-F238E27FC236}">
                <a16:creationId xmlns:a16="http://schemas.microsoft.com/office/drawing/2014/main" id="{E397C833-77DE-4D94-B656-882E8887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8191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8th layer output:</a:t>
            </a:r>
          </a:p>
        </p:txBody>
      </p:sp>
      <p:sp>
        <p:nvSpPr>
          <p:cNvPr id="7" name="top.output.0">
            <a:extLst xmlns:a="http://schemas.openxmlformats.org/drawingml/2006/main">
              <a:ext uri="{FF2B5EF4-FFF2-40B4-BE49-F238E27FC236}">
                <a16:creationId xmlns:a16="http://schemas.microsoft.com/office/drawing/2014/main" id="{B7987C8C-AE85-4A52-9919-B8806C16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00965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top.output.1">
            <a:extLst xmlns:a="http://schemas.openxmlformats.org/drawingml/2006/main">
              <a:ext uri="{FF2B5EF4-FFF2-40B4-BE49-F238E27FC236}">
                <a16:creationId xmlns:a16="http://schemas.microsoft.com/office/drawing/2014/main" id="{6697BE53-A1F0-4FF0-BE02-1E56B12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0965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top.output.2">
            <a:extLst xmlns:a="http://schemas.openxmlformats.org/drawingml/2006/main">
              <a:ext uri="{FF2B5EF4-FFF2-40B4-BE49-F238E27FC236}">
                <a16:creationId xmlns:a16="http://schemas.microsoft.com/office/drawing/2014/main" id="{7B77F6FD-D188-4EA4-A056-2870D727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00965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op.output.3">
            <a:extLst xmlns:a="http://schemas.openxmlformats.org/drawingml/2006/main">
              <a:ext uri="{FF2B5EF4-FFF2-40B4-BE49-F238E27FC236}">
                <a16:creationId xmlns:a16="http://schemas.microsoft.com/office/drawing/2014/main" id="{C16F9819-57D5-46CB-A885-F896BBE2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00965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top.output.4">
            <a:extLst xmlns:a="http://schemas.openxmlformats.org/drawingml/2006/main">
              <a:ext uri="{FF2B5EF4-FFF2-40B4-BE49-F238E27FC236}">
                <a16:creationId xmlns:a16="http://schemas.microsoft.com/office/drawing/2014/main" id="{A450DC87-7F29-450C-9AD2-87121B62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0965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top.input.0">
            <a:extLst xmlns:a="http://schemas.openxmlformats.org/drawingml/2006/main">
              <a:ext uri="{FF2B5EF4-FFF2-40B4-BE49-F238E27FC236}">
                <a16:creationId xmlns:a16="http://schemas.microsoft.com/office/drawing/2014/main" id="{D67F5326-5710-4DD6-8FE0-6272F9C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977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&lt;/s&gt;</a:t>
            </a:r>
          </a:p>
        </p:txBody>
      </p:sp>
      <p:sp>
        <p:nvSpPr>
          <p:cNvPr id="13" name="top.input-arrow.0">
            <a:extLst xmlns:a="http://schemas.openxmlformats.org/drawingml/2006/main">
              <a:ext uri="{FF2B5EF4-FFF2-40B4-BE49-F238E27FC236}">
                <a16:creationId xmlns:a16="http://schemas.microsoft.com/office/drawing/2014/main" id="{DC4B30E5-861D-4BE3-8A4E-DF61D80B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16287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14" name="top.input-arrow.0.head">
            <a:extLst xmlns:a="http://schemas.openxmlformats.org/drawingml/2006/main">
              <a:ext uri="{FF2B5EF4-FFF2-40B4-BE49-F238E27FC236}">
                <a16:creationId xmlns:a16="http://schemas.microsoft.com/office/drawing/2014/main" id="{AB0783E8-526C-4EC6-AF7C-2421EC50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1988" y="15906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p.input.1">
            <a:extLst xmlns:a="http://schemas.openxmlformats.org/drawingml/2006/main">
              <a:ext uri="{FF2B5EF4-FFF2-40B4-BE49-F238E27FC236}">
                <a16:creationId xmlns:a16="http://schemas.microsoft.com/office/drawing/2014/main" id="{1D92D28A-9BFB-42DC-BE95-001733F6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0977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[mask]</a:t>
            </a:r>
          </a:p>
        </p:txBody>
      </p:sp>
      <p:sp>
        <p:nvSpPr>
          <p:cNvPr id="16" name="top.input-arrow.1">
            <a:extLst xmlns:a="http://schemas.openxmlformats.org/drawingml/2006/main">
              <a:ext uri="{FF2B5EF4-FFF2-40B4-BE49-F238E27FC236}">
                <a16:creationId xmlns:a16="http://schemas.microsoft.com/office/drawing/2014/main" id="{58634444-D5A7-46B1-A86B-7BFFEE9E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613" y="16287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17" name="top.input-arrow.1.head">
            <a:extLst xmlns:a="http://schemas.openxmlformats.org/drawingml/2006/main">
              <a:ext uri="{FF2B5EF4-FFF2-40B4-BE49-F238E27FC236}">
                <a16:creationId xmlns:a16="http://schemas.microsoft.com/office/drawing/2014/main" id="{0D547C54-A031-432F-8188-D453FDDF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15906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p.input.2">
            <a:extLst xmlns:a="http://schemas.openxmlformats.org/drawingml/2006/main">
              <a:ext uri="{FF2B5EF4-FFF2-40B4-BE49-F238E27FC236}">
                <a16:creationId xmlns:a16="http://schemas.microsoft.com/office/drawing/2014/main" id="{677A8C3C-A3BC-4FC0-8C26-0AF1A9AA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977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люди</a:t>
            </a:r>
          </a:p>
        </p:txBody>
      </p:sp>
      <p:sp>
        <p:nvSpPr>
          <p:cNvPr id="19" name="top.input-arrow.2">
            <a:extLst xmlns:a="http://schemas.openxmlformats.org/drawingml/2006/main">
              <a:ext uri="{FF2B5EF4-FFF2-40B4-BE49-F238E27FC236}">
                <a16:creationId xmlns:a16="http://schemas.microsoft.com/office/drawing/2014/main" id="{516D9C05-B388-48C7-81BE-E96112B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16287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20" name="top.input-arrow.2.head">
            <a:extLst xmlns:a="http://schemas.openxmlformats.org/drawingml/2006/main">
              <a:ext uri="{FF2B5EF4-FFF2-40B4-BE49-F238E27FC236}">
                <a16:creationId xmlns:a16="http://schemas.microsoft.com/office/drawing/2014/main" id="{8924D7FC-6A74-41CF-BE2B-1B293ECE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3038" y="15906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op.input.3">
            <a:extLst xmlns:a="http://schemas.openxmlformats.org/drawingml/2006/main">
              <a:ext uri="{FF2B5EF4-FFF2-40B4-BE49-F238E27FC236}">
                <a16:creationId xmlns:a16="http://schemas.microsoft.com/office/drawing/2014/main" id="{14B8A35E-7FA7-430D-BF56-426E5585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977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рівні</a:t>
            </a:r>
          </a:p>
        </p:txBody>
      </p:sp>
      <p:sp>
        <p:nvSpPr>
          <p:cNvPr id="22" name="top.input-arrow.3">
            <a:extLst xmlns:a="http://schemas.openxmlformats.org/drawingml/2006/main">
              <a:ext uri="{FF2B5EF4-FFF2-40B4-BE49-F238E27FC236}">
                <a16:creationId xmlns:a16="http://schemas.microsoft.com/office/drawing/2014/main" id="{43F6DB26-1901-4300-B78E-4620F170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663" y="16287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23" name="top.input-arrow.3.head">
            <a:extLst xmlns:a="http://schemas.openxmlformats.org/drawingml/2006/main">
              <a:ext uri="{FF2B5EF4-FFF2-40B4-BE49-F238E27FC236}">
                <a16:creationId xmlns:a16="http://schemas.microsoft.com/office/drawing/2014/main" id="{E91C0DCA-8029-42CA-8769-5834B545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3563" y="15906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p.input.4">
            <a:extLst xmlns:a="http://schemas.openxmlformats.org/drawingml/2006/main">
              <a:ext uri="{FF2B5EF4-FFF2-40B4-BE49-F238E27FC236}">
                <a16:creationId xmlns:a16="http://schemas.microsoft.com/office/drawing/2014/main" id="{48418FE1-CAAB-4D62-AF90-526AE5F6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977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.</a:t>
            </a:r>
          </a:p>
        </p:txBody>
      </p:sp>
      <p:sp>
        <p:nvSpPr>
          <p:cNvPr id="25" name="top.input-arrow.4">
            <a:extLst xmlns:a="http://schemas.openxmlformats.org/drawingml/2006/main">
              <a:ext uri="{FF2B5EF4-FFF2-40B4-BE49-F238E27FC236}">
                <a16:creationId xmlns:a16="http://schemas.microsoft.com/office/drawing/2014/main" id="{644BF2F9-A20D-45E4-984A-191551FE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16287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26" name="top.input-arrow.4.head">
            <a:extLst xmlns:a="http://schemas.openxmlformats.org/drawingml/2006/main">
              <a:ext uri="{FF2B5EF4-FFF2-40B4-BE49-F238E27FC236}">
                <a16:creationId xmlns:a16="http://schemas.microsoft.com/office/drawing/2014/main" id="{405DCB0C-645B-497C-88CC-84FA8A21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4088" y="15906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p.sentence">
            <a:extLst xmlns:a="http://schemas.openxmlformats.org/drawingml/2006/main">
              <a:ext uri="{FF2B5EF4-FFF2-40B4-BE49-F238E27FC236}">
                <a16:creationId xmlns:a16="http://schemas.microsoft.com/office/drawing/2014/main" id="{CD8772A7-7CA0-4087-8123-E2C046B8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905000"/>
            <a:ext cx="25908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9525">
            <a:solidFill>
              <a:srgbClr val="1F3B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original sentence:  всі люди рівні.</a:t>
            </a:r>
          </a:p>
        </p:txBody>
      </p:sp>
      <p:sp>
        <p:nvSpPr>
          <p:cNvPr id="28" name="top.random-mask">
            <a:extLst xmlns:a="http://schemas.openxmlformats.org/drawingml/2006/main">
              <a:ext uri="{FF2B5EF4-FFF2-40B4-BE49-F238E27FC236}">
                <a16:creationId xmlns:a16="http://schemas.microsoft.com/office/drawing/2014/main" id="{65EA3916-57A8-4419-82F6-B339CF9A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954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random mask</a:t>
            </a:r>
          </a:p>
        </p:txBody>
      </p:sp>
      <p:sp>
        <p:nvSpPr>
          <p:cNvPr id="29" name="top.random-mask-line">
            <a:extLst xmlns:a="http://schemas.openxmlformats.org/drawingml/2006/main">
              <a:ext uri="{FF2B5EF4-FFF2-40B4-BE49-F238E27FC236}">
                <a16:creationId xmlns:a16="http://schemas.microsoft.com/office/drawing/2014/main" id="{9D383177-DC7A-442C-B507-434F72D0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105025"/>
            <a:ext cx="162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dash"/>
          </a:ln>
        </p:spPr>
      </p:sp>
      <p:sp>
        <p:nvSpPr>
          <p:cNvPr id="30" name="top.cls">
            <a:extLst xmlns:a="http://schemas.openxmlformats.org/drawingml/2006/main">
              <a:ext uri="{FF2B5EF4-FFF2-40B4-BE49-F238E27FC236}">
                <a16:creationId xmlns:a16="http://schemas.microsoft.com/office/drawing/2014/main" id="{FA549F46-15EF-4F27-893D-1DB8A493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0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5E2FA"/>
          </a:solidFill>
          <a:ln xmlns:a="http://schemas.openxmlformats.org/drawingml/2006/main" w="9525">
            <a:solidFill>
              <a:srgbClr val="1F3B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всі</a:t>
            </a:r>
          </a:p>
        </p:txBody>
      </p:sp>
      <p:sp>
        <p:nvSpPr>
          <p:cNvPr id="31" name="top.cls-arrow">
            <a:extLst xmlns:a="http://schemas.openxmlformats.org/drawingml/2006/main">
              <a:ext uri="{FF2B5EF4-FFF2-40B4-BE49-F238E27FC236}">
                <a16:creationId xmlns:a16="http://schemas.microsoft.com/office/drawing/2014/main" id="{A508D0D8-7E51-402C-9B84-6012251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32" name="top.cls-arrow.head">
            <a:extLst xmlns:a="http://schemas.openxmlformats.org/drawingml/2006/main">
              <a:ext uri="{FF2B5EF4-FFF2-40B4-BE49-F238E27FC236}">
                <a16:creationId xmlns:a16="http://schemas.microsoft.com/office/drawing/2014/main" id="{445D24BE-623F-4ED7-A37E-67486D74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171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op.mean-pool">
            <a:extLst xmlns:a="http://schemas.openxmlformats.org/drawingml/2006/main">
              <a:ext uri="{FF2B5EF4-FFF2-40B4-BE49-F238E27FC236}">
                <a16:creationId xmlns:a16="http://schemas.microsoft.com/office/drawing/2014/main" id="{25C46E41-970F-4014-9AD1-739ADE99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57275"/>
            <a:ext cx="136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top.mean-pool.head">
            <a:extLst xmlns:a="http://schemas.openxmlformats.org/drawingml/2006/main">
              <a:ext uri="{FF2B5EF4-FFF2-40B4-BE49-F238E27FC236}">
                <a16:creationId xmlns:a16="http://schemas.microsoft.com/office/drawing/2014/main" id="{6CD3A86F-4FEF-4A85-A787-51DDF186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58225" y="10191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op.mean-pool-label">
            <a:extLst xmlns:a="http://schemas.openxmlformats.org/drawingml/2006/main">
              <a:ext uri="{FF2B5EF4-FFF2-40B4-BE49-F238E27FC236}">
                <a16:creationId xmlns:a16="http://schemas.microsoft.com/office/drawing/2014/main" id="{A99E6F04-22DC-4ECD-B802-F5D59329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7810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mean pooling</a:t>
            </a:r>
          </a:p>
        </p:txBody>
      </p:sp>
      <p:sp>
        <p:nvSpPr>
          <p:cNvPr id="36" name="top.sequence">
            <a:extLst xmlns:a="http://schemas.openxmlformats.org/drawingml/2006/main">
              <a:ext uri="{FF2B5EF4-FFF2-40B4-BE49-F238E27FC236}">
                <a16:creationId xmlns:a16="http://schemas.microsoft.com/office/drawing/2014/main" id="{8AA7CCD6-B933-42DA-AF4F-A5D2F45D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85825"/>
            <a:ext cx="17526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E7ED"/>
          </a:solidFill>
          <a:ln xmlns:a="http://schemas.openxmlformats.org/drawingml/2006/main" w="9525">
            <a:solidFill>
              <a:srgbClr val="1F3B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sequence representation</a:t>
            </a:r>
          </a:p>
        </p:txBody>
      </p:sp>
      <p:sp>
        <p:nvSpPr>
          <p:cNvPr id="37" name="heading.mlm">
            <a:extLst xmlns:a="http://schemas.openxmlformats.org/drawingml/2006/main">
              <a:ext uri="{FF2B5EF4-FFF2-40B4-BE49-F238E27FC236}">
                <a16:creationId xmlns:a16="http://schemas.microsoft.com/office/drawing/2014/main" id="{4DADC313-894F-4226-A5FC-BB6372E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Masked Language Modeling</a:t>
            </a:r>
          </a:p>
        </p:txBody>
      </p:sp>
      <p:sp>
        <p:nvSpPr>
          <p:cNvPr id="38" name="heading.tcm">
            <a:extLst xmlns:a="http://schemas.openxmlformats.org/drawingml/2006/main">
              <a:ext uri="{FF2B5EF4-FFF2-40B4-BE49-F238E27FC236}">
                <a16:creationId xmlns:a16="http://schemas.microsoft.com/office/drawing/2014/main" id="{BF3A6DB7-DCBA-48F2-85C8-D9C05DF4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52675"/>
            <a:ext cx="2752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Transliteration Contrastive Modeling</a:t>
            </a:r>
          </a:p>
        </p:txBody>
      </p:sp>
      <p:sp>
        <p:nvSpPr>
          <p:cNvPr id="39" name="left.transliterate">
            <a:extLst xmlns:a="http://schemas.openxmlformats.org/drawingml/2006/main">
              <a:ext uri="{FF2B5EF4-FFF2-40B4-BE49-F238E27FC236}">
                <a16:creationId xmlns:a16="http://schemas.microsoft.com/office/drawing/2014/main" id="{34CF1901-E982-44ED-83C1-43657864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52675"/>
            <a:ext cx="0" cy="2371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  <a:prstDash val="dash"/>
          </a:ln>
        </p:spPr>
      </p:sp>
      <p:sp>
        <p:nvSpPr>
          <p:cNvPr id="40" name="left.transliterate.head">
            <a:extLst xmlns:a="http://schemas.openxmlformats.org/drawingml/2006/main">
              <a:ext uri="{FF2B5EF4-FFF2-40B4-BE49-F238E27FC236}">
                <a16:creationId xmlns:a16="http://schemas.microsoft.com/office/drawing/2014/main" id="{F86090AA-4644-40F9-A0C2-97A87C06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52550" y="46863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left.transliterate-label">
            <a:extLst xmlns:a="http://schemas.openxmlformats.org/drawingml/2006/main">
              <a:ext uri="{FF2B5EF4-FFF2-40B4-BE49-F238E27FC236}">
                <a16:creationId xmlns:a16="http://schemas.microsoft.com/office/drawing/2014/main" id="{98C24E30-8C49-4EAA-A10C-5303C72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transliterate</a:t>
            </a:r>
          </a:p>
        </p:txBody>
      </p:sp>
      <p:sp>
        <p:nvSpPr>
          <p:cNvPr id="42" name="bottom.panel">
            <a:extLst xmlns:a="http://schemas.openxmlformats.org/drawingml/2006/main">
              <a:ext uri="{FF2B5EF4-FFF2-40B4-BE49-F238E27FC236}">
                <a16:creationId xmlns:a16="http://schemas.microsoft.com/office/drawing/2014/main" id="{43F2A49C-4A4D-4B1E-B92B-A1DFA9D6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3771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DA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43" name="bottom.label">
            <a:extLst xmlns:a="http://schemas.openxmlformats.org/drawingml/2006/main">
              <a:ext uri="{FF2B5EF4-FFF2-40B4-BE49-F238E27FC236}">
                <a16:creationId xmlns:a16="http://schemas.microsoft.com/office/drawing/2014/main" id="{5DE6C938-503C-4717-A65C-61C37FC6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909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Transformer</a:t>
            </a:r>
          </a:p>
        </p:txBody>
      </p:sp>
      <p:sp>
        <p:nvSpPr>
          <p:cNvPr id="44" name="bottom.output-frame">
            <a:extLst xmlns:a="http://schemas.openxmlformats.org/drawingml/2006/main">
              <a:ext uri="{FF2B5EF4-FFF2-40B4-BE49-F238E27FC236}">
                <a16:creationId xmlns:a16="http://schemas.microsoft.com/office/drawing/2014/main" id="{39CECCA2-D6B3-44AA-9034-29BDFE35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14750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25F"/>
            </a:solidFill>
            <a:prstDash val="dash"/>
          </a:ln>
        </p:spPr>
      </p:sp>
      <p:sp>
        <p:nvSpPr>
          <p:cNvPr id="45" name="bottom.output-label">
            <a:extLst xmlns:a="http://schemas.openxmlformats.org/drawingml/2006/main">
              <a:ext uri="{FF2B5EF4-FFF2-40B4-BE49-F238E27FC236}">
                <a16:creationId xmlns:a16="http://schemas.microsoft.com/office/drawing/2014/main" id="{2F6AF88B-2F0B-41A2-8C6D-B1145C25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957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8th layer output:</a:t>
            </a:r>
          </a:p>
        </p:txBody>
      </p:sp>
      <p:sp>
        <p:nvSpPr>
          <p:cNvPr id="46" name="bottom.output.0">
            <a:extLst xmlns:a="http://schemas.openxmlformats.org/drawingml/2006/main">
              <a:ext uri="{FF2B5EF4-FFF2-40B4-BE49-F238E27FC236}">
                <a16:creationId xmlns:a16="http://schemas.microsoft.com/office/drawing/2014/main" id="{9AACA368-01BB-4BE7-B6F9-9F42BB9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bottom.output.1">
            <a:extLst xmlns:a="http://schemas.openxmlformats.org/drawingml/2006/main">
              <a:ext uri="{FF2B5EF4-FFF2-40B4-BE49-F238E27FC236}">
                <a16:creationId xmlns:a16="http://schemas.microsoft.com/office/drawing/2014/main" id="{7D4B227B-73F9-4290-9C53-FEBC9C56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8620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bottom.output.2">
            <a:extLst xmlns:a="http://schemas.openxmlformats.org/drawingml/2006/main">
              <a:ext uri="{FF2B5EF4-FFF2-40B4-BE49-F238E27FC236}">
                <a16:creationId xmlns:a16="http://schemas.microsoft.com/office/drawing/2014/main" id="{D1A90834-CDAA-4CCB-AA43-FEC5A326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8620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bottom.output.3">
            <a:extLst xmlns:a="http://schemas.openxmlformats.org/drawingml/2006/main">
              <a:ext uri="{FF2B5EF4-FFF2-40B4-BE49-F238E27FC236}">
                <a16:creationId xmlns:a16="http://schemas.microsoft.com/office/drawing/2014/main" id="{BCDC3F00-5D0A-43CC-9950-E84B38E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88620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bottom.output.4">
            <a:extLst xmlns:a="http://schemas.openxmlformats.org/drawingml/2006/main">
              <a:ext uri="{FF2B5EF4-FFF2-40B4-BE49-F238E27FC236}">
                <a16:creationId xmlns:a16="http://schemas.microsoft.com/office/drawing/2014/main" id="{9A1AA643-E74E-4804-ADF9-BB47D326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bottom.output.5">
            <a:extLst xmlns:a="http://schemas.openxmlformats.org/drawingml/2006/main">
              <a:ext uri="{FF2B5EF4-FFF2-40B4-BE49-F238E27FC236}">
                <a16:creationId xmlns:a16="http://schemas.microsoft.com/office/drawing/2014/main" id="{499C41AC-37D8-4EC0-A17C-B850478A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8620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bottom.output.6">
            <a:extLst xmlns:a="http://schemas.openxmlformats.org/drawingml/2006/main">
              <a:ext uri="{FF2B5EF4-FFF2-40B4-BE49-F238E27FC236}">
                <a16:creationId xmlns:a16="http://schemas.microsoft.com/office/drawing/2014/main" id="{ADE61AD1-5B1D-4E01-82EB-9B2BFB24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3714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1E1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bottom.input.0">
            <a:extLst xmlns:a="http://schemas.openxmlformats.org/drawingml/2006/main">
              <a:ext uri="{FF2B5EF4-FFF2-40B4-BE49-F238E27FC236}">
                <a16:creationId xmlns:a16="http://schemas.microsoft.com/office/drawing/2014/main" id="{973568B8-5655-486D-BBE2-C79C4400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8632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&lt;/s&gt;</a:t>
            </a:r>
          </a:p>
        </p:txBody>
      </p:sp>
      <p:sp>
        <p:nvSpPr>
          <p:cNvPr id="54" name="bottom.input-arrow.0">
            <a:extLst xmlns:a="http://schemas.openxmlformats.org/drawingml/2006/main">
              <a:ext uri="{FF2B5EF4-FFF2-40B4-BE49-F238E27FC236}">
                <a16:creationId xmlns:a16="http://schemas.microsoft.com/office/drawing/2014/main" id="{BC643AF0-79B4-422A-944D-67F60862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5053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55" name="bottom.input-arrow.0.head">
            <a:extLst xmlns:a="http://schemas.openxmlformats.org/drawingml/2006/main">
              <a:ext uri="{FF2B5EF4-FFF2-40B4-BE49-F238E27FC236}">
                <a16:creationId xmlns:a16="http://schemas.microsoft.com/office/drawing/2014/main" id="{A33067F5-5BEA-4812-B1ED-DEA5B059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1988" y="44672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ottom.input.1">
            <a:extLst xmlns:a="http://schemas.openxmlformats.org/drawingml/2006/main">
              <a:ext uri="{FF2B5EF4-FFF2-40B4-BE49-F238E27FC236}">
                <a16:creationId xmlns:a16="http://schemas.microsoft.com/office/drawing/2014/main" id="{50D38071-550B-471E-8A4A-976A919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8632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vsi</a:t>
            </a:r>
          </a:p>
        </p:txBody>
      </p:sp>
      <p:sp>
        <p:nvSpPr>
          <p:cNvPr id="57" name="bottom.input-arrow.1">
            <a:extLst xmlns:a="http://schemas.openxmlformats.org/drawingml/2006/main">
              <a:ext uri="{FF2B5EF4-FFF2-40B4-BE49-F238E27FC236}">
                <a16:creationId xmlns:a16="http://schemas.microsoft.com/office/drawing/2014/main" id="{A0BB3329-CFBA-4FC9-98BB-9E376A56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613" y="45053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58" name="bottom.input-arrow.1.head">
            <a:extLst xmlns:a="http://schemas.openxmlformats.org/drawingml/2006/main">
              <a:ext uri="{FF2B5EF4-FFF2-40B4-BE49-F238E27FC236}">
                <a16:creationId xmlns:a16="http://schemas.microsoft.com/office/drawing/2014/main" id="{601C8983-BF70-45CF-8F4D-0B6B38DB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44672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ottom.input.2">
            <a:extLst xmlns:a="http://schemas.openxmlformats.org/drawingml/2006/main">
              <a:ext uri="{FF2B5EF4-FFF2-40B4-BE49-F238E27FC236}">
                <a16:creationId xmlns:a16="http://schemas.microsoft.com/office/drawing/2014/main" id="{FE463F4E-BBE1-4A2B-94D8-941063E3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8632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ly</a:t>
            </a:r>
          </a:p>
        </p:txBody>
      </p:sp>
      <p:sp>
        <p:nvSpPr>
          <p:cNvPr id="60" name="bottom.input-arrow.2">
            <a:extLst xmlns:a="http://schemas.openxmlformats.org/drawingml/2006/main">
              <a:ext uri="{FF2B5EF4-FFF2-40B4-BE49-F238E27FC236}">
                <a16:creationId xmlns:a16="http://schemas.microsoft.com/office/drawing/2014/main" id="{F6941CB9-0C5D-4D94-9698-5B172361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45053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61" name="bottom.input-arrow.2.head">
            <a:extLst xmlns:a="http://schemas.openxmlformats.org/drawingml/2006/main">
              <a:ext uri="{FF2B5EF4-FFF2-40B4-BE49-F238E27FC236}">
                <a16:creationId xmlns:a16="http://schemas.microsoft.com/office/drawing/2014/main" id="{98892775-53A1-4F09-98B0-74ACC8D3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3038" y="44672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ottom.input.3">
            <a:extLst xmlns:a="http://schemas.openxmlformats.org/drawingml/2006/main">
              <a:ext uri="{FF2B5EF4-FFF2-40B4-BE49-F238E27FC236}">
                <a16:creationId xmlns:a16="http://schemas.microsoft.com/office/drawing/2014/main" id="{F4EFF4DE-0787-463E-A81C-5728A8B9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88632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[mask]</a:t>
            </a:r>
          </a:p>
        </p:txBody>
      </p:sp>
      <p:sp>
        <p:nvSpPr>
          <p:cNvPr id="63" name="bottom.input-arrow.3">
            <a:extLst xmlns:a="http://schemas.openxmlformats.org/drawingml/2006/main">
              <a:ext uri="{FF2B5EF4-FFF2-40B4-BE49-F238E27FC236}">
                <a16:creationId xmlns:a16="http://schemas.microsoft.com/office/drawing/2014/main" id="{B05CCEFF-FE8B-40F7-AB0B-DE5D1F1D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663" y="45053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64" name="bottom.input-arrow.3.head">
            <a:extLst xmlns:a="http://schemas.openxmlformats.org/drawingml/2006/main">
              <a:ext uri="{FF2B5EF4-FFF2-40B4-BE49-F238E27FC236}">
                <a16:creationId xmlns:a16="http://schemas.microsoft.com/office/drawing/2014/main" id="{3D162CC2-B028-446F-9AAA-9B6CB726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3563" y="44672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ottom.input.4">
            <a:extLst xmlns:a="http://schemas.openxmlformats.org/drawingml/2006/main">
              <a:ext uri="{FF2B5EF4-FFF2-40B4-BE49-F238E27FC236}">
                <a16:creationId xmlns:a16="http://schemas.microsoft.com/office/drawing/2014/main" id="{FFC421DF-61B8-4CA0-A0AE-390C1005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8632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ri</a:t>
            </a:r>
          </a:p>
        </p:txBody>
      </p:sp>
      <p:sp>
        <p:nvSpPr>
          <p:cNvPr id="66" name="bottom.input-arrow.4">
            <a:extLst xmlns:a="http://schemas.openxmlformats.org/drawingml/2006/main">
              <a:ext uri="{FF2B5EF4-FFF2-40B4-BE49-F238E27FC236}">
                <a16:creationId xmlns:a16="http://schemas.microsoft.com/office/drawing/2014/main" id="{6DAA2FAA-0F00-47D0-BC5F-B992EDBA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45053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67" name="bottom.input-arrow.4.head">
            <a:extLst xmlns:a="http://schemas.openxmlformats.org/drawingml/2006/main">
              <a:ext uri="{FF2B5EF4-FFF2-40B4-BE49-F238E27FC236}">
                <a16:creationId xmlns:a16="http://schemas.microsoft.com/office/drawing/2014/main" id="{6831E8ED-A355-475A-8E96-FCF4D91C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4088" y="44672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ottom.input.5">
            <a:extLst xmlns:a="http://schemas.openxmlformats.org/drawingml/2006/main">
              <a:ext uri="{FF2B5EF4-FFF2-40B4-BE49-F238E27FC236}">
                <a16:creationId xmlns:a16="http://schemas.microsoft.com/office/drawing/2014/main" id="{7090204F-4EBB-4854-AA0B-5401F3AA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8632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vni</a:t>
            </a:r>
          </a:p>
        </p:txBody>
      </p:sp>
      <p:sp>
        <p:nvSpPr>
          <p:cNvPr id="69" name="bottom.input-arrow.5">
            <a:extLst xmlns:a="http://schemas.openxmlformats.org/drawingml/2006/main">
              <a:ext uri="{FF2B5EF4-FFF2-40B4-BE49-F238E27FC236}">
                <a16:creationId xmlns:a16="http://schemas.microsoft.com/office/drawing/2014/main" id="{68F2822B-6DB5-4532-81F5-E9412F55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2713" y="45053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70" name="bottom.input-arrow.5.head">
            <a:extLst xmlns:a="http://schemas.openxmlformats.org/drawingml/2006/main">
              <a:ext uri="{FF2B5EF4-FFF2-40B4-BE49-F238E27FC236}">
                <a16:creationId xmlns:a16="http://schemas.microsoft.com/office/drawing/2014/main" id="{EA5FC1C3-7353-425E-AFC8-F9F01FD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4613" y="44672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ottom.input.6">
            <a:extLst xmlns:a="http://schemas.openxmlformats.org/drawingml/2006/main">
              <a:ext uri="{FF2B5EF4-FFF2-40B4-BE49-F238E27FC236}">
                <a16:creationId xmlns:a16="http://schemas.microsoft.com/office/drawing/2014/main" id="{970D3586-8660-4D15-BEA0-BD6D0D4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86325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BFD5EC"/>
          </a:solidFill>
          <a:ln xmlns:a="http://schemas.openxmlformats.org/drawingml/2006/main" w="7620">
            <a:solidFill>
              <a:srgbClr val="2542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.</a:t>
            </a:r>
          </a:p>
        </p:txBody>
      </p:sp>
      <p:sp>
        <p:nvSpPr>
          <p:cNvPr id="72" name="bottom.input-arrow.6">
            <a:extLst xmlns:a="http://schemas.openxmlformats.org/drawingml/2006/main">
              <a:ext uri="{FF2B5EF4-FFF2-40B4-BE49-F238E27FC236}">
                <a16:creationId xmlns:a16="http://schemas.microsoft.com/office/drawing/2014/main" id="{1A30D05E-9576-477C-9C39-3FB6794E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238" y="45053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73" name="bottom.input-arrow.6.head">
            <a:extLst xmlns:a="http://schemas.openxmlformats.org/drawingml/2006/main">
              <a:ext uri="{FF2B5EF4-FFF2-40B4-BE49-F238E27FC236}">
                <a16:creationId xmlns:a16="http://schemas.microsoft.com/office/drawing/2014/main" id="{118C642D-A003-4533-B9FA-FA7220F8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5138" y="44672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ottom.sentence">
            <a:extLst xmlns:a="http://schemas.openxmlformats.org/drawingml/2006/main">
              <a:ext uri="{FF2B5EF4-FFF2-40B4-BE49-F238E27FC236}">
                <a16:creationId xmlns:a16="http://schemas.microsoft.com/office/drawing/2014/main" id="{4F2EB7B2-D4D0-47A8-BF9C-E50D6F02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724400"/>
            <a:ext cx="25908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9525">
            <a:solidFill>
              <a:srgbClr val="1F3B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transliteration:  vsi lyudi rivni.</a:t>
            </a:r>
          </a:p>
        </p:txBody>
      </p:sp>
      <p:sp>
        <p:nvSpPr>
          <p:cNvPr id="75" name="bottom.random-mask">
            <a:extLst xmlns:a="http://schemas.openxmlformats.org/drawingml/2006/main">
              <a:ext uri="{FF2B5EF4-FFF2-40B4-BE49-F238E27FC236}">
                <a16:creationId xmlns:a16="http://schemas.microsoft.com/office/drawing/2014/main" id="{E746EB9F-B5E6-46B0-91B5-DDA97164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958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random mask</a:t>
            </a:r>
          </a:p>
        </p:txBody>
      </p:sp>
      <p:sp>
        <p:nvSpPr>
          <p:cNvPr id="76" name="bottom.random-mask-line">
            <a:extLst xmlns:a="http://schemas.openxmlformats.org/drawingml/2006/main">
              <a:ext uri="{FF2B5EF4-FFF2-40B4-BE49-F238E27FC236}">
                <a16:creationId xmlns:a16="http://schemas.microsoft.com/office/drawing/2014/main" id="{5E6A48D8-A524-4C3C-A383-DDF1B56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dash"/>
          </a:ln>
        </p:spPr>
      </p:sp>
      <p:sp>
        <p:nvSpPr>
          <p:cNvPr id="77" name="bottom.cls">
            <a:extLst xmlns:a="http://schemas.openxmlformats.org/drawingml/2006/main">
              <a:ext uri="{FF2B5EF4-FFF2-40B4-BE49-F238E27FC236}">
                <a16:creationId xmlns:a16="http://schemas.microsoft.com/office/drawing/2014/main" id="{73EDD30C-5C24-4176-89DC-8F72FDB9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76550"/>
            <a:ext cx="3714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5E2FA"/>
          </a:solidFill>
          <a:ln xmlns:a="http://schemas.openxmlformats.org/drawingml/2006/main" w="9525">
            <a:solidFill>
              <a:srgbClr val="1F3B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udi</a:t>
            </a:r>
          </a:p>
        </p:txBody>
      </p:sp>
      <p:sp>
        <p:nvSpPr>
          <p:cNvPr id="78" name="bottom.cls-arrow">
            <a:extLst xmlns:a="http://schemas.openxmlformats.org/drawingml/2006/main">
              <a:ext uri="{FF2B5EF4-FFF2-40B4-BE49-F238E27FC236}">
                <a16:creationId xmlns:a16="http://schemas.microsoft.com/office/drawing/2014/main" id="{B2FAB326-C3C3-4077-AB0B-A3ACC17E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765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79" name="bottom.cls-arrow.head">
            <a:extLst xmlns:a="http://schemas.openxmlformats.org/drawingml/2006/main">
              <a:ext uri="{FF2B5EF4-FFF2-40B4-BE49-F238E27FC236}">
                <a16:creationId xmlns:a16="http://schemas.microsoft.com/office/drawing/2014/main" id="{A7EC6602-FB49-4717-87E5-C6D3C71F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038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bottom.mean-pool">
            <a:extLst xmlns:a="http://schemas.openxmlformats.org/drawingml/2006/main">
              <a:ext uri="{FF2B5EF4-FFF2-40B4-BE49-F238E27FC236}">
                <a16:creationId xmlns:a16="http://schemas.microsoft.com/office/drawing/2014/main" id="{31FE7331-1970-41BE-8AEC-5D247650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1" name="bottom.mean-pool.head">
            <a:extLst xmlns:a="http://schemas.openxmlformats.org/drawingml/2006/main">
              <a:ext uri="{FF2B5EF4-FFF2-40B4-BE49-F238E27FC236}">
                <a16:creationId xmlns:a16="http://schemas.microsoft.com/office/drawing/2014/main" id="{583C3D4C-32C9-4BE5-B524-8DD77A48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48700" y="38862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bottom.mean-pool-label">
            <a:extLst xmlns:a="http://schemas.openxmlformats.org/drawingml/2006/main">
              <a:ext uri="{FF2B5EF4-FFF2-40B4-BE49-F238E27FC236}">
                <a16:creationId xmlns:a16="http://schemas.microsoft.com/office/drawing/2014/main" id="{F3E54407-569A-44FB-9DBE-27D040C4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480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mean pooling</a:t>
            </a:r>
          </a:p>
        </p:txBody>
      </p:sp>
      <p:sp>
        <p:nvSpPr>
          <p:cNvPr id="83" name="bottom.sequence">
            <a:extLst xmlns:a="http://schemas.openxmlformats.org/drawingml/2006/main">
              <a:ext uri="{FF2B5EF4-FFF2-40B4-BE49-F238E27FC236}">
                <a16:creationId xmlns:a16="http://schemas.microsoft.com/office/drawing/2014/main" id="{01035577-E040-4A09-8FC9-DDED380E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71900"/>
            <a:ext cx="17716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0CB"/>
          </a:solidFill>
          <a:ln xmlns:a="http://schemas.openxmlformats.org/drawingml/2006/main" w="9525">
            <a:solidFill>
              <a:srgbClr val="1F3B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sequence representation</a:t>
            </a:r>
          </a:p>
        </p:txBody>
      </p:sp>
      <p:sp>
        <p:nvSpPr>
          <p:cNvPr id="84" name="contrastive.top">
            <a:extLst xmlns:a="http://schemas.openxmlformats.org/drawingml/2006/main">
              <a:ext uri="{FF2B5EF4-FFF2-40B4-BE49-F238E27FC236}">
                <a16:creationId xmlns:a16="http://schemas.microsoft.com/office/drawing/2014/main" id="{DE68D7B1-5D96-4D1C-8D8C-D059D8BF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314450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85" name="contrastive.top.head">
            <a:extLst xmlns:a="http://schemas.openxmlformats.org/drawingml/2006/main">
              <a:ext uri="{FF2B5EF4-FFF2-40B4-BE49-F238E27FC236}">
                <a16:creationId xmlns:a16="http://schemas.microsoft.com/office/drawing/2014/main" id="{6C1E11D5-2D92-4A6A-9171-21B24980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572625" y="3629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trastive.bottom">
            <a:extLst xmlns:a="http://schemas.openxmlformats.org/drawingml/2006/main">
              <a:ext uri="{FF2B5EF4-FFF2-40B4-BE49-F238E27FC236}">
                <a16:creationId xmlns:a16="http://schemas.microsoft.com/office/drawing/2014/main" id="{0CBDB975-2703-4FF8-92C8-4BC649A1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323975"/>
            <a:ext cx="0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87" name="contrastive.bottom.head">
            <a:extLst xmlns:a="http://schemas.openxmlformats.org/drawingml/2006/main">
              <a:ext uri="{FF2B5EF4-FFF2-40B4-BE49-F238E27FC236}">
                <a16:creationId xmlns:a16="http://schemas.microsoft.com/office/drawing/2014/main" id="{0211B346-E8C0-44FD-A982-E6884DD0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1285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1081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2026-07-30T15:18:47.9450000Z</dcterms:created>
  <dcterms:modified xsi:type="dcterms:W3CDTF">2026-07-30T15:18:47.9450000Z</dcterms:modified>
</coreProperties>
</file>