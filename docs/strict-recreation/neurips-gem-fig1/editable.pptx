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608d84a37f4694" /><Relationship Type="http://schemas.openxmlformats.org/officeDocument/2006/relationships/extended-properties" Target="/docProps/app.xml" Id="R45da84b36d98459c" /><Relationship Type="http://schemas.openxmlformats.org/officeDocument/2006/relationships/officeDocument" Target="/ppt/presentation.xml" Id="R7b6e20a06abd4d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6295cf8b714060"/>
  </p:sldMasterIdLst>
  <p:notesMasterIdLst>
    <p:notesMasterId xmlns:r="http://schemas.openxmlformats.org/officeDocument/2006/relationships" r:id="R4c1ccd5c9e3747ba"/>
  </p:notesMasterIdLst>
  <p:sldIdLst>
    <p:sldId xmlns:r="http://schemas.openxmlformats.org/officeDocument/2006/relationships" id="256" r:id="R293b154bfe824faf"/>
  </p:sldIdLst>
  <p:sldSz cx="9705975" cy="27241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90e91b5ed94ed1" /><Relationship Type="http://schemas.openxmlformats.org/officeDocument/2006/relationships/slideMaster" Target="/ppt/slideMasters/slideMaster1.xml" Id="R3c6295cf8b714060" /><Relationship Type="http://schemas.openxmlformats.org/officeDocument/2006/relationships/notesMaster" Target="/ppt/notesMasters/notesMaster1.xml" Id="R4c1ccd5c9e3747ba" /><Relationship Type="http://schemas.openxmlformats.org/officeDocument/2006/relationships/presProps" Target="/ppt/presProps.xml" Id="Ra47ea04da9b64269" /><Relationship Type="http://schemas.openxmlformats.org/officeDocument/2006/relationships/tableStyles" Target="/ppt/tableStyles.xml" Id="R7e1487c6db3b41ef" /><Relationship Type="http://schemas.openxmlformats.org/officeDocument/2006/relationships/slide" Target="/ppt/slides/slide1.xml" Id="R293b154bfe824f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e102348f3c47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f52842e56c4a2f" /><Relationship Type="http://schemas.openxmlformats.org/officeDocument/2006/relationships/notesMaster" Target="/ppt/notesMasters/notesMaster1.xml" Id="R6d6403c5b5aa47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https://proceedings.neurips.cc/paper_files/paper/2024/hash/bac4d92b3f6decfe47eab9a5893dd1f6-Abstract-Conference.html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ca2ba27a047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8c2c0a2371404a" /><Relationship Type="http://schemas.openxmlformats.org/officeDocument/2006/relationships/slideLayout" Target="/ppt/slideLayouts/slideLayout1.xml" Id="R5bfba9ea969345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fba9ea969345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4f9074fde4818" /><Relationship Type="http://schemas.openxmlformats.org/officeDocument/2006/relationships/image" Target="/ppt/media/image.png" Id="Rffe02e66c15c4668" /><Relationship Type="http://schemas.openxmlformats.org/officeDocument/2006/relationships/image" Target="/ppt/media/image2.png" Id="R0aeaf52c5a6f417e" /><Relationship Type="http://schemas.openxmlformats.org/officeDocument/2006/relationships/image" Target="/ppt/media/image3.png" Id="R45cd32e8dd6b4137" /><Relationship Type="http://schemas.openxmlformats.org/officeDocument/2006/relationships/image" Target="/ppt/media/image4.png" Id="R45342f8efe03484e" /><Relationship Type="http://schemas.openxmlformats.org/officeDocument/2006/relationships/notesSlide" Target="/ppt/notesSlides/notesSlide1.xml" Id="Rb4bcafa3ced444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divider">
            <a:extLst xmlns:a="http://schemas.openxmlformats.org/drawingml/2006/main">
              <a:ext uri="{FF2B5EF4-FFF2-40B4-BE49-F238E27FC236}">
                <a16:creationId xmlns:a16="http://schemas.microsoft.com/office/drawing/2014/main" id="{D9BD0B14-B744-4855-92E4-2FCAAAE5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81350" y="1314450"/>
            <a:ext cx="262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dash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02e66c15c4668"/>
          <a:stretch xmlns:a="http://schemas.openxmlformats.org/drawingml/2006/main"/>
        </p:blipFill>
        <p:spPr>
          <a:xfrm xmlns:a="http://schemas.openxmlformats.org/drawingml/2006/main">
            <a:off x="142875" y="323850"/>
            <a:ext cx="647700" cy="942975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af52c5a6f417e"/>
          <a:stretch xmlns:a="http://schemas.openxmlformats.org/drawingml/2006/main"/>
        </p:blipFill>
        <p:spPr>
          <a:xfrm xmlns:a="http://schemas.openxmlformats.org/drawingml/2006/main">
            <a:off x="142875" y="1676400"/>
            <a:ext cx="647700" cy="942975"/>
          </a:xfrm>
          <a:prstGeom xmlns:a="http://schemas.openxmlformats.org/drawingml/2006/main" prst="rect">
            <a:avLst/>
          </a:prstGeom>
        </p:spPr>
      </p:pic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d32e8dd6b4137"/>
          <a:stretch xmlns:a="http://schemas.openxmlformats.org/drawingml/2006/main"/>
        </p:blipFill>
        <p:spPr>
          <a:xfrm xmlns:a="http://schemas.openxmlformats.org/drawingml/2006/main">
            <a:off x="4591050" y="457200"/>
            <a:ext cx="1171575" cy="1743075"/>
          </a:xfrm>
          <a:prstGeom xmlns:a="http://schemas.openxmlformats.org/drawingml/2006/main" prst="rect">
            <a:avLst/>
          </a:prstGeom>
        </p:spPr>
      </p:pic>
      <p:sp>
        <p:nvSpPr>
          <p:cNvPr id="5" name="flat.encoder.box">
            <a:extLst xmlns:a="http://schemas.openxmlformats.org/drawingml/2006/main">
              <a:ext uri="{FF2B5EF4-FFF2-40B4-BE49-F238E27FC236}">
                <a16:creationId xmlns:a16="http://schemas.microsoft.com/office/drawing/2014/main" id="{9CA42D09-B748-47C4-9A33-9F522B35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"/>
            <a:ext cx="533400" cy="9429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88888"/>
            </a:solidFill>
            <a:prstDash val="solid"/>
          </a:ln>
        </p:spPr>
      </p:sp>
      <p:sp>
        <p:nvSpPr>
          <p:cNvPr id="6" name="flat.encoder.text">
            <a:extLst xmlns:a="http://schemas.openxmlformats.org/drawingml/2006/main">
              <a:ext uri="{FF2B5EF4-FFF2-40B4-BE49-F238E27FC236}">
                <a16:creationId xmlns:a16="http://schemas.microsoft.com/office/drawing/2014/main" id="{F0E98CE1-F213-40DD-84AA-A322BDB6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"/>
            <a:ext cx="5334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77777"/>
                </a:solidFill>
              </a:defRPr>
            </a:pPr>
            <a:r>
              <a:rPr sz="900" b="0" i="0">
                <a:solidFill>
                  <a:srgbClr val="777777"/>
                </a:solidFill>
              </a:rPr>
              <a:t>Encoder</a:t>
            </a:r>
          </a:p>
        </p:txBody>
      </p:sp>
      <p:sp>
        <p:nvSpPr>
          <p:cNvPr id="7" name="struct.encoder.box">
            <a:extLst xmlns:a="http://schemas.openxmlformats.org/drawingml/2006/main">
              <a:ext uri="{FF2B5EF4-FFF2-40B4-BE49-F238E27FC236}">
                <a16:creationId xmlns:a16="http://schemas.microsoft.com/office/drawing/2014/main" id="{1E195B28-E9DC-4198-BF27-DDC65BE0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76400"/>
            <a:ext cx="533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88888"/>
            </a:solidFill>
            <a:prstDash val="solid"/>
          </a:ln>
        </p:spPr>
      </p:sp>
      <p:sp>
        <p:nvSpPr>
          <p:cNvPr id="8" name="struct.encoder.text">
            <a:extLst xmlns:a="http://schemas.openxmlformats.org/drawingml/2006/main">
              <a:ext uri="{FF2B5EF4-FFF2-40B4-BE49-F238E27FC236}">
                <a16:creationId xmlns:a16="http://schemas.microsoft.com/office/drawing/2014/main" id="{CD503DFB-A272-42B8-9C60-70077553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76400"/>
            <a:ext cx="53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77777"/>
                </a:solidFill>
              </a:defRPr>
            </a:pPr>
            <a:r>
              <a:rPr sz="900" b="0" i="0">
                <a:solidFill>
                  <a:srgbClr val="777777"/>
                </a:solidFill>
              </a:rPr>
              <a:t>Encoder</a:t>
            </a:r>
          </a:p>
        </p:txBody>
      </p:sp>
      <p:sp>
        <p:nvSpPr>
          <p:cNvPr id="9" name="flat.image-encoder.shaft">
            <a:extLst xmlns:a="http://schemas.openxmlformats.org/drawingml/2006/main">
              <a:ext uri="{FF2B5EF4-FFF2-40B4-BE49-F238E27FC236}">
                <a16:creationId xmlns:a16="http://schemas.microsoft.com/office/drawing/2014/main" id="{7E40733A-71D0-4BB5-A320-03D4629B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781050"/>
            <a:ext cx="998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DDDDD"/>
            </a:solidFill>
            <a:prstDash val="solid"/>
          </a:ln>
        </p:spPr>
      </p:sp>
      <p:sp>
        <p:nvSpPr>
          <p:cNvPr id="10" name="flat.image-encoder.head">
            <a:extLst xmlns:a="http://schemas.openxmlformats.org/drawingml/2006/main">
              <a:ext uri="{FF2B5EF4-FFF2-40B4-BE49-F238E27FC236}">
                <a16:creationId xmlns:a16="http://schemas.microsoft.com/office/drawing/2014/main" id="{E82B50DC-A0CE-4A26-84BD-40047220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4875" y="723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1" name="struct.image-encoder.shaft">
            <a:extLst xmlns:a="http://schemas.openxmlformats.org/drawingml/2006/main">
              <a:ext uri="{FF2B5EF4-FFF2-40B4-BE49-F238E27FC236}">
                <a16:creationId xmlns:a16="http://schemas.microsoft.com/office/drawing/2014/main" id="{275104F9-C63F-4980-9E7C-7A7A70F9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1933575"/>
            <a:ext cx="998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DDDDD"/>
            </a:solidFill>
            <a:prstDash val="solid"/>
          </a:ln>
        </p:spPr>
      </p:sp>
      <p:sp>
        <p:nvSpPr>
          <p:cNvPr id="12" name="struct.image-encoder.head">
            <a:extLst xmlns:a="http://schemas.openxmlformats.org/drawingml/2006/main">
              <a:ext uri="{FF2B5EF4-FFF2-40B4-BE49-F238E27FC236}">
                <a16:creationId xmlns:a16="http://schemas.microsoft.com/office/drawing/2014/main" id="{4C26F41B-3670-47C3-B1B8-E62DFF02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4875" y="1876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3" name="flat.title">
            <a:extLst xmlns:a="http://schemas.openxmlformats.org/drawingml/2006/main">
              <a:ext uri="{FF2B5EF4-FFF2-40B4-BE49-F238E27FC236}">
                <a16:creationId xmlns:a16="http://schemas.microsoft.com/office/drawing/2014/main" id="{089AFABA-2147-4DE4-80AC-23A02913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05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55555"/>
                </a:solidFill>
              </a:defRPr>
            </a:pPr>
            <a:r>
              <a:rPr sz="1050" b="0" i="0">
                <a:solidFill>
                  <a:srgbClr val="555555"/>
                </a:solidFill>
              </a:rPr>
              <a:t>VAE-based flat DRL</a:t>
            </a:r>
          </a:p>
        </p:txBody>
      </p:sp>
      <p:sp>
        <p:nvSpPr>
          <p:cNvPr id="14" name="struct.title">
            <a:extLst xmlns:a="http://schemas.openxmlformats.org/drawingml/2006/main">
              <a:ext uri="{FF2B5EF4-FFF2-40B4-BE49-F238E27FC236}">
                <a16:creationId xmlns:a16="http://schemas.microsoft.com/office/drawing/2014/main" id="{D2CB2C2A-20AF-46DA-98F1-072635CC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381125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55555"/>
                </a:solidFill>
              </a:defRPr>
            </a:pPr>
            <a:r>
              <a:rPr sz="1050" b="0" i="0">
                <a:solidFill>
                  <a:srgbClr val="555555"/>
                </a:solidFill>
              </a:rPr>
              <a:t>VAE-based structural DRL</a:t>
            </a:r>
          </a:p>
        </p:txBody>
      </p:sp>
      <p:sp>
        <p:nvSpPr>
          <p:cNvPr id="15" name="flat.attr.0.box">
            <a:extLst xmlns:a="http://schemas.openxmlformats.org/drawingml/2006/main">
              <a:ext uri="{FF2B5EF4-FFF2-40B4-BE49-F238E27FC236}">
                <a16:creationId xmlns:a16="http://schemas.microsoft.com/office/drawing/2014/main" id="{97D4A939-4225-46F6-8F46-169A3D8A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33375"/>
            <a:ext cx="628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99999"/>
            </a:solidFill>
            <a:prstDash val="solid"/>
          </a:ln>
        </p:spPr>
      </p:sp>
      <p:sp>
        <p:nvSpPr>
          <p:cNvPr id="16" name="flat.attr.0.text">
            <a:extLst xmlns:a="http://schemas.openxmlformats.org/drawingml/2006/main">
              <a:ext uri="{FF2B5EF4-FFF2-40B4-BE49-F238E27FC236}">
                <a16:creationId xmlns:a16="http://schemas.microsoft.com/office/drawing/2014/main" id="{F213C839-B0C1-41B4-B52D-0EA00C8B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33375"/>
            <a:ext cx="628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777777"/>
                </a:solidFill>
              </a:defRPr>
            </a:pPr>
            <a:r>
              <a:rPr sz="750" b="0" i="0">
                <a:solidFill>
                  <a:srgbClr val="777777"/>
                </a:solidFill>
              </a:rPr>
              <a:t>hat</a:t>
            </a:r>
          </a:p>
        </p:txBody>
      </p:sp>
      <p:sp>
        <p:nvSpPr>
          <p:cNvPr id="17" name="flat.attr.1.box">
            <a:extLst xmlns:a="http://schemas.openxmlformats.org/drawingml/2006/main">
              <a:ext uri="{FF2B5EF4-FFF2-40B4-BE49-F238E27FC236}">
                <a16:creationId xmlns:a16="http://schemas.microsoft.com/office/drawing/2014/main" id="{203BB5DE-9ECF-48DB-9949-174172BD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14350"/>
            <a:ext cx="628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99999"/>
            </a:solidFill>
            <a:prstDash val="solid"/>
          </a:ln>
        </p:spPr>
      </p:sp>
      <p:sp>
        <p:nvSpPr>
          <p:cNvPr id="18" name="flat.attr.1.text">
            <a:extLst xmlns:a="http://schemas.openxmlformats.org/drawingml/2006/main">
              <a:ext uri="{FF2B5EF4-FFF2-40B4-BE49-F238E27FC236}">
                <a16:creationId xmlns:a16="http://schemas.microsoft.com/office/drawing/2014/main" id="{573A0924-F9D4-4374-9594-598807BC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14350"/>
            <a:ext cx="628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777777"/>
                </a:solidFill>
              </a:defRPr>
            </a:pPr>
            <a:r>
              <a:rPr sz="750" b="0" i="0">
                <a:solidFill>
                  <a:srgbClr val="777777"/>
                </a:solidFill>
              </a:rPr>
              <a:t>eyes</a:t>
            </a:r>
          </a:p>
        </p:txBody>
      </p:sp>
      <p:sp>
        <p:nvSpPr>
          <p:cNvPr id="19" name="flat.attr.2.box">
            <a:extLst xmlns:a="http://schemas.openxmlformats.org/drawingml/2006/main">
              <a:ext uri="{FF2B5EF4-FFF2-40B4-BE49-F238E27FC236}">
                <a16:creationId xmlns:a16="http://schemas.microsoft.com/office/drawing/2014/main" id="{90B9A350-188C-4348-8172-8696AA85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695325"/>
            <a:ext cx="628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99999"/>
            </a:solidFill>
            <a:prstDash val="solid"/>
          </a:ln>
        </p:spPr>
      </p:sp>
      <p:sp>
        <p:nvSpPr>
          <p:cNvPr id="20" name="flat.attr.2.text">
            <a:extLst xmlns:a="http://schemas.openxmlformats.org/drawingml/2006/main">
              <a:ext uri="{FF2B5EF4-FFF2-40B4-BE49-F238E27FC236}">
                <a16:creationId xmlns:a16="http://schemas.microsoft.com/office/drawing/2014/main" id="{C096171E-E61A-4E3E-9C29-3E843697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695325"/>
            <a:ext cx="628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777777"/>
                </a:solidFill>
              </a:defRPr>
            </a:pPr>
            <a:r>
              <a:rPr sz="750" b="0" i="0">
                <a:solidFill>
                  <a:srgbClr val="777777"/>
                </a:solidFill>
              </a:rPr>
              <a:t>mustache</a:t>
            </a:r>
          </a:p>
        </p:txBody>
      </p:sp>
      <p:sp>
        <p:nvSpPr>
          <p:cNvPr id="21" name="flat.attr.3.box">
            <a:extLst xmlns:a="http://schemas.openxmlformats.org/drawingml/2006/main">
              <a:ext uri="{FF2B5EF4-FFF2-40B4-BE49-F238E27FC236}">
                <a16:creationId xmlns:a16="http://schemas.microsoft.com/office/drawing/2014/main" id="{BD204404-142E-420F-98C4-A6DB3ECD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876300"/>
            <a:ext cx="628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99999"/>
            </a:solidFill>
            <a:prstDash val="solid"/>
          </a:ln>
        </p:spPr>
      </p:sp>
      <p:sp>
        <p:nvSpPr>
          <p:cNvPr id="22" name="flat.attr.3.text">
            <a:extLst xmlns:a="http://schemas.openxmlformats.org/drawingml/2006/main">
              <a:ext uri="{FF2B5EF4-FFF2-40B4-BE49-F238E27FC236}">
                <a16:creationId xmlns:a16="http://schemas.microsoft.com/office/drawing/2014/main" id="{4FA2B390-9B4F-4804-A038-A91C75FC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876300"/>
            <a:ext cx="628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777777"/>
                </a:solidFill>
              </a:defRPr>
            </a:pPr>
            <a:r>
              <a:rPr sz="750" b="0" i="0">
                <a:solidFill>
                  <a:srgbClr val="777777"/>
                </a:solidFill>
              </a:rPr>
              <a:t>smile</a:t>
            </a:r>
          </a:p>
        </p:txBody>
      </p:sp>
      <p:sp>
        <p:nvSpPr>
          <p:cNvPr id="23" name="flat.attr.4.box">
            <a:extLst xmlns:a="http://schemas.openxmlformats.org/drawingml/2006/main">
              <a:ext uri="{FF2B5EF4-FFF2-40B4-BE49-F238E27FC236}">
                <a16:creationId xmlns:a16="http://schemas.microsoft.com/office/drawing/2014/main" id="{619B8094-B240-4EE5-97DB-328FFEAA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057275"/>
            <a:ext cx="628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99999"/>
            </a:solidFill>
            <a:prstDash val="solid"/>
          </a:ln>
        </p:spPr>
      </p:sp>
      <p:sp>
        <p:nvSpPr>
          <p:cNvPr id="24" name="flat.attr.4.text">
            <a:extLst xmlns:a="http://schemas.openxmlformats.org/drawingml/2006/main">
              <a:ext uri="{FF2B5EF4-FFF2-40B4-BE49-F238E27FC236}">
                <a16:creationId xmlns:a16="http://schemas.microsoft.com/office/drawing/2014/main" id="{C80E7BF8-56C3-4F5A-8987-537E382A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057275"/>
            <a:ext cx="628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777777"/>
                </a:solidFill>
              </a:defRPr>
            </a:pPr>
            <a:r>
              <a:rPr sz="750" b="0" i="0">
                <a:solidFill>
                  <a:srgbClr val="777777"/>
                </a:solidFill>
              </a:rPr>
              <a:t>hairline</a:t>
            </a:r>
          </a:p>
        </p:txBody>
      </p:sp>
      <p:sp>
        <p:nvSpPr>
          <p:cNvPr id="25" name="flat.errors">
            <a:extLst xmlns:a="http://schemas.openxmlformats.org/drawingml/2006/main">
              <a:ext uri="{FF2B5EF4-FFF2-40B4-BE49-F238E27FC236}">
                <a16:creationId xmlns:a16="http://schemas.microsoft.com/office/drawing/2014/main" id="{EF8E2D02-6D13-4202-9A2C-1BE14A0F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4825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93333"/>
                </a:solidFill>
              </a:defRPr>
            </a:pPr>
            <a:r>
              <a:rPr sz="750" b="0" i="0">
                <a:solidFill>
                  <a:srgbClr val="C93333"/>
                </a:solidFill>
              </a:rPr>
              <a:t>✖ Impractical in real scenarios</a:t>
            </a:r>
          </a:p>
          <a:p xmlns:a="http://schemas.openxmlformats.org/drawingml/2006/main">
            <a:pPr algn="l">
              <a:defRPr sz="750" b="0" i="0">
                <a:solidFill>
                  <a:srgbClr val="C93333"/>
                </a:solidFill>
              </a:defRPr>
            </a:pPr>
            <a:r>
              <a:rPr sz="750" b="0" i="0">
                <a:solidFill>
                  <a:srgbClr val="C93333"/>
                </a:solidFill>
              </a:rPr>
              <a:t>✖ Negligence of logical relations</a:t>
            </a:r>
          </a:p>
          <a:p xmlns:a="http://schemas.openxmlformats.org/drawingml/2006/main">
            <a:pPr algn="l">
              <a:defRPr sz="750" b="0" i="0">
                <a:solidFill>
                  <a:srgbClr val="C93333"/>
                </a:solidFill>
              </a:defRPr>
            </a:pPr>
            <a:r>
              <a:rPr sz="750" b="0" i="0">
                <a:solidFill>
                  <a:srgbClr val="C93333"/>
                </a:solidFill>
              </a:rPr>
              <a:t>✖ Fundamentally impossible to achieve</a:t>
            </a:r>
          </a:p>
        </p:txBody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42f8efe03484e"/>
          <a:stretch xmlns:a="http://schemas.openxmlformats.org/drawingml/2006/main"/>
        </p:blipFill>
        <p:spPr>
          <a:xfrm xmlns:a="http://schemas.openxmlformats.org/drawingml/2006/main">
            <a:off x="1562100" y="1895475"/>
            <a:ext cx="1466850" cy="685800"/>
          </a:xfrm>
          <a:prstGeom xmlns:a="http://schemas.openxmlformats.org/drawingml/2006/main" prst="rect">
            <a:avLst/>
          </a:prstGeom>
        </p:spPr>
      </p:pic>
      <p:sp>
        <p:nvSpPr>
          <p:cNvPr id="27" name="struct.errors">
            <a:extLst xmlns:a="http://schemas.openxmlformats.org/drawingml/2006/main">
              <a:ext uri="{FF2B5EF4-FFF2-40B4-BE49-F238E27FC236}">
                <a16:creationId xmlns:a16="http://schemas.microsoft.com/office/drawing/2014/main" id="{1604855A-4D97-4B7B-8871-331DD362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79070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93333"/>
                </a:solidFill>
              </a:defRPr>
            </a:pPr>
            <a:r>
              <a:rPr sz="750" b="0" i="0">
                <a:solidFill>
                  <a:srgbClr val="C93333"/>
                </a:solidFill>
              </a:rPr>
              <a:t>✖ Rely on priors and supervisions</a:t>
            </a:r>
          </a:p>
          <a:p xmlns:a="http://schemas.openxmlformats.org/drawingml/2006/main">
            <a:pPr algn="l">
              <a:defRPr sz="750" b="0" i="0">
                <a:solidFill>
                  <a:srgbClr val="C93333"/>
                </a:solidFill>
              </a:defRPr>
            </a:pPr>
            <a:r>
              <a:rPr sz="750" b="0" i="0">
                <a:solidFill>
                  <a:srgbClr val="C93333"/>
                </a:solidFill>
              </a:rPr>
              <a:t>✖ binary or unidirectional relations</a:t>
            </a:r>
          </a:p>
          <a:p xmlns:a="http://schemas.openxmlformats.org/drawingml/2006/main">
            <a:pPr algn="l">
              <a:defRPr sz="750" b="0" i="0">
                <a:solidFill>
                  <a:srgbClr val="C93333"/>
                </a:solidFill>
              </a:defRPr>
            </a:pPr>
            <a:r>
              <a:rPr sz="750" b="0" i="0">
                <a:solidFill>
                  <a:srgbClr val="C93333"/>
                </a:solidFill>
              </a:rPr>
              <a:t>✖ Inflexible architecture</a:t>
            </a:r>
          </a:p>
        </p:txBody>
      </p:sp>
      <p:sp>
        <p:nvSpPr>
          <p:cNvPr id="28" name="gem.title">
            <a:extLst xmlns:a="http://schemas.openxmlformats.org/drawingml/2006/main">
              <a:ext uri="{FF2B5EF4-FFF2-40B4-BE49-F238E27FC236}">
                <a16:creationId xmlns:a16="http://schemas.microsoft.com/office/drawing/2014/main" id="{FF7E0BA9-C0A9-47D5-9A25-FFAE4355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9525"/>
            <a:ext cx="4695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GEM: β-VAE and MLLM based DRL Framework with DisGraph</a:t>
            </a:r>
          </a:p>
        </p:txBody>
      </p:sp>
      <p:sp>
        <p:nvSpPr>
          <p:cNvPr id="29" name="gem.encoder.box">
            <a:extLst xmlns:a="http://schemas.openxmlformats.org/drawingml/2006/main">
              <a:ext uri="{FF2B5EF4-FFF2-40B4-BE49-F238E27FC236}">
                <a16:creationId xmlns:a16="http://schemas.microsoft.com/office/drawing/2014/main" id="{60005E20-6FB3-4AD1-B668-968CBC05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5775"/>
            <a:ext cx="857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DEEF7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" name="gem.encoder.text">
            <a:extLst xmlns:a="http://schemas.openxmlformats.org/drawingml/2006/main">
              <a:ext uri="{FF2B5EF4-FFF2-40B4-BE49-F238E27FC236}">
                <a16:creationId xmlns:a16="http://schemas.microsoft.com/office/drawing/2014/main" id="{08FA4651-F273-4200-BD56-9E64116B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5775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Encoder</a:t>
            </a:r>
          </a:p>
          <a:p xmlns:a="http://schemas.openxmlformats.org/drawingml/2006/main">
            <a:pPr algn="ctr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β-VAE</a:t>
            </a:r>
          </a:p>
        </p:txBody>
      </p:sp>
      <p:sp>
        <p:nvSpPr>
          <p:cNvPr id="31" name="gem.mllm.box">
            <a:extLst xmlns:a="http://schemas.openxmlformats.org/drawingml/2006/main">
              <a:ext uri="{FF2B5EF4-FFF2-40B4-BE49-F238E27FC236}">
                <a16:creationId xmlns:a16="http://schemas.microsoft.com/office/drawing/2014/main" id="{B9122825-B79D-437B-8223-70718752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76375"/>
            <a:ext cx="857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7D9A5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2" name="gem.mllm.text">
            <a:extLst xmlns:a="http://schemas.openxmlformats.org/drawingml/2006/main">
              <a:ext uri="{FF2B5EF4-FFF2-40B4-BE49-F238E27FC236}">
                <a16:creationId xmlns:a16="http://schemas.microsoft.com/office/drawing/2014/main" id="{617C6B5A-391F-4DFE-9DF1-D5463057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76375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MLLM</a:t>
            </a:r>
          </a:p>
          <a:p xmlns:a="http://schemas.openxmlformats.org/drawingml/2006/main">
            <a:pPr algn="ctr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GPT-4o</a:t>
            </a:r>
          </a:p>
        </p:txBody>
      </p:sp>
      <p:sp>
        <p:nvSpPr>
          <p:cNvPr id="33" name="gem.image-encoder.shaft">
            <a:extLst xmlns:a="http://schemas.openxmlformats.org/drawingml/2006/main">
              <a:ext uri="{FF2B5EF4-FFF2-40B4-BE49-F238E27FC236}">
                <a16:creationId xmlns:a16="http://schemas.microsoft.com/office/drawing/2014/main" id="{739CA0F4-E756-4547-B0F6-7AD8ECB2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2625" y="828675"/>
            <a:ext cx="11963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DDEEF7"/>
            </a:solidFill>
            <a:prstDash val="solid"/>
          </a:ln>
        </p:spPr>
      </p:sp>
      <p:sp>
        <p:nvSpPr>
          <p:cNvPr id="34" name="gem.image-encoder.head">
            <a:extLst xmlns:a="http://schemas.openxmlformats.org/drawingml/2006/main">
              <a:ext uri="{FF2B5EF4-FFF2-40B4-BE49-F238E27FC236}">
                <a16:creationId xmlns:a16="http://schemas.microsoft.com/office/drawing/2014/main" id="{E1744858-A3A5-439D-97A9-075032EE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76925" y="7620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EEF7"/>
          </a:solidFill>
          <a:ln xmlns:a="http://schemas.openxmlformats.org/drawingml/2006/main" w="0">
            <a:solidFill>
              <a:srgbClr val="DDEEF7"/>
            </a:solidFill>
            <a:prstDash val="solid"/>
          </a:ln>
        </p:spPr>
      </p:sp>
      <p:sp>
        <p:nvSpPr>
          <p:cNvPr id="35" name="gem.image-mllm.shaft">
            <a:extLst xmlns:a="http://schemas.openxmlformats.org/drawingml/2006/main">
              <a:ext uri="{FF2B5EF4-FFF2-40B4-BE49-F238E27FC236}">
                <a16:creationId xmlns:a16="http://schemas.microsoft.com/office/drawing/2014/main" id="{D74DFCA8-DCA3-44A4-94B0-3DAB9231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2625" y="1838325"/>
            <a:ext cx="11963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7D9A5"/>
            </a:solidFill>
            <a:prstDash val="solid"/>
          </a:ln>
        </p:spPr>
      </p:sp>
      <p:sp>
        <p:nvSpPr>
          <p:cNvPr id="36" name="gem.image-mllm.head">
            <a:extLst xmlns:a="http://schemas.openxmlformats.org/drawingml/2006/main">
              <a:ext uri="{FF2B5EF4-FFF2-40B4-BE49-F238E27FC236}">
                <a16:creationId xmlns:a16="http://schemas.microsoft.com/office/drawing/2014/main" id="{4AA680A1-818F-443E-B03C-AA89125F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76925" y="17716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7D9A5"/>
          </a:solidFill>
          <a:ln xmlns:a="http://schemas.openxmlformats.org/drawingml/2006/main" w="0">
            <a:solidFill>
              <a:srgbClr val="F7D9A5"/>
            </a:solidFill>
            <a:prstDash val="solid"/>
          </a:ln>
        </p:spPr>
      </p:sp>
      <p:sp>
        <p:nvSpPr>
          <p:cNvPr id="37" name="disgraph.frame">
            <a:extLst xmlns:a="http://schemas.openxmlformats.org/drawingml/2006/main">
              <a:ext uri="{FF2B5EF4-FFF2-40B4-BE49-F238E27FC236}">
                <a16:creationId xmlns:a16="http://schemas.microsoft.com/office/drawing/2014/main" id="{9606B0A3-1818-4FB3-BDEB-F412C6C5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6250"/>
            <a:ext cx="226695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14288">
            <a:solidFill>
              <a:srgbClr val="263B68"/>
            </a:solidFill>
            <a:prstDash val="dash"/>
          </a:ln>
        </p:spPr>
      </p:sp>
      <p:sp>
        <p:nvSpPr>
          <p:cNvPr id="38" name="disgraph.title">
            <a:extLst xmlns:a="http://schemas.openxmlformats.org/drawingml/2006/main">
              <a:ext uri="{FF2B5EF4-FFF2-40B4-BE49-F238E27FC236}">
                <a16:creationId xmlns:a16="http://schemas.microsoft.com/office/drawing/2014/main" id="{39B8A9B0-3A6C-46D5-BA64-F8631701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5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</a:defRPr>
            </a:pPr>
            <a:r>
              <a:rPr sz="1125" b="1" i="0">
                <a:solidFill>
                  <a:srgbClr val="111111"/>
                </a:solidFill>
              </a:rPr>
              <a:t>DisGraph</a:t>
            </a:r>
          </a:p>
        </p:txBody>
      </p:sp>
      <p:sp>
        <p:nvSpPr>
          <p:cNvPr id="39" name="disgraph.edge.0">
            <a:extLst xmlns:a="http://schemas.openxmlformats.org/drawingml/2006/main">
              <a:ext uri="{FF2B5EF4-FFF2-40B4-BE49-F238E27FC236}">
                <a16:creationId xmlns:a16="http://schemas.microsoft.com/office/drawing/2014/main" id="{C0762527-F8EC-4E09-BB96-EB4FBB8D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838200"/>
            <a:ext cx="140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58B1A"/>
            </a:solidFill>
            <a:prstDash val="solid"/>
          </a:ln>
        </p:spPr>
      </p:sp>
      <p:sp>
        <p:nvSpPr>
          <p:cNvPr id="40" name="disgraph.edge.1">
            <a:extLst xmlns:a="http://schemas.openxmlformats.org/drawingml/2006/main">
              <a:ext uri="{FF2B5EF4-FFF2-40B4-BE49-F238E27FC236}">
                <a16:creationId xmlns:a16="http://schemas.microsoft.com/office/drawing/2014/main" id="{F1DA927C-BE34-45EF-B196-73C5A8CD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822558" y="1062038"/>
            <a:ext cx="633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58B1A"/>
            </a:solidFill>
            <a:prstDash val="solid"/>
          </a:ln>
        </p:spPr>
      </p:sp>
      <p:sp>
        <p:nvSpPr>
          <p:cNvPr id="41" name="disgraph.edge.2">
            <a:extLst xmlns:a="http://schemas.openxmlformats.org/drawingml/2006/main">
              <a:ext uri="{FF2B5EF4-FFF2-40B4-BE49-F238E27FC236}">
                <a16:creationId xmlns:a16="http://schemas.microsoft.com/office/drawing/2014/main" id="{73D70CBC-488F-480B-9F34-C8AA2686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97216">
            <a:off x="7575701" y="1281113"/>
            <a:ext cx="9172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58B1A"/>
            </a:solidFill>
            <a:prstDash val="solid"/>
          </a:ln>
        </p:spPr>
      </p:sp>
      <p:sp>
        <p:nvSpPr>
          <p:cNvPr id="42" name="disgraph.edge.3">
            <a:extLst xmlns:a="http://schemas.openxmlformats.org/drawingml/2006/main">
              <a:ext uri="{FF2B5EF4-FFF2-40B4-BE49-F238E27FC236}">
                <a16:creationId xmlns:a16="http://schemas.microsoft.com/office/drawing/2014/main" id="{946247A2-13E1-4B7D-A5F6-3DD8BE81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77083">
            <a:off x="8893674" y="1033463"/>
            <a:ext cx="51970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58B1A"/>
            </a:solidFill>
            <a:prstDash val="solid"/>
          </a:ln>
        </p:spPr>
      </p:sp>
      <p:sp>
        <p:nvSpPr>
          <p:cNvPr id="43" name="disgraph.edge.4">
            <a:extLst xmlns:a="http://schemas.openxmlformats.org/drawingml/2006/main">
              <a:ext uri="{FF2B5EF4-FFF2-40B4-BE49-F238E27FC236}">
                <a16:creationId xmlns:a16="http://schemas.microsoft.com/office/drawing/2014/main" id="{CD85B0D7-0A99-4A68-B36A-E5790F2A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55146">
            <a:off x="8242716" y="1276350"/>
            <a:ext cx="1259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58B1A"/>
            </a:solidFill>
            <a:prstDash val="solid"/>
          </a:ln>
        </p:spPr>
      </p:sp>
      <p:sp>
        <p:nvSpPr>
          <p:cNvPr id="44" name="disgraph.edge.5">
            <a:extLst xmlns:a="http://schemas.openxmlformats.org/drawingml/2006/main">
              <a:ext uri="{FF2B5EF4-FFF2-40B4-BE49-F238E27FC236}">
                <a16:creationId xmlns:a16="http://schemas.microsoft.com/office/drawing/2014/main" id="{1D3B94AA-D01F-4C2F-94DD-95A59369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2883">
            <a:off x="7523426" y="1319213"/>
            <a:ext cx="8408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58B1A"/>
            </a:solidFill>
            <a:prstDash val="solid"/>
          </a:ln>
        </p:spPr>
      </p:sp>
      <p:sp>
        <p:nvSpPr>
          <p:cNvPr id="45" name="disgraph.edge.6">
            <a:extLst xmlns:a="http://schemas.openxmlformats.org/drawingml/2006/main">
              <a:ext uri="{FF2B5EF4-FFF2-40B4-BE49-F238E27FC236}">
                <a16:creationId xmlns:a16="http://schemas.microsoft.com/office/drawing/2014/main" id="{C52E1E4E-7B09-4333-A4AE-FBFAB2E7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34754">
            <a:off x="7473974" y="1538288"/>
            <a:ext cx="73020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58B1A"/>
            </a:solidFill>
            <a:prstDash val="solid"/>
          </a:ln>
        </p:spPr>
      </p:sp>
      <p:sp>
        <p:nvSpPr>
          <p:cNvPr id="46" name="disgraph.edge.7">
            <a:extLst xmlns:a="http://schemas.openxmlformats.org/drawingml/2006/main">
              <a:ext uri="{FF2B5EF4-FFF2-40B4-BE49-F238E27FC236}">
                <a16:creationId xmlns:a16="http://schemas.microsoft.com/office/drawing/2014/main" id="{83DE5EE9-CED5-43BD-9DF6-D88CA52C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6434">
            <a:off x="8361634" y="1257300"/>
            <a:ext cx="6217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58B1A"/>
            </a:solidFill>
            <a:prstDash val="solid"/>
          </a:ln>
        </p:spPr>
      </p:sp>
      <p:sp>
        <p:nvSpPr>
          <p:cNvPr id="47" name="disgraph.edge.8">
            <a:extLst xmlns:a="http://schemas.openxmlformats.org/drawingml/2006/main">
              <a:ext uri="{FF2B5EF4-FFF2-40B4-BE49-F238E27FC236}">
                <a16:creationId xmlns:a16="http://schemas.microsoft.com/office/drawing/2014/main" id="{8641A5FC-282B-4A5F-8258-E1936D12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33598">
            <a:off x="8015334" y="1504950"/>
            <a:ext cx="4856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58B1A"/>
            </a:solidFill>
            <a:prstDash val="solid"/>
          </a:ln>
        </p:spPr>
      </p:sp>
      <p:sp>
        <p:nvSpPr>
          <p:cNvPr id="48" name="disgraph.edge.9">
            <a:extLst xmlns:a="http://schemas.openxmlformats.org/drawingml/2006/main">
              <a:ext uri="{FF2B5EF4-FFF2-40B4-BE49-F238E27FC236}">
                <a16:creationId xmlns:a16="http://schemas.microsoft.com/office/drawing/2014/main" id="{6E610C27-0D4E-4824-B8C1-6B4EB56A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944321">
            <a:off x="8175316" y="1500188"/>
            <a:ext cx="4324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58B1A"/>
            </a:solidFill>
            <a:prstDash val="solid"/>
          </a:ln>
        </p:spPr>
      </p:sp>
      <p:sp>
        <p:nvSpPr>
          <p:cNvPr id="49" name="disgraph.edge.10">
            <a:extLst xmlns:a="http://schemas.openxmlformats.org/drawingml/2006/main">
              <a:ext uri="{FF2B5EF4-FFF2-40B4-BE49-F238E27FC236}">
                <a16:creationId xmlns:a16="http://schemas.microsoft.com/office/drawing/2014/main" id="{BE10D0AD-7ED3-45E6-A4EF-2091EF75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71156">
            <a:off x="8647907" y="1585913"/>
            <a:ext cx="7159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58B1A"/>
            </a:solidFill>
            <a:prstDash val="solid"/>
          </a:ln>
        </p:spPr>
      </p:sp>
      <p:sp>
        <p:nvSpPr>
          <p:cNvPr id="50" name="disgraph.edge.11">
            <a:extLst xmlns:a="http://schemas.openxmlformats.org/drawingml/2006/main">
              <a:ext uri="{FF2B5EF4-FFF2-40B4-BE49-F238E27FC236}">
                <a16:creationId xmlns:a16="http://schemas.microsoft.com/office/drawing/2014/main" id="{BFE9B1DF-9EF5-4EC8-822C-45A7CE53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349579">
            <a:off x="8329674" y="1471613"/>
            <a:ext cx="7428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58B1A"/>
            </a:solidFill>
            <a:prstDash val="solid"/>
          </a:ln>
        </p:spPr>
      </p:sp>
      <p:sp>
        <p:nvSpPr>
          <p:cNvPr id="51" name="disgraph.edge.12">
            <a:extLst xmlns:a="http://schemas.openxmlformats.org/drawingml/2006/main">
              <a:ext uri="{FF2B5EF4-FFF2-40B4-BE49-F238E27FC236}">
                <a16:creationId xmlns:a16="http://schemas.microsoft.com/office/drawing/2014/main" id="{FA8B8451-8972-4E53-90BA-B7EFD330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2175">
            <a:off x="8139915" y="1833563"/>
            <a:ext cx="9032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58B1A"/>
            </a:solidFill>
            <a:prstDash val="solid"/>
          </a:ln>
        </p:spPr>
      </p:sp>
      <p:sp>
        <p:nvSpPr>
          <p:cNvPr id="52" name="disgraph.edge.13">
            <a:extLst xmlns:a="http://schemas.openxmlformats.org/drawingml/2006/main">
              <a:ext uri="{FF2B5EF4-FFF2-40B4-BE49-F238E27FC236}">
                <a16:creationId xmlns:a16="http://schemas.microsoft.com/office/drawing/2014/main" id="{CB8FCAD9-7951-42C0-AFA9-63570C19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2725">
            <a:off x="8153315" y="1719263"/>
            <a:ext cx="2668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58B1A"/>
            </a:solidFill>
            <a:prstDash val="solid"/>
          </a:ln>
        </p:spPr>
      </p:sp>
      <p:sp>
        <p:nvSpPr>
          <p:cNvPr id="53" name="disgraph.edge.14">
            <a:extLst xmlns:a="http://schemas.openxmlformats.org/drawingml/2006/main">
              <a:ext uri="{FF2B5EF4-FFF2-40B4-BE49-F238E27FC236}">
                <a16:creationId xmlns:a16="http://schemas.microsoft.com/office/drawing/2014/main" id="{94026F4B-F16E-498B-9541-5EC48498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33363">
            <a:off x="8399373" y="1828800"/>
            <a:ext cx="6510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58B1A"/>
            </a:solidFill>
            <a:prstDash val="solid"/>
          </a:ln>
        </p:spPr>
      </p:sp>
      <p:sp>
        <p:nvSpPr>
          <p:cNvPr id="54" name="disgraph.node.0">
            <a:extLst xmlns:a="http://schemas.openxmlformats.org/drawingml/2006/main">
              <a:ext uri="{FF2B5EF4-FFF2-40B4-BE49-F238E27FC236}">
                <a16:creationId xmlns:a16="http://schemas.microsoft.com/office/drawing/2014/main" id="{A93388C6-DCBC-4157-AEBC-0C1362B0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742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1BC"/>
            </a:solidFill>
            <a:prstDash val="solid"/>
          </a:ln>
        </p:spPr>
      </p:sp>
      <p:sp>
        <p:nvSpPr>
          <p:cNvPr id="55" name="disgraph.node.0.label">
            <a:extLst xmlns:a="http://schemas.openxmlformats.org/drawingml/2006/main">
              <a:ext uri="{FF2B5EF4-FFF2-40B4-BE49-F238E27FC236}">
                <a16:creationId xmlns:a16="http://schemas.microsoft.com/office/drawing/2014/main" id="{C62DD91B-B016-4214-AFA3-D17EF2E5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7429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0" i="0">
                <a:solidFill>
                  <a:srgbClr val="111111"/>
                </a:solidFill>
              </a:defRPr>
            </a:pPr>
            <a:r>
              <a:rPr sz="525" b="0" i="0">
                <a:solidFill>
                  <a:srgbClr val="111111"/>
                </a:solidFill>
              </a:rPr>
              <a:t>hat</a:t>
            </a:r>
          </a:p>
        </p:txBody>
      </p:sp>
      <p:sp>
        <p:nvSpPr>
          <p:cNvPr id="56" name="disgraph.node.1">
            <a:extLst xmlns:a="http://schemas.openxmlformats.org/drawingml/2006/main">
              <a:ext uri="{FF2B5EF4-FFF2-40B4-BE49-F238E27FC236}">
                <a16:creationId xmlns:a16="http://schemas.microsoft.com/office/drawing/2014/main" id="{D1A27365-BDDB-49EB-9F71-2AFB677B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742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1BC"/>
            </a:solidFill>
            <a:prstDash val="solid"/>
          </a:ln>
        </p:spPr>
      </p:sp>
      <p:sp>
        <p:nvSpPr>
          <p:cNvPr id="57" name="disgraph.node.1.label">
            <a:extLst xmlns:a="http://schemas.openxmlformats.org/drawingml/2006/main">
              <a:ext uri="{FF2B5EF4-FFF2-40B4-BE49-F238E27FC236}">
                <a16:creationId xmlns:a16="http://schemas.microsoft.com/office/drawing/2014/main" id="{70E94519-B456-4484-A7A8-2B00FC9C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7429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0" i="0">
                <a:solidFill>
                  <a:srgbClr val="111111"/>
                </a:solidFill>
              </a:defRPr>
            </a:pPr>
            <a:r>
              <a:rPr sz="525" b="0" i="0">
                <a:solidFill>
                  <a:srgbClr val="111111"/>
                </a:solidFill>
              </a:rPr>
              <a:t>hairline</a:t>
            </a:r>
          </a:p>
        </p:txBody>
      </p:sp>
      <p:sp>
        <p:nvSpPr>
          <p:cNvPr id="58" name="disgraph.node.2">
            <a:extLst xmlns:a="http://schemas.openxmlformats.org/drawingml/2006/main">
              <a:ext uri="{FF2B5EF4-FFF2-40B4-BE49-F238E27FC236}">
                <a16:creationId xmlns:a16="http://schemas.microsoft.com/office/drawing/2014/main" id="{43825F79-43FF-4872-BF34-150E31D0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1BC"/>
            </a:solidFill>
            <a:prstDash val="solid"/>
          </a:ln>
        </p:spPr>
      </p:sp>
      <p:sp>
        <p:nvSpPr>
          <p:cNvPr id="59" name="disgraph.node.2.label">
            <a:extLst xmlns:a="http://schemas.openxmlformats.org/drawingml/2006/main">
              <a:ext uri="{FF2B5EF4-FFF2-40B4-BE49-F238E27FC236}">
                <a16:creationId xmlns:a16="http://schemas.microsoft.com/office/drawing/2014/main" id="{C80FFDDD-170A-4ADA-B9D7-D72205FF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573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0" i="0">
                <a:solidFill>
                  <a:srgbClr val="111111"/>
                </a:solidFill>
              </a:defRPr>
            </a:pPr>
            <a:r>
              <a:rPr sz="525" b="0" i="0">
                <a:solidFill>
                  <a:srgbClr val="111111"/>
                </a:solidFill>
              </a:rPr>
              <a:t>eyes</a:t>
            </a:r>
          </a:p>
        </p:txBody>
      </p:sp>
      <p:sp>
        <p:nvSpPr>
          <p:cNvPr id="60" name="disgraph.node.3">
            <a:extLst xmlns:a="http://schemas.openxmlformats.org/drawingml/2006/main">
              <a:ext uri="{FF2B5EF4-FFF2-40B4-BE49-F238E27FC236}">
                <a16:creationId xmlns:a16="http://schemas.microsoft.com/office/drawing/2014/main" id="{99A1226D-5966-4195-BC38-40716167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190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1BC"/>
            </a:solidFill>
            <a:prstDash val="solid"/>
          </a:ln>
        </p:spPr>
      </p:sp>
      <p:sp>
        <p:nvSpPr>
          <p:cNvPr id="61" name="disgraph.node.3.label">
            <a:extLst xmlns:a="http://schemas.openxmlformats.org/drawingml/2006/main">
              <a:ext uri="{FF2B5EF4-FFF2-40B4-BE49-F238E27FC236}">
                <a16:creationId xmlns:a16="http://schemas.microsoft.com/office/drawing/2014/main" id="{539E4ECE-B718-4D7D-84A7-58CF9D4B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1906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0" i="0">
                <a:solidFill>
                  <a:srgbClr val="111111"/>
                </a:solidFill>
              </a:defRPr>
            </a:pPr>
            <a:r>
              <a:rPr sz="525" b="0" i="0">
                <a:solidFill>
                  <a:srgbClr val="111111"/>
                </a:solidFill>
              </a:rPr>
              <a:t>smile</a:t>
            </a:r>
          </a:p>
        </p:txBody>
      </p:sp>
      <p:sp>
        <p:nvSpPr>
          <p:cNvPr id="62" name="disgraph.node.4">
            <a:extLst xmlns:a="http://schemas.openxmlformats.org/drawingml/2006/main">
              <a:ext uri="{FF2B5EF4-FFF2-40B4-BE49-F238E27FC236}">
                <a16:creationId xmlns:a16="http://schemas.microsoft.com/office/drawing/2014/main" id="{30C9E26A-86B5-4140-B837-DC2B5E70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1334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1BC"/>
            </a:solidFill>
            <a:prstDash val="solid"/>
          </a:ln>
        </p:spPr>
      </p:sp>
      <p:sp>
        <p:nvSpPr>
          <p:cNvPr id="63" name="disgraph.node.4.label">
            <a:extLst xmlns:a="http://schemas.openxmlformats.org/drawingml/2006/main">
              <a:ext uri="{FF2B5EF4-FFF2-40B4-BE49-F238E27FC236}">
                <a16:creationId xmlns:a16="http://schemas.microsoft.com/office/drawing/2014/main" id="{AC594A3D-CEB5-471C-B15B-448C751C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1334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0" i="0">
                <a:solidFill>
                  <a:srgbClr val="111111"/>
                </a:solidFill>
              </a:defRPr>
            </a:pPr>
            <a:r>
              <a:rPr sz="525" b="0" i="0">
                <a:solidFill>
                  <a:srgbClr val="111111"/>
                </a:solidFill>
              </a:rPr>
              <a:t>age</a:t>
            </a:r>
          </a:p>
        </p:txBody>
      </p:sp>
      <p:sp>
        <p:nvSpPr>
          <p:cNvPr id="64" name="disgraph.node.5">
            <a:extLst xmlns:a="http://schemas.openxmlformats.org/drawingml/2006/main">
              <a:ext uri="{FF2B5EF4-FFF2-40B4-BE49-F238E27FC236}">
                <a16:creationId xmlns:a16="http://schemas.microsoft.com/office/drawing/2014/main" id="{4888EF47-901F-41BA-9749-361BD703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28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1BC"/>
            </a:solidFill>
            <a:prstDash val="solid"/>
          </a:ln>
        </p:spPr>
      </p:sp>
      <p:sp>
        <p:nvSpPr>
          <p:cNvPr id="65" name="disgraph.node.5.label">
            <a:extLst xmlns:a="http://schemas.openxmlformats.org/drawingml/2006/main">
              <a:ext uri="{FF2B5EF4-FFF2-40B4-BE49-F238E27FC236}">
                <a16:creationId xmlns:a16="http://schemas.microsoft.com/office/drawing/2014/main" id="{00C0E8C9-36CD-4A43-888B-73CBE0E1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287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0" i="0">
                <a:solidFill>
                  <a:srgbClr val="111111"/>
                </a:solidFill>
              </a:defRPr>
            </a:pPr>
            <a:r>
              <a:rPr sz="525" b="0" i="0">
                <a:solidFill>
                  <a:srgbClr val="111111"/>
                </a:solidFill>
              </a:rPr>
              <a:t>mouth</a:t>
            </a:r>
          </a:p>
        </p:txBody>
      </p:sp>
      <p:sp>
        <p:nvSpPr>
          <p:cNvPr id="66" name="disgraph.node.6">
            <a:extLst xmlns:a="http://schemas.openxmlformats.org/drawingml/2006/main">
              <a:ext uri="{FF2B5EF4-FFF2-40B4-BE49-F238E27FC236}">
                <a16:creationId xmlns:a16="http://schemas.microsoft.com/office/drawing/2014/main" id="{9D7310F4-326D-4D68-8686-5D9FA902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47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1BC"/>
            </a:solidFill>
            <a:prstDash val="solid"/>
          </a:ln>
        </p:spPr>
      </p:sp>
      <p:sp>
        <p:nvSpPr>
          <p:cNvPr id="67" name="disgraph.node.6.label">
            <a:extLst xmlns:a="http://schemas.openxmlformats.org/drawingml/2006/main">
              <a:ext uri="{FF2B5EF4-FFF2-40B4-BE49-F238E27FC236}">
                <a16:creationId xmlns:a16="http://schemas.microsoft.com/office/drawing/2014/main" id="{07C36332-8BC4-4D29-AABA-4FA0EDF7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47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0" i="0">
                <a:solidFill>
                  <a:srgbClr val="111111"/>
                </a:solidFill>
              </a:defRPr>
            </a:pPr>
            <a:r>
              <a:rPr sz="525" b="0" i="0">
                <a:solidFill>
                  <a:srgbClr val="111111"/>
                </a:solidFill>
              </a:rPr>
              <a:t>beard</a:t>
            </a:r>
          </a:p>
        </p:txBody>
      </p:sp>
      <p:sp>
        <p:nvSpPr>
          <p:cNvPr id="68" name="disgraph.node.7">
            <a:extLst xmlns:a="http://schemas.openxmlformats.org/drawingml/2006/main">
              <a:ext uri="{FF2B5EF4-FFF2-40B4-BE49-F238E27FC236}">
                <a16:creationId xmlns:a16="http://schemas.microsoft.com/office/drawing/2014/main" id="{44F12505-C247-4241-B57E-101CDCBD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19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1BC"/>
            </a:solidFill>
            <a:prstDash val="solid"/>
          </a:ln>
        </p:spPr>
      </p:sp>
      <p:sp>
        <p:nvSpPr>
          <p:cNvPr id="69" name="disgraph.node.7.label">
            <a:extLst xmlns:a="http://schemas.openxmlformats.org/drawingml/2006/main">
              <a:ext uri="{FF2B5EF4-FFF2-40B4-BE49-F238E27FC236}">
                <a16:creationId xmlns:a16="http://schemas.microsoft.com/office/drawing/2014/main" id="{4B792FB5-540A-4811-8112-1D2214BA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19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0" i="0">
                <a:solidFill>
                  <a:srgbClr val="111111"/>
                </a:solidFill>
              </a:defRPr>
            </a:pPr>
            <a:r>
              <a:rPr sz="525" b="0" i="0">
                <a:solidFill>
                  <a:srgbClr val="111111"/>
                </a:solidFill>
              </a:rPr>
              <a:t>mustache</a:t>
            </a:r>
          </a:p>
        </p:txBody>
      </p:sp>
      <p:sp>
        <p:nvSpPr>
          <p:cNvPr id="70" name="encoder-graph.shaft">
            <a:extLst xmlns:a="http://schemas.openxmlformats.org/drawingml/2006/main">
              <a:ext uri="{FF2B5EF4-FFF2-40B4-BE49-F238E27FC236}">
                <a16:creationId xmlns:a16="http://schemas.microsoft.com/office/drawing/2014/main" id="{3E7FF692-06F8-4451-82A6-0BCEB9DA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828675"/>
            <a:ext cx="8999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1BC"/>
            </a:solidFill>
            <a:prstDash val="dash"/>
          </a:ln>
        </p:spPr>
      </p:sp>
      <p:sp>
        <p:nvSpPr>
          <p:cNvPr id="71" name="encoder-graph.head">
            <a:extLst xmlns:a="http://schemas.openxmlformats.org/drawingml/2006/main">
              <a:ext uri="{FF2B5EF4-FFF2-40B4-BE49-F238E27FC236}">
                <a16:creationId xmlns:a16="http://schemas.microsoft.com/office/drawing/2014/main" id="{E1FA3C8A-7A2A-4147-8728-2A2096C3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34300" y="771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71BC"/>
          </a:solidFill>
          <a:ln xmlns:a="http://schemas.openxmlformats.org/drawingml/2006/main" w="0">
            <a:solidFill>
              <a:srgbClr val="0071BC"/>
            </a:solidFill>
            <a:prstDash val="solid"/>
          </a:ln>
        </p:spPr>
      </p:sp>
      <p:sp>
        <p:nvSpPr>
          <p:cNvPr id="72" name="mllm-graph.shaft">
            <a:extLst xmlns:a="http://schemas.openxmlformats.org/drawingml/2006/main">
              <a:ext uri="{FF2B5EF4-FFF2-40B4-BE49-F238E27FC236}">
                <a16:creationId xmlns:a16="http://schemas.microsoft.com/office/drawing/2014/main" id="{13D60864-60DD-4E5A-8036-8A55CF11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1838325"/>
            <a:ext cx="11666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58B1A"/>
            </a:solidFill>
            <a:prstDash val="dash"/>
          </a:ln>
        </p:spPr>
      </p:sp>
      <p:sp>
        <p:nvSpPr>
          <p:cNvPr id="73" name="mllm-graph.head">
            <a:extLst xmlns:a="http://schemas.openxmlformats.org/drawingml/2006/main">
              <a:ext uri="{FF2B5EF4-FFF2-40B4-BE49-F238E27FC236}">
                <a16:creationId xmlns:a16="http://schemas.microsoft.com/office/drawing/2014/main" id="{669197FF-38E0-4CF8-8DC7-8478472F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01000" y="1781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8B1A"/>
          </a:solidFill>
          <a:ln xmlns:a="http://schemas.openxmlformats.org/drawingml/2006/main" w="0">
            <a:solidFill>
              <a:srgbClr val="E58B1A"/>
            </a:solidFill>
            <a:prstDash val="solid"/>
          </a:ln>
        </p:spPr>
      </p:sp>
      <p:sp>
        <p:nvSpPr>
          <p:cNvPr id="74" name="gem.benefits">
            <a:extLst xmlns:a="http://schemas.openxmlformats.org/drawingml/2006/main">
              <a:ext uri="{FF2B5EF4-FFF2-40B4-BE49-F238E27FC236}">
                <a16:creationId xmlns:a16="http://schemas.microsoft.com/office/drawing/2014/main" id="{51D7876C-8938-491A-850F-50C63345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71725"/>
            <a:ext cx="5076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098C4A"/>
                </a:solidFill>
              </a:defRPr>
            </a:pPr>
            <a:r>
              <a:rPr sz="825" b="0" i="0">
                <a:solidFill>
                  <a:srgbClr val="098C4A"/>
                </a:solidFill>
              </a:rPr>
              <a:t>✓ Unsupervised    ✓ Logical and practical    ✓ Rely on bidirectional &amp; weighted relations    ✓ Interpretable</a:t>
            </a:r>
          </a:p>
        </p:txBody>
      </p:sp>
    </p:spTree>
    <p:extLst>
      <p:ext uri="{BB962C8B-B14F-4D97-AF65-F5344CB8AC3E}">
        <p14:creationId xmlns:p14="http://schemas.microsoft.com/office/powerpoint/2010/main" val="731383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2026-07-31T03:07:01.1860000Z</dcterms:created>
  <dcterms:modified xsi:type="dcterms:W3CDTF">2026-07-31T03:07:01.1860000Z</dcterms:modified>
</coreProperties>
</file>