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866f18e594de2" /><Relationship Type="http://schemas.openxmlformats.org/officeDocument/2006/relationships/extended-properties" Target="/docProps/app.xml" Id="R3e91e4f5bdc94fe4" /><Relationship Type="http://schemas.openxmlformats.org/officeDocument/2006/relationships/officeDocument" Target="/ppt/presentation.xml" Id="R5cb4e6dffb8042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d316eae924bc3"/>
  </p:sldMasterIdLst>
  <p:notesMasterIdLst>
    <p:notesMasterId xmlns:r="http://schemas.openxmlformats.org/officeDocument/2006/relationships" r:id="Rc3b1893285264eb5"/>
  </p:notesMasterIdLst>
  <p:sldIdLst>
    <p:sldId xmlns:r="http://schemas.openxmlformats.org/officeDocument/2006/relationships" id="256" r:id="R268689449cc84c53"/>
  </p:sldIdLst>
  <p:sldSz cx="10658475" cy="200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e7aaef9f2c438b" /><Relationship Type="http://schemas.openxmlformats.org/officeDocument/2006/relationships/slideMaster" Target="/ppt/slideMasters/slideMaster1.xml" Id="Rce7d316eae924bc3" /><Relationship Type="http://schemas.openxmlformats.org/officeDocument/2006/relationships/notesMaster" Target="/ppt/notesMasters/notesMaster1.xml" Id="Rc3b1893285264eb5" /><Relationship Type="http://schemas.openxmlformats.org/officeDocument/2006/relationships/presProps" Target="/ppt/presProps.xml" Id="R4e0507e8101a4e55" /><Relationship Type="http://schemas.openxmlformats.org/officeDocument/2006/relationships/tableStyles" Target="/ppt/tableStyles.xml" Id="Raf4846094dac4a90" /><Relationship Type="http://schemas.openxmlformats.org/officeDocument/2006/relationships/slide" Target="/ppt/slides/slide1.xml" Id="R268689449cc8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d619da222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a3d103f154c25" /><Relationship Type="http://schemas.openxmlformats.org/officeDocument/2006/relationships/notesMaster" Target="/ppt/notesMasters/notesMaster1.xml" Id="R63bd908d4331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the Loop: Learning to Generate Writing Feedback via Language Model Simulated Student Revisions, EMNLP 2024, Figure 1: https://aclanthology.org/2024.emnlp-main.928/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62e56c37a4e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0f3fbabea4725" /><Relationship Type="http://schemas.openxmlformats.org/officeDocument/2006/relationships/slideLayout" Target="/ppt/slideLayouts/slideLayout1.xml" Id="R100dd49674e3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dd49674e3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696e655c44c93" /><Relationship Type="http://schemas.openxmlformats.org/officeDocument/2006/relationships/image" Target="/ppt/media/image.png" Id="R6d44fa83cf9d4a91" /><Relationship Type="http://schemas.openxmlformats.org/officeDocument/2006/relationships/image" Target="/ppt/media/image2.png" Id="R1e7f32421c874ded" /><Relationship Type="http://schemas.openxmlformats.org/officeDocument/2006/relationships/image" Target="/ppt/media/image3.png" Id="R9d0d144fa87c411e" /><Relationship Type="http://schemas.openxmlformats.org/officeDocument/2006/relationships/image" Target="/ppt/media/image4.png" Id="R597c074182294bc7" /><Relationship Type="http://schemas.openxmlformats.org/officeDocument/2006/relationships/image" Target="/ppt/media/image5.png" Id="Ra878dc8e6c3b4e00" /><Relationship Type="http://schemas.openxmlformats.org/officeDocument/2006/relationships/image" Target="/ppt/media/image6.png" Id="R3e03714c2c934bc5" /><Relationship Type="http://schemas.openxmlformats.org/officeDocument/2006/relationships/image" Target="/ppt/media/image7.png" Id="R2fa5773442fa4033" /><Relationship Type="http://schemas.openxmlformats.org/officeDocument/2006/relationships/notesSlide" Target="/ppt/notesSlides/notesSlide1.xml" Id="R423c9cdc8e174b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.initial">
            <a:extLst xmlns:a="http://schemas.openxmlformats.org/drawingml/2006/main">
              <a:ext uri="{FF2B5EF4-FFF2-40B4-BE49-F238E27FC236}">
                <a16:creationId xmlns:a16="http://schemas.microsoft.com/office/drawing/2014/main" id="{D29A2CAB-3BBB-4D27-BEAC-F90A0D9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Initial Writings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4fa83cf9d4a91"/>
          <a:stretch xmlns:a="http://schemas.openxmlformats.org/drawingml/2006/main"/>
        </p:blipFill>
        <p:spPr>
          <a:xfrm xmlns:a="http://schemas.openxmlformats.org/drawingml/2006/main">
            <a:off x="628650" y="514350"/>
            <a:ext cx="771525" cy="1057275"/>
          </a:xfrm>
          <a:prstGeom xmlns:a="http://schemas.openxmlformats.org/drawingml/2006/main" prst="rect">
            <a:avLst/>
          </a:prstGeom>
        </p:spPr>
      </p:pic>
      <p:sp>
        <p:nvSpPr>
          <p:cNvPr id="3" name="panel.feedback">
            <a:extLst xmlns:a="http://schemas.openxmlformats.org/drawingml/2006/main">
              <a:ext uri="{FF2B5EF4-FFF2-40B4-BE49-F238E27FC236}">
                <a16:creationId xmlns:a16="http://schemas.microsoft.com/office/drawing/2014/main" id="{093A38D9-9048-4D5D-8AAC-1F8E8C37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4" name="title.feedback">
            <a:extLst xmlns:a="http://schemas.openxmlformats.org/drawingml/2006/main">
              <a:ext uri="{FF2B5EF4-FFF2-40B4-BE49-F238E27FC236}">
                <a16:creationId xmlns:a16="http://schemas.microsoft.com/office/drawing/2014/main" id="{AAB523F2-B80D-4CF4-A529-EAAF73C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14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Generating Feedback</a:t>
            </a:r>
          </a:p>
        </p:txBody>
      </p:sp>
      <p:sp>
        <p:nvSpPr>
          <p:cNvPr id="5" name="module.feedback">
            <a:extLst xmlns:a="http://schemas.openxmlformats.org/drawingml/2006/main">
              <a:ext uri="{FF2B5EF4-FFF2-40B4-BE49-F238E27FC236}">
                <a16:creationId xmlns:a16="http://schemas.microsoft.com/office/drawing/2014/main" id="{4FE0B4F6-C995-44A1-BCFB-73417DBC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8650"/>
            <a:ext cx="762000" cy="819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E49A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6" name="formula.model">
            <a:extLst xmlns:a="http://schemas.openxmlformats.org/drawingml/2006/main">
              <a:ext uri="{FF2B5EF4-FFF2-40B4-BE49-F238E27FC236}">
                <a16:creationId xmlns:a16="http://schemas.microsoft.com/office/drawing/2014/main" id="{7A85D653-23E8-4C33-B2A1-83EEF71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5247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111111"/>
                </a:solidFill>
              </a:defRPr>
            </a:pPr>
            <a:r>
              <a:rPr sz="2550" b="0" i="1">
                <a:solidFill>
                  <a:srgbClr val="111111"/>
                </a:solidFill>
              </a:rPr>
              <a:t>Mₜ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f32421c874ded"/>
          <a:stretch xmlns:a="http://schemas.openxmlformats.org/drawingml/2006/main"/>
        </p:blipFill>
        <p:spPr>
          <a:xfrm xmlns:a="http://schemas.openxmlformats.org/drawingml/2006/main">
            <a:off x="2714625" y="73342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8" name="panel.student">
            <a:extLst xmlns:a="http://schemas.openxmlformats.org/drawingml/2006/main">
              <a:ext uri="{FF2B5EF4-FFF2-40B4-BE49-F238E27FC236}">
                <a16:creationId xmlns:a16="http://schemas.microsoft.com/office/drawing/2014/main" id="{CECF9160-648E-4965-9948-4385733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0"/>
            <a:ext cx="1657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F3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title.student">
            <a:extLst xmlns:a="http://schemas.openxmlformats.org/drawingml/2006/main">
              <a:ext uri="{FF2B5EF4-FFF2-40B4-BE49-F238E27FC236}">
                <a16:creationId xmlns:a16="http://schemas.microsoft.com/office/drawing/2014/main" id="{056F9BF2-B3D5-424F-BD35-2E689970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95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Revisions from Student</a:t>
            </a:r>
          </a:p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Simulator</a:t>
            </a:r>
          </a:p>
        </p:txBody>
      </p:sp>
      <p:sp>
        <p:nvSpPr>
          <p:cNvPr id="10" name="module.student">
            <a:extLst xmlns:a="http://schemas.openxmlformats.org/drawingml/2006/main">
              <a:ext uri="{FF2B5EF4-FFF2-40B4-BE49-F238E27FC236}">
                <a16:creationId xmlns:a16="http://schemas.microsoft.com/office/drawing/2014/main" id="{535E1877-01F9-4A0D-AF74-61E097B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28650"/>
            <a:ext cx="590550" cy="8191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9DBDEA"/>
          </a:solidFill>
          <a:ln xmlns:a="http://schemas.openxmlformats.org/drawingml/2006/main" w="9525">
            <a:solidFill>
              <a:srgbClr val="6B7B8D"/>
            </a:solidFill>
            <a:prstDash val="solid"/>
          </a:ln>
        </p:spPr>
      </p:sp>
      <p:sp>
        <p:nvSpPr>
          <p:cNvPr id="11" name="label.student">
            <a:extLst xmlns:a="http://schemas.openxmlformats.org/drawingml/2006/main">
              <a:ext uri="{FF2B5EF4-FFF2-40B4-BE49-F238E27FC236}">
                <a16:creationId xmlns:a16="http://schemas.microsoft.com/office/drawing/2014/main" id="{E3242EBF-F92B-4515-A94C-733AD94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52475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 i="1">
                <a:solidFill>
                  <a:srgbClr val="111111"/>
                </a:solidFill>
              </a:defRPr>
            </a:pPr>
            <a:r>
              <a:rPr sz="2625" b="0" i="1">
                <a:solidFill>
                  <a:srgbClr val="111111"/>
                </a:solidFill>
              </a:rPr>
              <a:t>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144fa87c411e"/>
          <a:stretch xmlns:a="http://schemas.openxmlformats.org/drawingml/2006/main"/>
        </p:blipFill>
        <p:spPr>
          <a:xfrm xmlns:a="http://schemas.openxmlformats.org/drawingml/2006/main">
            <a:off x="4752975" y="666750"/>
            <a:ext cx="561975" cy="847725"/>
          </a:xfrm>
          <a:prstGeom xmlns:a="http://schemas.openxmlformats.org/drawingml/2006/main" prst="rect">
            <a:avLst/>
          </a:prstGeom>
        </p:spPr>
      </p:pic>
      <p:sp>
        <p:nvSpPr>
          <p:cNvPr id="13" name="panel.scoring">
            <a:extLst xmlns:a="http://schemas.openxmlformats.org/drawingml/2006/main">
              <a:ext uri="{FF2B5EF4-FFF2-40B4-BE49-F238E27FC236}">
                <a16:creationId xmlns:a16="http://schemas.microsoft.com/office/drawing/2014/main" id="{A6FA6A5A-7FED-4DF6-A0DC-94CDDDE7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1885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4E8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" name="title.scoring">
            <a:extLst xmlns:a="http://schemas.openxmlformats.org/drawingml/2006/main">
              <a:ext uri="{FF2B5EF4-FFF2-40B4-BE49-F238E27FC236}">
                <a16:creationId xmlns:a16="http://schemas.microsoft.com/office/drawing/2014/main" id="{0671B9A0-D51E-4074-A817-8B1EB9D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95250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Scoring Revisions for</a:t>
            </a:r>
          </a:p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Preference Pair Selection</a:t>
            </a:r>
          </a:p>
        </p:txBody>
      </p:sp>
      <p:sp>
        <p:nvSpPr>
          <p:cNvPr id="15" name="frame.logo">
            <a:extLst xmlns:a="http://schemas.openxmlformats.org/drawingml/2006/main">
              <a:ext uri="{FF2B5EF4-FFF2-40B4-BE49-F238E27FC236}">
                <a16:creationId xmlns:a16="http://schemas.microsoft.com/office/drawing/2014/main" id="{C0100328-C068-4C76-9D13-37788C7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96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c074182294bc7"/>
          <a:stretch xmlns:a="http://schemas.openxmlformats.org/drawingml/2006/main"/>
        </p:blipFill>
        <p:spPr>
          <a:xfrm xmlns:a="http://schemas.openxmlformats.org/drawingml/2006/main">
            <a:off x="5734050" y="704335"/>
            <a:ext cx="666750" cy="64873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8dc8e6c3b4e00"/>
          <a:stretch xmlns:a="http://schemas.openxmlformats.org/drawingml/2006/main"/>
        </p:blipFill>
        <p:spPr>
          <a:xfrm xmlns:a="http://schemas.openxmlformats.org/drawingml/2006/main">
            <a:off x="6629400" y="942975"/>
            <a:ext cx="752475" cy="295275"/>
          </a:xfrm>
          <a:prstGeom xmlns:a="http://schemas.openxmlformats.org/drawingml/2006/main" prst="rect">
            <a:avLst/>
          </a:prstGeom>
        </p:spPr>
      </p:pic>
      <p:sp>
        <p:nvSpPr>
          <p:cNvPr id="18" name="title.preference">
            <a:extLst xmlns:a="http://schemas.openxmlformats.org/drawingml/2006/main">
              <a:ext uri="{FF2B5EF4-FFF2-40B4-BE49-F238E27FC236}">
                <a16:creationId xmlns:a16="http://schemas.microsoft.com/office/drawing/2014/main" id="{CEFA7EC2-2899-4584-822D-54E6F5A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95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Preference Relations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3714c2c934bc5"/>
          <a:stretch xmlns:a="http://schemas.openxmlformats.org/drawingml/2006/main"/>
        </p:blipFill>
        <p:spPr>
          <a:xfrm xmlns:a="http://schemas.openxmlformats.org/drawingml/2006/main">
            <a:off x="7591425" y="523875"/>
            <a:ext cx="1323975" cy="1076325"/>
          </a:xfrm>
          <a:prstGeom xmlns:a="http://schemas.openxmlformats.org/drawingml/2006/main" prst="rect">
            <a:avLst/>
          </a:prstGeom>
        </p:spPr>
      </p:pic>
      <p:sp>
        <p:nvSpPr>
          <p:cNvPr id="20" name="panel.dpo">
            <a:extLst xmlns:a="http://schemas.openxmlformats.org/drawingml/2006/main">
              <a:ext uri="{FF2B5EF4-FFF2-40B4-BE49-F238E27FC236}">
                <a16:creationId xmlns:a16="http://schemas.microsoft.com/office/drawing/2014/main" id="{928F7DB5-E141-4701-9633-EBB1A01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1000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21" name="title.dpo">
            <a:extLst xmlns:a="http://schemas.openxmlformats.org/drawingml/2006/main">
              <a:ext uri="{FF2B5EF4-FFF2-40B4-BE49-F238E27FC236}">
                <a16:creationId xmlns:a16="http://schemas.microsoft.com/office/drawing/2014/main" id="{B603483A-47EA-4CDA-8935-A2341EE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9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DPO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5773442fa4033"/>
          <a:stretch xmlns:a="http://schemas.openxmlformats.org/drawingml/2006/main"/>
        </p:blipFill>
        <p:spPr>
          <a:xfrm xmlns:a="http://schemas.openxmlformats.org/drawingml/2006/main">
            <a:off x="9220200" y="628650"/>
            <a:ext cx="742950" cy="800100"/>
          </a:xfrm>
          <a:prstGeom xmlns:a="http://schemas.openxmlformats.org/drawingml/2006/main" prst="rect">
            <a:avLst/>
          </a:prstGeom>
        </p:spPr>
      </p:pic>
      <p:sp>
        <p:nvSpPr>
          <p:cNvPr id="23" name="arrow.input-feedback">
            <a:extLst xmlns:a="http://schemas.openxmlformats.org/drawingml/2006/main">
              <a:ext uri="{FF2B5EF4-FFF2-40B4-BE49-F238E27FC236}">
                <a16:creationId xmlns:a16="http://schemas.microsoft.com/office/drawing/2014/main" id="{432CD738-D6B5-4EF5-96F9-1077C9B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668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4" name="arrow.input-feedback.head">
            <a:extLst xmlns:a="http://schemas.openxmlformats.org/drawingml/2006/main">
              <a:ext uri="{FF2B5EF4-FFF2-40B4-BE49-F238E27FC236}">
                <a16:creationId xmlns:a16="http://schemas.microsoft.com/office/drawing/2014/main" id="{78E81D0F-9FCF-41CC-B428-1448AE8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04975" y="1028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row.feedback-student">
            <a:extLst xmlns:a="http://schemas.openxmlformats.org/drawingml/2006/main">
              <a:ext uri="{FF2B5EF4-FFF2-40B4-BE49-F238E27FC236}">
                <a16:creationId xmlns:a16="http://schemas.microsoft.com/office/drawing/2014/main" id="{2232DFC7-AF90-4135-B48C-3BEF590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066800"/>
            <a:ext cx="1323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arrow.feedback-student.head">
            <a:extLst xmlns:a="http://schemas.openxmlformats.org/drawingml/2006/main">
              <a:ext uri="{FF2B5EF4-FFF2-40B4-BE49-F238E27FC236}">
                <a16:creationId xmlns:a16="http://schemas.microsoft.com/office/drawing/2014/main" id="{87895EC4-3C30-4932-8443-1289E353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00475" y="1028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rrow.student-scoring">
            <a:extLst xmlns:a="http://schemas.openxmlformats.org/drawingml/2006/main">
              <a:ext uri="{FF2B5EF4-FFF2-40B4-BE49-F238E27FC236}">
                <a16:creationId xmlns:a16="http://schemas.microsoft.com/office/drawing/2014/main" id="{53893EC8-A335-417A-8F27-1EE72B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0668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8" name="arrow.student-scoring.head">
            <a:extLst xmlns:a="http://schemas.openxmlformats.org/drawingml/2006/main">
              <a:ext uri="{FF2B5EF4-FFF2-40B4-BE49-F238E27FC236}">
                <a16:creationId xmlns:a16="http://schemas.microsoft.com/office/drawing/2014/main" id="{FC702D9A-AC62-4283-88E0-BCA6298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00700" y="1028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rrow.scoring-preference">
            <a:extLst xmlns:a="http://schemas.openxmlformats.org/drawingml/2006/main">
              <a:ext uri="{FF2B5EF4-FFF2-40B4-BE49-F238E27FC236}">
                <a16:creationId xmlns:a16="http://schemas.microsoft.com/office/drawing/2014/main" id="{9A69D63C-8EB4-459F-A72F-FB955FB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0668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30" name="arrow.scoring-preference.head">
            <a:extLst xmlns:a="http://schemas.openxmlformats.org/drawingml/2006/main">
              <a:ext uri="{FF2B5EF4-FFF2-40B4-BE49-F238E27FC236}">
                <a16:creationId xmlns:a16="http://schemas.microsoft.com/office/drawing/2014/main" id="{26ACFF10-9B47-49BA-A629-41598E7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43800" y="1028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rrow.preference-dpo">
            <a:extLst xmlns:a="http://schemas.openxmlformats.org/drawingml/2006/main">
              <a:ext uri="{FF2B5EF4-FFF2-40B4-BE49-F238E27FC236}">
                <a16:creationId xmlns:a16="http://schemas.microsoft.com/office/drawing/2014/main" id="{995F2318-9DF3-4370-B884-F3D0589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668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32" name="arrow.preference-dpo.head">
            <a:extLst xmlns:a="http://schemas.openxmlformats.org/drawingml/2006/main">
              <a:ext uri="{FF2B5EF4-FFF2-40B4-BE49-F238E27FC236}">
                <a16:creationId xmlns:a16="http://schemas.microsoft.com/office/drawing/2014/main" id="{D3D92AB0-BE4D-48D7-937B-FEC8E52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63050" y="1028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eedback.vertical-right">
            <a:extLst xmlns:a="http://schemas.openxmlformats.org/drawingml/2006/main">
              <a:ext uri="{FF2B5EF4-FFF2-40B4-BE49-F238E27FC236}">
                <a16:creationId xmlns:a16="http://schemas.microsoft.com/office/drawing/2014/main" id="{EB858B15-276A-4B2C-942D-313F1CFA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4478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34" name="feedback.horizontal">
            <a:extLst xmlns:a="http://schemas.openxmlformats.org/drawingml/2006/main">
              <a:ext uri="{FF2B5EF4-FFF2-40B4-BE49-F238E27FC236}">
                <a16:creationId xmlns:a16="http://schemas.microsoft.com/office/drawing/2014/main" id="{63B01EBF-CE2E-44FC-9993-6A391EC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05000"/>
            <a:ext cx="746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35" name="feedback.vertical-left">
            <a:extLst xmlns:a="http://schemas.openxmlformats.org/drawingml/2006/main">
              <a:ext uri="{FF2B5EF4-FFF2-40B4-BE49-F238E27FC236}">
                <a16:creationId xmlns:a16="http://schemas.microsoft.com/office/drawing/2014/main" id="{BDA29CD6-1F71-4E40-9B62-1D91521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525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36" name="feedback.head">
            <a:extLst xmlns:a="http://schemas.openxmlformats.org/drawingml/2006/main">
              <a:ext uri="{FF2B5EF4-FFF2-40B4-BE49-F238E27FC236}">
                <a16:creationId xmlns:a16="http://schemas.microsoft.com/office/drawing/2014/main" id="{E76DACD0-AA3C-4475-88AE-7DC81F1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1504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eedback.label">
            <a:extLst xmlns:a="http://schemas.openxmlformats.org/drawingml/2006/main">
              <a:ext uri="{FF2B5EF4-FFF2-40B4-BE49-F238E27FC236}">
                <a16:creationId xmlns:a16="http://schemas.microsoft.com/office/drawing/2014/main" id="{30F881AF-E2E3-45D0-BFFC-47A1590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0000"/>
                </a:solidFill>
              </a:defRPr>
            </a:pPr>
            <a:r>
              <a:rPr sz="975" b="1" i="0">
                <a:solidFill>
                  <a:srgbClr val="FF0000"/>
                </a:solidFill>
              </a:rPr>
              <a:t>Model for next iteration</a:t>
            </a:r>
          </a:p>
        </p:txBody>
      </p:sp>
    </p:spTree>
    <p:extLst>
      <p:ext uri="{BB962C8B-B14F-4D97-AF65-F5344CB8AC3E}">
        <p14:creationId xmlns:p14="http://schemas.microsoft.com/office/powerpoint/2010/main" val="730077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2026-07-30T15:03:59.8440000Z</dcterms:created>
  <dcterms:modified xsi:type="dcterms:W3CDTF">2026-07-30T15:03:59.8440000Z</dcterms:modified>
</coreProperties>
</file>