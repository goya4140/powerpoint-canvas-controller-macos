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22da967c748be" /><Relationship Type="http://schemas.openxmlformats.org/officeDocument/2006/relationships/extended-properties" Target="/docProps/app.xml" Id="Rc80376ff0a714e08" /><Relationship Type="http://schemas.openxmlformats.org/officeDocument/2006/relationships/officeDocument" Target="/ppt/presentation.xml" Id="Re5fd391e89a1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94acaf3c2478b"/>
  </p:sldMasterIdLst>
  <p:notesMasterIdLst>
    <p:notesMasterId xmlns:r="http://schemas.openxmlformats.org/officeDocument/2006/relationships" r:id="R0fe86dac9b7247ad"/>
  </p:notesMasterIdLst>
  <p:sldIdLst>
    <p:sldId xmlns:r="http://schemas.openxmlformats.org/officeDocument/2006/relationships" id="256" r:id="Reeade29ac5c04bbd"/>
  </p:sldIdLst>
  <p:sldSz cx="9305925" cy="6086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5e173ead841fe" /><Relationship Type="http://schemas.openxmlformats.org/officeDocument/2006/relationships/slideMaster" Target="/ppt/slideMasters/slideMaster1.xml" Id="R58094acaf3c2478b" /><Relationship Type="http://schemas.openxmlformats.org/officeDocument/2006/relationships/notesMaster" Target="/ppt/notesMasters/notesMaster1.xml" Id="R0fe86dac9b7247ad" /><Relationship Type="http://schemas.openxmlformats.org/officeDocument/2006/relationships/presProps" Target="/ppt/presProps.xml" Id="Rbd416ccc0bd1443d" /><Relationship Type="http://schemas.openxmlformats.org/officeDocument/2006/relationships/tableStyles" Target="/ppt/tableStyles.xml" Id="R19787b3733274bfc" /><Relationship Type="http://schemas.openxmlformats.org/officeDocument/2006/relationships/slide" Target="/ppt/slides/slide1.xml" Id="Reeade29ac5c0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e9b5510fa640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5a12d0950545bf" /><Relationship Type="http://schemas.openxmlformats.org/officeDocument/2006/relationships/notesMaster" Target="/ppt/notesMasters/notesMaster1.xml" Id="R01113490adad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 Unified Sampling Framework for Solver Searching of Diffusion Probabilistic Models, ICLR 2024, Figure 4: https://openreview.net/forum?id=W2d3LZbhhI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46a90c32942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b742ee1401421f" /><Relationship Type="http://schemas.openxmlformats.org/officeDocument/2006/relationships/slideLayout" Target="/ppt/slideLayouts/slideLayout1.xml" Id="R60c5b602885b4f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c5b602885b4f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afde4a51541ff" /><Relationship Type="http://schemas.openxmlformats.org/officeDocument/2006/relationships/notesSlide" Target="/ppt/notesSlides/notesSlide1.xml" Id="R59e46a5710464d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dataset.title">
            <a:extLst xmlns:a="http://schemas.openxmlformats.org/drawingml/2006/main">
              <a:ext uri="{FF2B5EF4-FFF2-40B4-BE49-F238E27FC236}">
                <a16:creationId xmlns:a16="http://schemas.microsoft.com/office/drawing/2014/main" id="{A6F7955B-C323-4BB8-A0B3-32206734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17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Dataset of Evaluated schedules</a:t>
            </a:r>
          </a:p>
        </p:txBody>
      </p:sp>
      <p:sp>
        <p:nvSpPr>
          <p:cNvPr id="2" name="dataset.frame">
            <a:extLst xmlns:a="http://schemas.openxmlformats.org/drawingml/2006/main">
              <a:ext uri="{FF2B5EF4-FFF2-40B4-BE49-F238E27FC236}">
                <a16:creationId xmlns:a16="http://schemas.microsoft.com/office/drawing/2014/main" id="{A833E8B5-442E-4691-955C-4C398247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19125"/>
            <a:ext cx="1409700" cy="1466850"/>
          </a:xfrm>
          <a:prstGeom xmlns:a="http://schemas.openxmlformats.org/drawingml/2006/main" prst="roundRect">
            <a:avLst>
              <a:gd name="adj" fmla="val 540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5A5A5A"/>
            </a:solidFill>
            <a:prstDash val="dash"/>
          </a:ln>
        </p:spPr>
      </p:sp>
      <p:sp>
        <p:nvSpPr>
          <p:cNvPr id="3" name="dataset.row.0">
            <a:extLst xmlns:a="http://schemas.openxmlformats.org/drawingml/2006/main">
              <a:ext uri="{FF2B5EF4-FFF2-40B4-BE49-F238E27FC236}">
                <a16:creationId xmlns:a16="http://schemas.microsoft.com/office/drawing/2014/main" id="{097A8211-F69A-4AB1-9A76-E8B61881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33425"/>
            <a:ext cx="11811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727A"/>
            </a:solidFill>
            <a:prstDash val="dash"/>
          </a:ln>
        </p:spPr>
      </p:sp>
      <p:sp>
        <p:nvSpPr>
          <p:cNvPr id="4" name="dataset.schedule.0">
            <a:extLst xmlns:a="http://schemas.openxmlformats.org/drawingml/2006/main">
              <a:ext uri="{FF2B5EF4-FFF2-40B4-BE49-F238E27FC236}">
                <a16:creationId xmlns:a16="http://schemas.microsoft.com/office/drawing/2014/main" id="{A42D661E-588E-46DB-8463-08F56A6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38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B3B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5" name="dataset.schedule-label.0">
            <a:extLst xmlns:a="http://schemas.openxmlformats.org/drawingml/2006/main">
              <a:ext uri="{FF2B5EF4-FFF2-40B4-BE49-F238E27FC236}">
                <a16:creationId xmlns:a16="http://schemas.microsoft.com/office/drawing/2014/main" id="{04560322-5191-41E8-A29E-9879D10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38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S₁</a:t>
            </a:r>
          </a:p>
        </p:txBody>
      </p:sp>
      <p:sp>
        <p:nvSpPr>
          <p:cNvPr id="6" name="dataset.score.0">
            <a:extLst xmlns:a="http://schemas.openxmlformats.org/drawingml/2006/main">
              <a:ext uri="{FF2B5EF4-FFF2-40B4-BE49-F238E27FC236}">
                <a16:creationId xmlns:a16="http://schemas.microsoft.com/office/drawing/2014/main" id="{B94A1455-BC4B-48F5-842F-BF8B6A3A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00100"/>
            <a:ext cx="65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Score:</a:t>
            </a:r>
          </a:p>
        </p:txBody>
      </p:sp>
      <p:sp>
        <p:nvSpPr>
          <p:cNvPr id="7" name="dataset.value.0">
            <a:extLst xmlns:a="http://schemas.openxmlformats.org/drawingml/2006/main">
              <a:ext uri="{FF2B5EF4-FFF2-40B4-BE49-F238E27FC236}">
                <a16:creationId xmlns:a16="http://schemas.microsoft.com/office/drawing/2014/main" id="{BD124324-C25E-4B42-9832-AE4F20DA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800100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1B23"/>
                </a:solidFill>
              </a:defRPr>
            </a:pPr>
            <a:r>
              <a:rPr sz="1050" b="1">
                <a:solidFill>
                  <a:srgbClr val="E31B23"/>
                </a:solidFill>
              </a:rPr>
              <a:t>F₁</a:t>
            </a:r>
          </a:p>
        </p:txBody>
      </p:sp>
      <p:sp>
        <p:nvSpPr>
          <p:cNvPr id="8" name="dataset.row.1">
            <a:extLst xmlns:a="http://schemas.openxmlformats.org/drawingml/2006/main">
              <a:ext uri="{FF2B5EF4-FFF2-40B4-BE49-F238E27FC236}">
                <a16:creationId xmlns:a16="http://schemas.microsoft.com/office/drawing/2014/main" id="{2D9364A8-6CA1-4F30-BFE2-E613045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11811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727A"/>
            </a:solidFill>
            <a:prstDash val="dash"/>
          </a:ln>
        </p:spPr>
      </p:sp>
      <p:sp>
        <p:nvSpPr>
          <p:cNvPr id="9" name="dataset.schedule.1">
            <a:extLst xmlns:a="http://schemas.openxmlformats.org/drawingml/2006/main">
              <a:ext uri="{FF2B5EF4-FFF2-40B4-BE49-F238E27FC236}">
                <a16:creationId xmlns:a16="http://schemas.microsoft.com/office/drawing/2014/main" id="{1D423322-9B54-4B5E-9E5D-ED65C200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B3B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10" name="dataset.schedule-label.1">
            <a:extLst xmlns:a="http://schemas.openxmlformats.org/drawingml/2006/main">
              <a:ext uri="{FF2B5EF4-FFF2-40B4-BE49-F238E27FC236}">
                <a16:creationId xmlns:a16="http://schemas.microsoft.com/office/drawing/2014/main" id="{D799B0BD-0FB3-4B6A-AC48-BB5F66C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S₂</a:t>
            </a:r>
          </a:p>
        </p:txBody>
      </p:sp>
      <p:sp>
        <p:nvSpPr>
          <p:cNvPr id="11" name="dataset.score.1">
            <a:extLst xmlns:a="http://schemas.openxmlformats.org/drawingml/2006/main">
              <a:ext uri="{FF2B5EF4-FFF2-40B4-BE49-F238E27FC236}">
                <a16:creationId xmlns:a16="http://schemas.microsoft.com/office/drawing/2014/main" id="{F7DEF2D5-B4BF-42B8-9C5A-F27A2BB3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43025"/>
            <a:ext cx="657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Score:</a:t>
            </a:r>
          </a:p>
        </p:txBody>
      </p:sp>
      <p:sp>
        <p:nvSpPr>
          <p:cNvPr id="12" name="dataset.value.1">
            <a:extLst xmlns:a="http://schemas.openxmlformats.org/drawingml/2006/main">
              <a:ext uri="{FF2B5EF4-FFF2-40B4-BE49-F238E27FC236}">
                <a16:creationId xmlns:a16="http://schemas.microsoft.com/office/drawing/2014/main" id="{EA59A0C9-50C1-4F43-A490-4A322C97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343025"/>
            <a:ext cx="23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31B23"/>
                </a:solidFill>
              </a:defRPr>
            </a:pPr>
            <a:r>
              <a:rPr sz="1050" b="1">
                <a:solidFill>
                  <a:srgbClr val="E31B23"/>
                </a:solidFill>
              </a:rPr>
              <a:t>F₂</a:t>
            </a:r>
          </a:p>
        </p:txBody>
      </p:sp>
      <p:sp>
        <p:nvSpPr>
          <p:cNvPr id="13" name="dataset.more">
            <a:extLst xmlns:a="http://schemas.openxmlformats.org/drawingml/2006/main">
              <a:ext uri="{FF2B5EF4-FFF2-40B4-BE49-F238E27FC236}">
                <a16:creationId xmlns:a16="http://schemas.microsoft.com/office/drawing/2014/main" id="{EE4C9D59-3AA1-40D4-B1BC-33E6111D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240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94E93"/>
                </a:solidFill>
              </a:defRPr>
            </a:pPr>
            <a:r>
              <a:rPr sz="1350" b="0">
                <a:solidFill>
                  <a:srgbClr val="294E93"/>
                </a:solidFill>
              </a:rPr>
              <a:t>……</a:t>
            </a:r>
          </a:p>
        </p:txBody>
      </p:sp>
      <p:sp>
        <p:nvSpPr>
          <p:cNvPr id="14" name="sampled.frame">
            <a:extLst xmlns:a="http://schemas.openxmlformats.org/drawingml/2006/main">
              <a:ext uri="{FF2B5EF4-FFF2-40B4-BE49-F238E27FC236}">
                <a16:creationId xmlns:a16="http://schemas.microsoft.com/office/drawing/2014/main" id="{26448F93-C677-46F3-A3DD-42A91648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6950"/>
            <a:ext cx="1704975" cy="17049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dash"/>
          </a:ln>
        </p:spPr>
      </p:sp>
      <p:sp>
        <p:nvSpPr>
          <p:cNvPr id="15" name="sampled.node.0">
            <a:extLst xmlns:a="http://schemas.openxmlformats.org/drawingml/2006/main">
              <a:ext uri="{FF2B5EF4-FFF2-40B4-BE49-F238E27FC236}">
                <a16:creationId xmlns:a16="http://schemas.microsoft.com/office/drawing/2014/main" id="{378CB9D8-A797-4C41-953D-293EF687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16" name="sampled.node.1">
            <a:extLst xmlns:a="http://schemas.openxmlformats.org/drawingml/2006/main">
              <a:ext uri="{FF2B5EF4-FFF2-40B4-BE49-F238E27FC236}">
                <a16:creationId xmlns:a16="http://schemas.microsoft.com/office/drawing/2014/main" id="{1F2370B5-4D53-4F5F-8D10-7995D74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812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17" name="sampled.node.2">
            <a:extLst xmlns:a="http://schemas.openxmlformats.org/drawingml/2006/main">
              <a:ext uri="{FF2B5EF4-FFF2-40B4-BE49-F238E27FC236}">
                <a16:creationId xmlns:a16="http://schemas.microsoft.com/office/drawing/2014/main" id="{E8CC6E71-FF8B-4294-B472-9C8BA853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18" name="sampled.node.3">
            <a:extLst xmlns:a="http://schemas.openxmlformats.org/drawingml/2006/main">
              <a:ext uri="{FF2B5EF4-FFF2-40B4-BE49-F238E27FC236}">
                <a16:creationId xmlns:a16="http://schemas.microsoft.com/office/drawing/2014/main" id="{D71AA486-2D77-4C3B-A89E-98BF0E4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718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19" name="sampled.node.4">
            <a:extLst xmlns:a="http://schemas.openxmlformats.org/drawingml/2006/main">
              <a:ext uri="{FF2B5EF4-FFF2-40B4-BE49-F238E27FC236}">
                <a16:creationId xmlns:a16="http://schemas.microsoft.com/office/drawing/2014/main" id="{8D112D93-271A-42C9-8C4C-1BB7325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19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0" name="sampled.node.5">
            <a:extLst xmlns:a="http://schemas.openxmlformats.org/drawingml/2006/main">
              <a:ext uri="{FF2B5EF4-FFF2-40B4-BE49-F238E27FC236}">
                <a16:creationId xmlns:a16="http://schemas.microsoft.com/office/drawing/2014/main" id="{0DD50494-23A5-493F-AC22-9B219DEC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62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1" name="sampled.label">
            <a:extLst xmlns:a="http://schemas.openxmlformats.org/drawingml/2006/main">
              <a:ext uri="{FF2B5EF4-FFF2-40B4-BE49-F238E27FC236}">
                <a16:creationId xmlns:a16="http://schemas.microsoft.com/office/drawing/2014/main" id="{C934DBDE-6F8B-4CFB-BA00-29A4166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3382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Sampled Schedules</a:t>
            </a:r>
          </a:p>
        </p:txBody>
      </p:sp>
      <p:sp>
        <p:nvSpPr>
          <p:cNvPr id="22" name="search.frame">
            <a:extLst xmlns:a="http://schemas.openxmlformats.org/drawingml/2006/main">
              <a:ext uri="{FF2B5EF4-FFF2-40B4-BE49-F238E27FC236}">
                <a16:creationId xmlns:a16="http://schemas.microsoft.com/office/drawing/2014/main" id="{C8290F3C-5835-4C5D-A901-5E1C0320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171950"/>
            <a:ext cx="1695450" cy="1695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dash"/>
          </a:ln>
        </p:spPr>
      </p:sp>
      <p:sp>
        <p:nvSpPr>
          <p:cNvPr id="23" name="search.node.0">
            <a:extLst xmlns:a="http://schemas.openxmlformats.org/drawingml/2006/main">
              <a:ext uri="{FF2B5EF4-FFF2-40B4-BE49-F238E27FC236}">
                <a16:creationId xmlns:a16="http://schemas.microsoft.com/office/drawing/2014/main" id="{5998CBE4-818F-4733-888E-9CE3FE18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577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4" name="search.node.1">
            <a:extLst xmlns:a="http://schemas.openxmlformats.org/drawingml/2006/main">
              <a:ext uri="{FF2B5EF4-FFF2-40B4-BE49-F238E27FC236}">
                <a16:creationId xmlns:a16="http://schemas.microsoft.com/office/drawing/2014/main" id="{C64A6FAC-C6DB-475F-B393-0FE49171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5" name="search.node.2">
            <a:extLst xmlns:a="http://schemas.openxmlformats.org/drawingml/2006/main">
              <a:ext uri="{FF2B5EF4-FFF2-40B4-BE49-F238E27FC236}">
                <a16:creationId xmlns:a16="http://schemas.microsoft.com/office/drawing/2014/main" id="{C7815A3F-28F7-49EA-9811-9209158B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957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6" name="search.node.3">
            <a:extLst xmlns:a="http://schemas.openxmlformats.org/drawingml/2006/main">
              <a:ext uri="{FF2B5EF4-FFF2-40B4-BE49-F238E27FC236}">
                <a16:creationId xmlns:a16="http://schemas.microsoft.com/office/drawing/2014/main" id="{755BD4B9-9E67-4BF4-829D-53FFBFE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5910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7" name="search.node.4">
            <a:extLst xmlns:a="http://schemas.openxmlformats.org/drawingml/2006/main">
              <a:ext uri="{FF2B5EF4-FFF2-40B4-BE49-F238E27FC236}">
                <a16:creationId xmlns:a16="http://schemas.microsoft.com/office/drawing/2014/main" id="{8EB6E2E7-9382-4D82-96F2-56A24715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8" name="search.node.5">
            <a:extLst xmlns:a="http://schemas.openxmlformats.org/drawingml/2006/main">
              <a:ext uri="{FF2B5EF4-FFF2-40B4-BE49-F238E27FC236}">
                <a16:creationId xmlns:a16="http://schemas.microsoft.com/office/drawing/2014/main" id="{BC87C9E8-81D8-497E-BF23-9137B802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72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29" name="search.node.6">
            <a:extLst xmlns:a="http://schemas.openxmlformats.org/drawingml/2006/main">
              <a:ext uri="{FF2B5EF4-FFF2-40B4-BE49-F238E27FC236}">
                <a16:creationId xmlns:a16="http://schemas.microsoft.com/office/drawing/2014/main" id="{70DDA74D-4A08-4565-987F-E0FEDF36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053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30" name="search.node.7">
            <a:extLst xmlns:a="http://schemas.openxmlformats.org/drawingml/2006/main">
              <a:ext uri="{FF2B5EF4-FFF2-40B4-BE49-F238E27FC236}">
                <a16:creationId xmlns:a16="http://schemas.microsoft.com/office/drawing/2014/main" id="{1E58DB50-607B-43BC-871C-EBA9833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95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31" name="search.node.8">
            <a:extLst xmlns:a="http://schemas.openxmlformats.org/drawingml/2006/main">
              <a:ext uri="{FF2B5EF4-FFF2-40B4-BE49-F238E27FC236}">
                <a16:creationId xmlns:a16="http://schemas.microsoft.com/office/drawing/2014/main" id="{DBDAB922-4A82-41D5-B4B2-C439C59C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76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32" name="search.node.9">
            <a:extLst xmlns:a="http://schemas.openxmlformats.org/drawingml/2006/main">
              <a:ext uri="{FF2B5EF4-FFF2-40B4-BE49-F238E27FC236}">
                <a16:creationId xmlns:a16="http://schemas.microsoft.com/office/drawing/2014/main" id="{FE1B863D-B957-44A1-B758-4DE6B4E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3244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33" name="search.node.10">
            <a:extLst xmlns:a="http://schemas.openxmlformats.org/drawingml/2006/main">
              <a:ext uri="{FF2B5EF4-FFF2-40B4-BE49-F238E27FC236}">
                <a16:creationId xmlns:a16="http://schemas.microsoft.com/office/drawing/2014/main" id="{4DD22DA8-2095-4FB8-B462-E9BE39CA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101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34" name="search.edge.0">
            <a:extLst xmlns:a="http://schemas.openxmlformats.org/drawingml/2006/main">
              <a:ext uri="{FF2B5EF4-FFF2-40B4-BE49-F238E27FC236}">
                <a16:creationId xmlns:a16="http://schemas.microsoft.com/office/drawing/2014/main" id="{8FC3DD50-2A41-44C8-9368-3823BEE4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19600"/>
            <a:ext cx="3143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A65A"/>
            </a:solidFill>
            <a:prstDash val="solid"/>
          </a:ln>
        </p:spPr>
      </p:sp>
      <p:sp>
        <p:nvSpPr>
          <p:cNvPr id="35" name="search.edge.1">
            <a:extLst xmlns:a="http://schemas.openxmlformats.org/drawingml/2006/main">
              <a:ext uri="{FF2B5EF4-FFF2-40B4-BE49-F238E27FC236}">
                <a16:creationId xmlns:a16="http://schemas.microsoft.com/office/drawing/2014/main" id="{BAEC595C-64A1-4F5A-B357-C81306C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3333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A65A"/>
            </a:solidFill>
            <a:prstDash val="solid"/>
          </a:ln>
        </p:spPr>
      </p:sp>
      <p:sp>
        <p:nvSpPr>
          <p:cNvPr id="36" name="search.edge.2">
            <a:extLst xmlns:a="http://schemas.openxmlformats.org/drawingml/2006/main">
              <a:ext uri="{FF2B5EF4-FFF2-40B4-BE49-F238E27FC236}">
                <a16:creationId xmlns:a16="http://schemas.microsoft.com/office/drawing/2014/main" id="{244BDE15-09C1-4417-AFBA-F7CD20E2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91100"/>
            <a:ext cx="6572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A65A"/>
            </a:solidFill>
            <a:prstDash val="solid"/>
          </a:ln>
        </p:spPr>
      </p:sp>
      <p:sp>
        <p:nvSpPr>
          <p:cNvPr id="37" name="search.edge.3">
            <a:extLst xmlns:a="http://schemas.openxmlformats.org/drawingml/2006/main">
              <a:ext uri="{FF2B5EF4-FFF2-40B4-BE49-F238E27FC236}">
                <a16:creationId xmlns:a16="http://schemas.microsoft.com/office/drawing/2014/main" id="{DD118B4E-C504-4FCE-AAE8-1050463E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38775"/>
            <a:ext cx="4000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A65A"/>
            </a:solidFill>
            <a:prstDash val="solid"/>
          </a:ln>
        </p:spPr>
      </p:sp>
      <p:sp>
        <p:nvSpPr>
          <p:cNvPr id="38" name="search.edge.4">
            <a:extLst xmlns:a="http://schemas.openxmlformats.org/drawingml/2006/main">
              <a:ext uri="{FF2B5EF4-FFF2-40B4-BE49-F238E27FC236}">
                <a16:creationId xmlns:a16="http://schemas.microsoft.com/office/drawing/2014/main" id="{8B1F28F2-BD82-4F6B-B305-028D9A96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91100"/>
            <a:ext cx="66675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A65A"/>
            </a:solidFill>
            <a:prstDash val="solid"/>
          </a:ln>
        </p:spPr>
      </p:sp>
      <p:sp>
        <p:nvSpPr>
          <p:cNvPr id="39" name="search.label">
            <a:extLst xmlns:a="http://schemas.openxmlformats.org/drawingml/2006/main">
              <a:ext uri="{FF2B5EF4-FFF2-40B4-BE49-F238E27FC236}">
                <a16:creationId xmlns:a16="http://schemas.microsoft.com/office/drawing/2014/main" id="{7AFEC224-18DE-4019-B2B8-B373344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293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Search Space</a:t>
            </a:r>
          </a:p>
        </p:txBody>
      </p:sp>
      <p:sp>
        <p:nvSpPr>
          <p:cNvPr id="40" name="predictor">
            <a:extLst xmlns:a="http://schemas.openxmlformats.org/drawingml/2006/main">
              <a:ext uri="{FF2B5EF4-FFF2-40B4-BE49-F238E27FC236}">
                <a16:creationId xmlns:a16="http://schemas.microsoft.com/office/drawing/2014/main" id="{A4C03A90-425D-4B39-B735-8569D4F5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981700" y="2390775"/>
            <a:ext cx="2124075" cy="16764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7FC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redictor.label">
            <a:extLst xmlns:a="http://schemas.openxmlformats.org/drawingml/2006/main">
              <a:ext uri="{FF2B5EF4-FFF2-40B4-BE49-F238E27FC236}">
                <a16:creationId xmlns:a16="http://schemas.microsoft.com/office/drawing/2014/main" id="{24F87DFD-08E3-4034-BB43-1A3BE319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47975"/>
            <a:ext cx="1533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Predictor</a:t>
            </a:r>
          </a:p>
        </p:txBody>
      </p:sp>
      <p:sp>
        <p:nvSpPr>
          <p:cNvPr id="42" name="step.1">
            <a:extLst xmlns:a="http://schemas.openxmlformats.org/drawingml/2006/main">
              <a:ext uri="{FF2B5EF4-FFF2-40B4-BE49-F238E27FC236}">
                <a16:creationId xmlns:a16="http://schemas.microsoft.com/office/drawing/2014/main" id="{E65FA7D6-9394-4469-8845-6D88D856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1. Sample a subset of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schedules through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evolutionary search</a:t>
            </a:r>
          </a:p>
        </p:txBody>
      </p:sp>
      <p:sp>
        <p:nvSpPr>
          <p:cNvPr id="43" name="step.2">
            <a:extLst xmlns:a="http://schemas.openxmlformats.org/drawingml/2006/main">
              <a:ext uri="{FF2B5EF4-FFF2-40B4-BE49-F238E27FC236}">
                <a16:creationId xmlns:a16="http://schemas.microsoft.com/office/drawing/2014/main" id="{C5DF4CF4-97A6-4C14-AFCC-CEBAB25C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28725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2. Evaluate the true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performance of sampled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schedules</a:t>
            </a:r>
          </a:p>
        </p:txBody>
      </p:sp>
      <p:sp>
        <p:nvSpPr>
          <p:cNvPr id="44" name="step.3">
            <a:extLst xmlns:a="http://schemas.openxmlformats.org/drawingml/2006/main">
              <a:ext uri="{FF2B5EF4-FFF2-40B4-BE49-F238E27FC236}">
                <a16:creationId xmlns:a16="http://schemas.microsoft.com/office/drawing/2014/main" id="{F743AF8F-B508-4A82-B41B-3F27799F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19200"/>
            <a:ext cx="2143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3. Train the predictor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with all evaluated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schedules</a:t>
            </a:r>
          </a:p>
        </p:txBody>
      </p:sp>
      <p:sp>
        <p:nvSpPr>
          <p:cNvPr id="45" name="step.4">
            <a:extLst xmlns:a="http://schemas.openxmlformats.org/drawingml/2006/main">
              <a:ext uri="{FF2B5EF4-FFF2-40B4-BE49-F238E27FC236}">
                <a16:creationId xmlns:a16="http://schemas.microsoft.com/office/drawing/2014/main" id="{F546D779-523A-4516-A312-83CFB41B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2257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4. Use the trained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predictor to guide the</a:t>
            </a:r>
          </a:p>
          <a:p xmlns:a="http://schemas.openxmlformats.org/drawingml/2006/main">
            <a:pPr algn="ctr">
              <a:defRPr sz="1350" b="0">
                <a:solidFill>
                  <a:srgbClr val="E78336"/>
                </a:solidFill>
              </a:defRPr>
            </a:pPr>
            <a:r>
              <a:rPr sz="1350" b="0">
                <a:solidFill>
                  <a:srgbClr val="E78336"/>
                </a:solidFill>
              </a:rPr>
              <a:t>evolutionary search</a:t>
            </a:r>
          </a:p>
        </p:txBody>
      </p:sp>
      <p:sp>
        <p:nvSpPr>
          <p:cNvPr id="46" name="arrow.sample-search">
            <a:extLst xmlns:a="http://schemas.openxmlformats.org/drawingml/2006/main">
              <a:ext uri="{FF2B5EF4-FFF2-40B4-BE49-F238E27FC236}">
                <a16:creationId xmlns:a16="http://schemas.microsoft.com/office/drawing/2014/main" id="{830A9036-A0A6-417B-A019-BF7DE9A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77234">
            <a:off x="2849044" y="4505325"/>
            <a:ext cx="1017036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338">
            <a:solidFill>
              <a:srgbClr val="7B786B"/>
            </a:solidFill>
            <a:prstDash val="solid"/>
          </a:ln>
        </p:spPr>
      </p:sp>
      <p:sp>
        <p:nvSpPr>
          <p:cNvPr id="47" name="arrow.sample-dataset">
            <a:extLst xmlns:a="http://schemas.openxmlformats.org/drawingml/2006/main">
              <a:ext uri="{FF2B5EF4-FFF2-40B4-BE49-F238E27FC236}">
                <a16:creationId xmlns:a16="http://schemas.microsoft.com/office/drawing/2014/main" id="{3A57B682-B7C2-49F3-950D-220FA3EC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74435">
            <a:off x="2869859" y="1690688"/>
            <a:ext cx="1013507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338">
            <a:solidFill>
              <a:srgbClr val="7B786B"/>
            </a:solidFill>
            <a:prstDash val="solid"/>
          </a:ln>
        </p:spPr>
      </p:sp>
      <p:sp>
        <p:nvSpPr>
          <p:cNvPr id="48" name="arrow.dataset-predictor">
            <a:extLst xmlns:a="http://schemas.openxmlformats.org/drawingml/2006/main">
              <a:ext uri="{FF2B5EF4-FFF2-40B4-BE49-F238E27FC236}">
                <a16:creationId xmlns:a16="http://schemas.microsoft.com/office/drawing/2014/main" id="{22B5BF68-CE2D-417B-8E15-8D5BDCB7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58078">
            <a:off x="5519861" y="1662113"/>
            <a:ext cx="1104654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338">
            <a:solidFill>
              <a:srgbClr val="7B786B"/>
            </a:solidFill>
            <a:prstDash val="solid"/>
          </a:ln>
        </p:spPr>
      </p:sp>
      <p:sp>
        <p:nvSpPr>
          <p:cNvPr id="49" name="arrow.predictor-search">
            <a:extLst xmlns:a="http://schemas.openxmlformats.org/drawingml/2006/main">
              <a:ext uri="{FF2B5EF4-FFF2-40B4-BE49-F238E27FC236}">
                <a16:creationId xmlns:a16="http://schemas.microsoft.com/office/drawing/2014/main" id="{7032E61C-E291-4B21-8A44-297461A5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946826">
            <a:off x="5581050" y="4486275"/>
            <a:ext cx="1058476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3338">
            <a:solidFill>
              <a:srgbClr val="7B786B"/>
            </a:solidFill>
            <a:prstDash val="solid"/>
          </a:ln>
        </p:spPr>
      </p:sp>
      <p:sp>
        <p:nvSpPr>
          <p:cNvPr id="50" name="legend.schedule">
            <a:extLst xmlns:a="http://schemas.openxmlformats.org/drawingml/2006/main">
              <a:ext uri="{FF2B5EF4-FFF2-40B4-BE49-F238E27FC236}">
                <a16:creationId xmlns:a16="http://schemas.microsoft.com/office/drawing/2014/main" id="{3E7BC61D-6BE0-4245-A5B6-B129436F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864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7D48"/>
          </a:solidFill>
          <a:ln xmlns:a="http://schemas.openxmlformats.org/drawingml/2006/main" w="9525">
            <a:solidFill>
              <a:srgbClr val="554629"/>
            </a:solidFill>
            <a:prstDash val="solid"/>
          </a:ln>
        </p:spPr>
      </p:sp>
      <p:sp>
        <p:nvSpPr>
          <p:cNvPr id="51" name="legend.label">
            <a:extLst xmlns:a="http://schemas.openxmlformats.org/drawingml/2006/main">
              <a:ext uri="{FF2B5EF4-FFF2-40B4-BE49-F238E27FC236}">
                <a16:creationId xmlns:a16="http://schemas.microsoft.com/office/drawing/2014/main" id="{A60290A5-6C70-4956-801F-2EACF027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912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Solver Schedules</a:t>
            </a:r>
          </a:p>
        </p:txBody>
      </p:sp>
    </p:spTree>
    <p:extLst>
      <p:ext uri="{BB962C8B-B14F-4D97-AF65-F5344CB8AC3E}">
        <p14:creationId xmlns:p14="http://schemas.microsoft.com/office/powerpoint/2010/main" val="1515632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2026-07-30T15:23:42.2060000Z</dcterms:created>
  <dcterms:modified xsi:type="dcterms:W3CDTF">2026-07-30T15:23:42.2060000Z</dcterms:modified>
</coreProperties>
</file>