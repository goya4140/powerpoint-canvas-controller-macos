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e949c5eed84889" /><Relationship Type="http://schemas.openxmlformats.org/officeDocument/2006/relationships/extended-properties" Target="/docProps/app.xml" Id="R8b63be8e450541d2" /><Relationship Type="http://schemas.openxmlformats.org/officeDocument/2006/relationships/officeDocument" Target="/ppt/presentation.xml" Id="R3c3c52f63691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dbbfb563a44e8"/>
  </p:sldMasterIdLst>
  <p:notesMasterIdLst>
    <p:notesMasterId xmlns:r="http://schemas.openxmlformats.org/officeDocument/2006/relationships" r:id="R5b9d6f8d8359492a"/>
  </p:notesMasterIdLst>
  <p:sldIdLst>
    <p:sldId xmlns:r="http://schemas.openxmlformats.org/officeDocument/2006/relationships" id="256" r:id="R140238cc040d41a5"/>
    <p:sldId xmlns:r="http://schemas.openxmlformats.org/officeDocument/2006/relationships" id="257" r:id="Re2dd7882213a4092"/>
    <p:sldId xmlns:r="http://schemas.openxmlformats.org/officeDocument/2006/relationships" id="258" r:id="Rccc3bae43a0a4d3a"/>
    <p:sldId xmlns:r="http://schemas.openxmlformats.org/officeDocument/2006/relationships" id="259" r:id="Redb3063c67c343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266421b43f4883" /><Relationship Type="http://schemas.openxmlformats.org/officeDocument/2006/relationships/slideMaster" Target="/ppt/slideMasters/slideMaster1.xml" Id="R511dbbfb563a44e8" /><Relationship Type="http://schemas.openxmlformats.org/officeDocument/2006/relationships/notesMaster" Target="/ppt/notesMasters/notesMaster1.xml" Id="R5b9d6f8d8359492a" /><Relationship Type="http://schemas.openxmlformats.org/officeDocument/2006/relationships/presProps" Target="/ppt/presProps.xml" Id="R5c379640cbb345bc" /><Relationship Type="http://schemas.openxmlformats.org/officeDocument/2006/relationships/tableStyles" Target="/ppt/tableStyles.xml" Id="R8767f00a87e5420b" /><Relationship Type="http://schemas.openxmlformats.org/officeDocument/2006/relationships/slide" Target="/ppt/slides/slide1.xml" Id="R140238cc040d41a5" /><Relationship Type="http://schemas.openxmlformats.org/officeDocument/2006/relationships/slide" Target="/ppt/slides/slide2.xml" Id="Re2dd7882213a4092" /><Relationship Type="http://schemas.openxmlformats.org/officeDocument/2006/relationships/slide" Target="/ppt/slides/slide3.xml" Id="Rccc3bae43a0a4d3a" /><Relationship Type="http://schemas.openxmlformats.org/officeDocument/2006/relationships/slide" Target="/ppt/slides/slide4.xml" Id="Redb3063c67c3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d4f3bb1c7446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85e742142449cd" /><Relationship Type="http://schemas.openxmlformats.org/officeDocument/2006/relationships/notesMaster" Target="/ppt/notesMasters/notesMaster1.xml" Id="R836645f20662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a1d3ee6f024a87" /><Relationship Type="http://schemas.openxmlformats.org/officeDocument/2006/relationships/notesMaster" Target="/ppt/notesMasters/notesMaster1.xml" Id="R06da5244f8404e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5ec914c4ac4dc3" /><Relationship Type="http://schemas.openxmlformats.org/officeDocument/2006/relationships/notesMaster" Target="/ppt/notesMasters/notesMaster1.xml" Id="Refd3072a52ec40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a0cc5ca4c843a1" /><Relationship Type="http://schemas.openxmlformats.org/officeDocument/2006/relationships/notesMaster" Target="/ppt/notesMasters/notesMaster1.xml" Id="Rab3ac52c29a947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73f8a8a3e4d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c8c70815434dfc" /><Relationship Type="http://schemas.openxmlformats.org/officeDocument/2006/relationships/slideLayout" Target="/ppt/slideLayouts/slideLayout1.xml" Id="R6e9c2bdf940e4a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9c2bdf940e4a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f7974d8184cd5" /><Relationship Type="http://schemas.openxmlformats.org/officeDocument/2006/relationships/notesSlide" Target="/ppt/notesSlides/notesSlide1.xml" Id="R7d55709e713f42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ca33ae12649f4" /><Relationship Type="http://schemas.openxmlformats.org/officeDocument/2006/relationships/notesSlide" Target="/ppt/notesSlides/notesSlide2.xml" Id="R7b78836ba8b9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ad8684432439f" /><Relationship Type="http://schemas.openxmlformats.org/officeDocument/2006/relationships/notesSlide" Target="/ppt/notesSlides/notesSlide3.xml" Id="Rf0e881d278af4e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91dfb89424553" /><Relationship Type="http://schemas.openxmlformats.org/officeDocument/2006/relationships/notesSlide" Target="/ppt/notesSlides/notesSlide4.xml" Id="Rac2c6d9904c141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abel.role.wireframes">
            <a:extLst xmlns:a="http://schemas.openxmlformats.org/drawingml/2006/main">
              <a:ext uri="{FF2B5EF4-FFF2-40B4-BE49-F238E27FC236}">
                <a16:creationId xmlns:a16="http://schemas.microsoft.com/office/drawing/2014/main" id="{1C87C073-EF89-4A71-8195-4466381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064"/>
                </a:solidFill>
              </a:defRPr>
            </a:pPr>
            <a:r>
              <a:rPr sz="975" b="1">
                <a:solidFill>
                  <a:srgbClr val="2E8064"/>
                </a:solidFill>
              </a:rPr>
              <a:t>WIREFRAMES</a:t>
            </a:r>
          </a:p>
        </p:txBody>
      </p:sp>
      <p:sp>
        <p:nvSpPr>
          <p:cNvPr id="2" name="label.title.wireframes">
            <a:extLst xmlns:a="http://schemas.openxmlformats.org/drawingml/2006/main">
              <a:ext uri="{FF2B5EF4-FFF2-40B4-BE49-F238E27FC236}">
                <a16:creationId xmlns:a16="http://schemas.microsoft.com/office/drawing/2014/main" id="{3BDC29D7-25A1-42CE-AD5D-EC963FE4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042"/>
                </a:solidFill>
              </a:defRPr>
            </a:pPr>
            <a:r>
              <a:rPr sz="2700" b="1">
                <a:solidFill>
                  <a:srgbClr val="173042"/>
                </a:solidFill>
              </a:rPr>
              <a:t>Choose the structure before polishing the modules</a:t>
            </a:r>
          </a:p>
        </p:txBody>
      </p:sp>
      <p:sp>
        <p:nvSpPr>
          <p:cNvPr id="3" name="label.subtitle.wireframes">
            <a:extLst xmlns:a="http://schemas.openxmlformats.org/drawingml/2006/main">
              <a:ext uri="{FF2B5EF4-FFF2-40B4-BE49-F238E27FC236}">
                <a16:creationId xmlns:a16="http://schemas.microsoft.com/office/drawing/2014/main" id="{F44A884F-718A-4848-B589-35DB8173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2"/>
                </a:solidFill>
              </a:defRPr>
            </a:pPr>
            <a:r>
              <a:rPr sz="1275" b="0">
                <a:solidFill>
                  <a:srgbClr val="647482"/>
                </a:solidFill>
              </a:rPr>
              <a:t>Three editable alternatives expose different reading priorities.</a:t>
            </a:r>
          </a:p>
        </p:txBody>
      </p:sp>
      <p:sp>
        <p:nvSpPr>
          <p:cNvPr id="4" name="rule.wireframes">
            <a:extLst xmlns:a="http://schemas.openxmlformats.org/drawingml/2006/main">
              <a:ext uri="{FF2B5EF4-FFF2-40B4-BE49-F238E27FC236}">
                <a16:creationId xmlns:a16="http://schemas.microsoft.com/office/drawing/2014/main" id="{AD69AF52-7AD6-422B-9B52-E7F97B93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" name="wireframe.a">
            <a:extLst xmlns:a="http://schemas.openxmlformats.org/drawingml/2006/main">
              <a:ext uri="{FF2B5EF4-FFF2-40B4-BE49-F238E27FC236}">
                <a16:creationId xmlns:a16="http://schemas.microsoft.com/office/drawing/2014/main" id="{BC3E8414-EF89-4387-9215-14F4BCB2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276600" cy="4267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CE3E8"/>
            </a:solidFill>
            <a:prstDash val="solid"/>
          </a:ln>
        </p:spPr>
      </p:sp>
      <p:sp>
        <p:nvSpPr>
          <p:cNvPr id="6" name="wireframe.0.title">
            <a:extLst xmlns:a="http://schemas.openxmlformats.org/drawingml/2006/main">
              <a:ext uri="{FF2B5EF4-FFF2-40B4-BE49-F238E27FC236}">
                <a16:creationId xmlns:a16="http://schemas.microsoft.com/office/drawing/2014/main" id="{BCD0A5DB-FA55-4B7F-9F36-B4D84631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042"/>
                </a:solidFill>
              </a:defRPr>
            </a:pPr>
            <a:r>
              <a:rPr sz="1500" b="1">
                <a:solidFill>
                  <a:srgbClr val="173042"/>
                </a:solidFill>
              </a:rPr>
              <a:t>A · Main pipeline</a:t>
            </a:r>
          </a:p>
        </p:txBody>
      </p:sp>
      <p:sp>
        <p:nvSpPr>
          <p:cNvPr id="7" name="wireframe.0.note">
            <a:extLst xmlns:a="http://schemas.openxmlformats.org/drawingml/2006/main">
              <a:ext uri="{FF2B5EF4-FFF2-40B4-BE49-F238E27FC236}">
                <a16:creationId xmlns:a16="http://schemas.microsoft.com/office/drawing/2014/main" id="{9E82083D-6FE3-4235-8ABD-839FABA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2"/>
                </a:solidFill>
              </a:defRPr>
            </a:pPr>
            <a:r>
              <a:rPr sz="1125" b="0">
                <a:solidFill>
                  <a:srgbClr val="647482"/>
                </a:solidFill>
              </a:rPr>
              <a:t>Fastest reading order</a:t>
            </a:r>
          </a:p>
        </p:txBody>
      </p:sp>
      <p:sp>
        <p:nvSpPr>
          <p:cNvPr id="8" name="module.wf-a-0">
            <a:extLst xmlns:a="http://schemas.openxmlformats.org/drawingml/2006/main">
              <a:ext uri="{FF2B5EF4-FFF2-40B4-BE49-F238E27FC236}">
                <a16:creationId xmlns:a16="http://schemas.microsoft.com/office/drawing/2014/main" id="{9B2B2BBB-1273-45F6-9F58-B440446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552450" cy="5905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6193">
            <a:solidFill>
              <a:srgbClr val="6872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I</a:t>
            </a:r>
          </a:p>
        </p:txBody>
      </p:sp>
      <p:sp>
        <p:nvSpPr>
          <p:cNvPr id="9" name="module.wf-a-1">
            <a:extLst xmlns:a="http://schemas.openxmlformats.org/drawingml/2006/main">
              <a:ext uri="{FF2B5EF4-FFF2-40B4-BE49-F238E27FC236}">
                <a16:creationId xmlns:a16="http://schemas.microsoft.com/office/drawing/2014/main" id="{5FCFBF75-68F5-4598-B9A4-A2DD0A8B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552450" cy="5905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6193">
            <a:solidFill>
              <a:srgbClr val="3979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E</a:t>
            </a:r>
          </a:p>
        </p:txBody>
      </p:sp>
      <p:sp>
        <p:nvSpPr>
          <p:cNvPr id="10" name="module.wf-a-2">
            <a:extLst xmlns:a="http://schemas.openxmlformats.org/drawingml/2006/main">
              <a:ext uri="{FF2B5EF4-FFF2-40B4-BE49-F238E27FC236}">
                <a16:creationId xmlns:a16="http://schemas.microsoft.com/office/drawing/2014/main" id="{68C1AC22-AE7B-462D-B61C-952E739F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552450" cy="5905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23813">
            <a:solidFill>
              <a:srgbClr val="2E80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F</a:t>
            </a:r>
          </a:p>
        </p:txBody>
      </p:sp>
      <p:sp>
        <p:nvSpPr>
          <p:cNvPr id="11" name="module.wf-a-3">
            <a:extLst xmlns:a="http://schemas.openxmlformats.org/drawingml/2006/main">
              <a:ext uri="{FF2B5EF4-FFF2-40B4-BE49-F238E27FC236}">
                <a16:creationId xmlns:a16="http://schemas.microsoft.com/office/drawing/2014/main" id="{F07D32C1-ED10-43B2-812A-670763D7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52800"/>
            <a:ext cx="552450" cy="5905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6193">
            <a:solidFill>
              <a:srgbClr val="6872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O</a:t>
            </a:r>
          </a:p>
        </p:txBody>
      </p:sp>
      <p:cxnSp>
        <p:nvCxnSpPr>
          <p:cNvPr id="51" name="arrow.wf-a-0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90650" y="3648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52" name="arrow.wf-a-1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71700" y="3648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53" name="arrow.wf-a-2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52750" y="36480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47482"/>
            </a:solidFill>
            <a:prstDash val="solid"/>
            <a:tailEnd type="arrow" w="med" len="med"/>
          </a:ln>
        </p:spPr>
      </p:cxnSp>
      <p:sp>
        <p:nvSpPr>
          <p:cNvPr id="15" name="wireframe.0.footer">
            <a:extLst xmlns:a="http://schemas.openxmlformats.org/drawingml/2006/main">
              <a:ext uri="{FF2B5EF4-FFF2-40B4-BE49-F238E27FC236}">
                <a16:creationId xmlns:a16="http://schemas.microsoft.com/office/drawing/2014/main" id="{1609E191-B771-4E41-9E55-8E5A488C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Useful when this structure matches the technical story.</a:t>
            </a:r>
          </a:p>
        </p:txBody>
      </p:sp>
      <p:sp>
        <p:nvSpPr>
          <p:cNvPr id="16" name="wireframe.b">
            <a:extLst xmlns:a="http://schemas.openxmlformats.org/drawingml/2006/main">
              <a:ext uri="{FF2B5EF4-FFF2-40B4-BE49-F238E27FC236}">
                <a16:creationId xmlns:a16="http://schemas.microsoft.com/office/drawing/2014/main" id="{F8814977-6D81-403D-A662-E87AABEF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3276600" cy="4267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CE3E8"/>
            </a:solidFill>
            <a:prstDash val="solid"/>
          </a:ln>
        </p:spPr>
      </p:sp>
      <p:sp>
        <p:nvSpPr>
          <p:cNvPr id="17" name="wireframe.1.title">
            <a:extLst xmlns:a="http://schemas.openxmlformats.org/drawingml/2006/main">
              <a:ext uri="{FF2B5EF4-FFF2-40B4-BE49-F238E27FC236}">
                <a16:creationId xmlns:a16="http://schemas.microsoft.com/office/drawing/2014/main" id="{46AD7B46-26ED-4163-BAD7-DB1EAE3C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042"/>
                </a:solidFill>
              </a:defRPr>
            </a:pPr>
            <a:r>
              <a:rPr sz="1500" b="1">
                <a:solidFill>
                  <a:srgbClr val="173042"/>
                </a:solidFill>
              </a:rPr>
              <a:t>B · Multi-scale hierarchy</a:t>
            </a:r>
          </a:p>
        </p:txBody>
      </p:sp>
      <p:sp>
        <p:nvSpPr>
          <p:cNvPr id="18" name="wireframe.1.note">
            <a:extLst xmlns:a="http://schemas.openxmlformats.org/drawingml/2006/main">
              <a:ext uri="{FF2B5EF4-FFF2-40B4-BE49-F238E27FC236}">
                <a16:creationId xmlns:a16="http://schemas.microsoft.com/office/drawing/2014/main" id="{5836A427-2735-45E7-AA05-846C41A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2"/>
                </a:solidFill>
              </a:defRPr>
            </a:pPr>
            <a:r>
              <a:rPr sz="1125" b="0">
                <a:solidFill>
                  <a:srgbClr val="647482"/>
                </a:solidFill>
              </a:rPr>
              <a:t>Makes feature levels explicit</a:t>
            </a:r>
          </a:p>
        </p:txBody>
      </p:sp>
      <p:sp>
        <p:nvSpPr>
          <p:cNvPr id="19" name="module.wf-b-input">
            <a:extLst xmlns:a="http://schemas.openxmlformats.org/drawingml/2006/main">
              <a:ext uri="{FF2B5EF4-FFF2-40B4-BE49-F238E27FC236}">
                <a16:creationId xmlns:a16="http://schemas.microsoft.com/office/drawing/2014/main" id="{5E280AE8-16A2-4587-942A-9647E960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5905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6193">
            <a:solidFill>
              <a:srgbClr val="6872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Input</a:t>
            </a:r>
          </a:p>
        </p:txBody>
      </p:sp>
      <p:sp>
        <p:nvSpPr>
          <p:cNvPr id="20" name="module.wf-b-level-0">
            <a:extLst xmlns:a="http://schemas.openxmlformats.org/drawingml/2006/main">
              <a:ext uri="{FF2B5EF4-FFF2-40B4-BE49-F238E27FC236}">
                <a16:creationId xmlns:a16="http://schemas.microsoft.com/office/drawing/2014/main" id="{80637228-6841-4CBE-9A7F-029D0BBC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14650"/>
            <a:ext cx="5524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6193">
            <a:solidFill>
              <a:srgbClr val="3979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L1</a:t>
            </a:r>
          </a:p>
        </p:txBody>
      </p:sp>
      <p:sp>
        <p:nvSpPr>
          <p:cNvPr id="21" name="module.wf-b-level-1">
            <a:extLst xmlns:a="http://schemas.openxmlformats.org/drawingml/2006/main">
              <a:ext uri="{FF2B5EF4-FFF2-40B4-BE49-F238E27FC236}">
                <a16:creationId xmlns:a16="http://schemas.microsoft.com/office/drawing/2014/main" id="{5514BAA0-8B26-4E12-A2D6-722FA2EE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5524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6193">
            <a:solidFill>
              <a:srgbClr val="3979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L2</a:t>
            </a:r>
          </a:p>
        </p:txBody>
      </p:sp>
      <p:sp>
        <p:nvSpPr>
          <p:cNvPr id="22" name="module.wf-b-level-2">
            <a:extLst xmlns:a="http://schemas.openxmlformats.org/drawingml/2006/main">
              <a:ext uri="{FF2B5EF4-FFF2-40B4-BE49-F238E27FC236}">
                <a16:creationId xmlns:a16="http://schemas.microsoft.com/office/drawing/2014/main" id="{54BBAB12-F9D8-443F-A619-15791FAA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5524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6193">
            <a:solidFill>
              <a:srgbClr val="3979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L3</a:t>
            </a:r>
          </a:p>
        </p:txBody>
      </p:sp>
      <p:sp>
        <p:nvSpPr>
          <p:cNvPr id="23" name="module.wf-b-fusion">
            <a:extLst xmlns:a="http://schemas.openxmlformats.org/drawingml/2006/main">
              <a:ext uri="{FF2B5EF4-FFF2-40B4-BE49-F238E27FC236}">
                <a16:creationId xmlns:a16="http://schemas.microsoft.com/office/drawing/2014/main" id="{C78565C6-9B72-41E9-8874-17581443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666750" cy="8763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23813">
            <a:solidFill>
              <a:srgbClr val="2E80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Fuse</a:t>
            </a:r>
          </a:p>
        </p:txBody>
      </p:sp>
      <p:cxnSp>
        <p:nvCxnSpPr>
          <p:cNvPr id="63" name="arrow.wf-b-input-0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5086350" y="3143250"/>
            <a:ext cx="41910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64" name="arrow.wf-b-input-1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086350" y="3752850"/>
            <a:ext cx="4191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65" name="arrow.wf-b-input-2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86350" y="3800475"/>
            <a:ext cx="419100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66" name="arrow.wf-b-fusion-0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057900" y="3143250"/>
            <a:ext cx="55245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67" name="arrow.wf-b-fusion-1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057900" y="3752850"/>
            <a:ext cx="552450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68" name="arrow.wf-b-fusion-2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6057900" y="3810000"/>
            <a:ext cx="552450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647482"/>
            </a:solidFill>
            <a:prstDash val="solid"/>
            <a:tailEnd type="arrow" w="med" len="med"/>
          </a:ln>
        </p:spPr>
      </p:cxnSp>
      <p:sp>
        <p:nvSpPr>
          <p:cNvPr id="30" name="wireframe.1.footer">
            <a:extLst xmlns:a="http://schemas.openxmlformats.org/drawingml/2006/main">
              <a:ext uri="{FF2B5EF4-FFF2-40B4-BE49-F238E27FC236}">
                <a16:creationId xmlns:a16="http://schemas.microsoft.com/office/drawing/2014/main" id="{D9F14BB8-C904-4F58-B1FC-53420D0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91125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Useful when this structure matches the technical story.</a:t>
            </a:r>
          </a:p>
        </p:txBody>
      </p:sp>
      <p:sp>
        <p:nvSpPr>
          <p:cNvPr id="31" name="wireframe.c">
            <a:extLst xmlns:a="http://schemas.openxmlformats.org/drawingml/2006/main">
              <a:ext uri="{FF2B5EF4-FFF2-40B4-BE49-F238E27FC236}">
                <a16:creationId xmlns:a16="http://schemas.microsoft.com/office/drawing/2014/main" id="{9AB70B38-C98E-4BC4-8D32-49F1BC5F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276600" cy="4267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CE3E8"/>
            </a:solidFill>
            <a:prstDash val="solid"/>
          </a:ln>
        </p:spPr>
      </p:sp>
      <p:sp>
        <p:nvSpPr>
          <p:cNvPr id="32" name="wireframe.2.title">
            <a:extLst xmlns:a="http://schemas.openxmlformats.org/drawingml/2006/main">
              <a:ext uri="{FF2B5EF4-FFF2-40B4-BE49-F238E27FC236}">
                <a16:creationId xmlns:a16="http://schemas.microsoft.com/office/drawing/2014/main" id="{EE56D062-5859-4BDD-9754-8F80584C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042"/>
                </a:solidFill>
              </a:defRPr>
            </a:pPr>
            <a:r>
              <a:rPr sz="1500" b="1">
                <a:solidFill>
                  <a:srgbClr val="173042"/>
                </a:solidFill>
              </a:rPr>
              <a:t>C · Contribution-first</a:t>
            </a:r>
          </a:p>
        </p:txBody>
      </p:sp>
      <p:sp>
        <p:nvSpPr>
          <p:cNvPr id="33" name="wireframe.2.note">
            <a:extLst xmlns:a="http://schemas.openxmlformats.org/drawingml/2006/main">
              <a:ext uri="{FF2B5EF4-FFF2-40B4-BE49-F238E27FC236}">
                <a16:creationId xmlns:a16="http://schemas.microsoft.com/office/drawing/2014/main" id="{F843F824-7111-499E-ADF0-F03CE3FE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2"/>
                </a:solidFill>
              </a:defRPr>
            </a:pPr>
            <a:r>
              <a:rPr sz="1125" b="0">
                <a:solidFill>
                  <a:srgbClr val="647482"/>
                </a:solidFill>
              </a:rPr>
              <a:t>Gives fusion the visual focus</a:t>
            </a:r>
          </a:p>
        </p:txBody>
      </p:sp>
      <p:sp>
        <p:nvSpPr>
          <p:cNvPr id="34" name="module.wf-c-context">
            <a:extLst xmlns:a="http://schemas.openxmlformats.org/drawingml/2006/main">
              <a:ext uri="{FF2B5EF4-FFF2-40B4-BE49-F238E27FC236}">
                <a16:creationId xmlns:a16="http://schemas.microsoft.com/office/drawing/2014/main" id="{78DA8CEA-B333-409D-84A5-9CAC5209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685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6193">
            <a:solidFill>
              <a:srgbClr val="6872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Context</a:t>
            </a:r>
          </a:p>
        </p:txBody>
      </p:sp>
      <p:sp>
        <p:nvSpPr>
          <p:cNvPr id="35" name="module.wf-c-focus">
            <a:extLst xmlns:a="http://schemas.openxmlformats.org/drawingml/2006/main">
              <a:ext uri="{FF2B5EF4-FFF2-40B4-BE49-F238E27FC236}">
                <a16:creationId xmlns:a16="http://schemas.microsoft.com/office/drawing/2014/main" id="{B62C7F51-467E-40D8-B1FA-5CF37083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1066800" cy="13906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23813">
            <a:solidFill>
              <a:srgbClr val="2E80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Fusion</a:t>
            </a:r>
          </a:p>
        </p:txBody>
      </p:sp>
      <p:sp>
        <p:nvSpPr>
          <p:cNvPr id="36" name="module.wf-c-output">
            <a:extLst xmlns:a="http://schemas.openxmlformats.org/drawingml/2006/main">
              <a:ext uri="{FF2B5EF4-FFF2-40B4-BE49-F238E27FC236}">
                <a16:creationId xmlns:a16="http://schemas.microsoft.com/office/drawing/2014/main" id="{7AFF21D0-3C58-4F5C-B6DC-09C43FE5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24250"/>
            <a:ext cx="609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EE7F7"/>
          </a:solidFill>
          <a:ln xmlns:a="http://schemas.openxmlformats.org/drawingml/2006/main" w="16193">
            <a:solidFill>
              <a:srgbClr val="7253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Output</a:t>
            </a:r>
          </a:p>
        </p:txBody>
      </p:sp>
      <p:cxnSp>
        <p:nvCxnSpPr>
          <p:cNvPr id="76" name="arrow.wf-c-left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8839200" y="38004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77" name="arrow.wf-c-right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0134600" y="38004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47482"/>
            </a:solidFill>
            <a:prstDash val="solid"/>
            <a:tailEnd type="arrow" w="med" len="med"/>
          </a:ln>
        </p:spPr>
      </p:cxnSp>
      <p:sp>
        <p:nvSpPr>
          <p:cNvPr id="39" name="wireframe.2.footer">
            <a:extLst xmlns:a="http://schemas.openxmlformats.org/drawingml/2006/main">
              <a:ext uri="{FF2B5EF4-FFF2-40B4-BE49-F238E27FC236}">
                <a16:creationId xmlns:a16="http://schemas.microsoft.com/office/drawing/2014/main" id="{F17AB432-630D-491F-9C8A-CE309222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91125"/>
            <a:ext cx="283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8064"/>
                </a:solidFill>
              </a:defRPr>
            </a:pPr>
            <a:r>
              <a:rPr sz="1050" b="0">
                <a:solidFill>
                  <a:srgbClr val="2E8064"/>
                </a:solidFill>
              </a:rPr>
              <a:t>Recommended when the fusion module is the paper's main contribution.</a:t>
            </a:r>
          </a:p>
        </p:txBody>
      </p:sp>
    </p:spTree>
    <p:extLst>
      <p:ext uri="{BB962C8B-B14F-4D97-AF65-F5344CB8AC3E}">
        <p14:creationId xmlns:p14="http://schemas.microsoft.com/office/powerpoint/2010/main" val="63833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el.role.selected">
            <a:extLst xmlns:a="http://schemas.openxmlformats.org/drawingml/2006/main">
              <a:ext uri="{FF2B5EF4-FFF2-40B4-BE49-F238E27FC236}">
                <a16:creationId xmlns:a16="http://schemas.microsoft.com/office/drawing/2014/main" id="{65138873-6C0B-4FB0-97B7-FA5C9941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064"/>
                </a:solidFill>
              </a:defRPr>
            </a:pPr>
            <a:r>
              <a:rPr sz="975" b="1">
                <a:solidFill>
                  <a:srgbClr val="2E8064"/>
                </a:solidFill>
              </a:rPr>
              <a:t>SELECTED</a:t>
            </a:r>
          </a:p>
        </p:txBody>
      </p:sp>
      <p:sp>
        <p:nvSpPr>
          <p:cNvPr id="2" name="label.title.selected">
            <a:extLst xmlns:a="http://schemas.openxmlformats.org/drawingml/2006/main">
              <a:ext uri="{FF2B5EF4-FFF2-40B4-BE49-F238E27FC236}">
                <a16:creationId xmlns:a16="http://schemas.microsoft.com/office/drawing/2014/main" id="{16F84B04-CF78-4913-912C-D60C2869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042"/>
                </a:solidFill>
              </a:defRPr>
            </a:pPr>
            <a:r>
              <a:rPr sz="2700" b="1">
                <a:solidFill>
                  <a:srgbClr val="173042"/>
                </a:solidFill>
              </a:rPr>
              <a:t>Confirmed structure fixes reading order and emphasis</a:t>
            </a:r>
          </a:p>
        </p:txBody>
      </p:sp>
      <p:sp>
        <p:nvSpPr>
          <p:cNvPr id="3" name="label.subtitle.selected">
            <a:extLst xmlns:a="http://schemas.openxmlformats.org/drawingml/2006/main">
              <a:ext uri="{FF2B5EF4-FFF2-40B4-BE49-F238E27FC236}">
                <a16:creationId xmlns:a16="http://schemas.microsoft.com/office/drawing/2014/main" id="{C7BCD8A0-94C2-4D7A-BE98-BED586BE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2"/>
                </a:solidFill>
              </a:defRPr>
            </a:pPr>
            <a:r>
              <a:rPr sz="1275" b="0">
                <a:solidFill>
                  <a:srgbClr val="647482"/>
                </a:solidFill>
              </a:rPr>
              <a:t>Major modules and the auxiliary prompt are fixed before internal detail is added.</a:t>
            </a:r>
          </a:p>
        </p:txBody>
      </p:sp>
      <p:sp>
        <p:nvSpPr>
          <p:cNvPr id="4" name="rule.selected">
            <a:extLst xmlns:a="http://schemas.openxmlformats.org/drawingml/2006/main">
              <a:ext uri="{FF2B5EF4-FFF2-40B4-BE49-F238E27FC236}">
                <a16:creationId xmlns:a16="http://schemas.microsoft.com/office/drawing/2014/main" id="{8F289DD7-077A-49CD-82A3-FDEA4EA0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" name="module.input">
            <a:extLst xmlns:a="http://schemas.openxmlformats.org/drawingml/2006/main">
              <a:ext uri="{FF2B5EF4-FFF2-40B4-BE49-F238E27FC236}">
                <a16:creationId xmlns:a16="http://schemas.microsoft.com/office/drawing/2014/main" id="{4BAF3C7C-0C45-46B2-A19B-6E2EDA82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3009900"/>
            <a:ext cx="1664208" cy="841248"/>
          </a:xfrm>
          <a:prstGeom xmlns:a="http://schemas.openxmlformats.org/drawingml/2006/main" prst="roundRect">
            <a:avLst>
              <a:gd name="adj" fmla="val 1585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6193">
            <a:solidFill>
              <a:srgbClr val="6872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Input image</a:t>
            </a:r>
          </a:p>
        </p:txBody>
      </p:sp>
      <p:sp>
        <p:nvSpPr>
          <p:cNvPr id="6" name="module.encoder">
            <a:extLst xmlns:a="http://schemas.openxmlformats.org/drawingml/2006/main">
              <a:ext uri="{FF2B5EF4-FFF2-40B4-BE49-F238E27FC236}">
                <a16:creationId xmlns:a16="http://schemas.microsoft.com/office/drawing/2014/main" id="{416E9DAC-7BA5-478D-8EF4-7D495D77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3009900"/>
            <a:ext cx="1664208" cy="841248"/>
          </a:xfrm>
          <a:prstGeom xmlns:a="http://schemas.openxmlformats.org/drawingml/2006/main" prst="roundRect">
            <a:avLst>
              <a:gd name="adj" fmla="val 15851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6193">
            <a:solidFill>
              <a:srgbClr val="3979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Multi-scale encoder</a:t>
            </a:r>
          </a:p>
          <a:p xmlns:a="http://schemas.openxmlformats.org/drawingml/2006/main">
            <a:pPr algn="ctr"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Hierarchical features</a:t>
            </a:r>
          </a:p>
        </p:txBody>
      </p:sp>
      <p:sp>
        <p:nvSpPr>
          <p:cNvPr id="7" name="module.fusion">
            <a:extLst xmlns:a="http://schemas.openxmlformats.org/drawingml/2006/main">
              <a:ext uri="{FF2B5EF4-FFF2-40B4-BE49-F238E27FC236}">
                <a16:creationId xmlns:a16="http://schemas.microsoft.com/office/drawing/2014/main" id="{E751D18E-A8C2-4A40-807C-34ACA20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896" y="3009900"/>
            <a:ext cx="1664208" cy="841248"/>
          </a:xfrm>
          <a:prstGeom xmlns:a="http://schemas.openxmlformats.org/drawingml/2006/main" prst="roundRect">
            <a:avLst>
              <a:gd name="adj" fmla="val 15851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23813">
            <a:solidFill>
              <a:srgbClr val="2E80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Prompt-guided fusion</a:t>
            </a:r>
          </a:p>
          <a:p xmlns:a="http://schemas.openxmlformats.org/drawingml/2006/main">
            <a:pPr algn="ctr"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Cross-modal attention</a:t>
            </a:r>
          </a:p>
        </p:txBody>
      </p:sp>
      <p:sp>
        <p:nvSpPr>
          <p:cNvPr id="8" name="module.decoder">
            <a:extLst xmlns:a="http://schemas.openxmlformats.org/drawingml/2006/main">
              <a:ext uri="{FF2B5EF4-FFF2-40B4-BE49-F238E27FC236}">
                <a16:creationId xmlns:a16="http://schemas.microsoft.com/office/drawing/2014/main" id="{248BFCF4-B609-4E00-9900-60D8CB35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1664208" cy="841248"/>
          </a:xfrm>
          <a:prstGeom xmlns:a="http://schemas.openxmlformats.org/drawingml/2006/main" prst="roundRect">
            <a:avLst>
              <a:gd name="adj" fmla="val 1585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6193">
            <a:solidFill>
              <a:srgbClr val="6872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Task decoder</a:t>
            </a:r>
          </a:p>
          <a:p xmlns:a="http://schemas.openxmlformats.org/drawingml/2006/main">
            <a:pPr algn="ctr"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Feature refinement</a:t>
            </a:r>
          </a:p>
        </p:txBody>
      </p:sp>
      <p:sp>
        <p:nvSpPr>
          <p:cNvPr id="9" name="module.output">
            <a:extLst xmlns:a="http://schemas.openxmlformats.org/drawingml/2006/main">
              <a:ext uri="{FF2B5EF4-FFF2-40B4-BE49-F238E27FC236}">
                <a16:creationId xmlns:a16="http://schemas.microsoft.com/office/drawing/2014/main" id="{E53D99B6-FC97-48F6-9145-9BD201D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04" y="3009900"/>
            <a:ext cx="1664208" cy="841248"/>
          </a:xfrm>
          <a:prstGeom xmlns:a="http://schemas.openxmlformats.org/drawingml/2006/main" prst="roundRect">
            <a:avLst>
              <a:gd name="adj" fmla="val 15851"/>
            </a:avLst>
          </a:prstGeom>
          <a:solidFill xmlns:a="http://schemas.openxmlformats.org/drawingml/2006/main">
            <a:srgbClr val="EEE7F7"/>
          </a:solidFill>
          <a:ln xmlns:a="http://schemas.openxmlformats.org/drawingml/2006/main" w="16193">
            <a:solidFill>
              <a:srgbClr val="7253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Prediction map</a:t>
            </a:r>
          </a:p>
        </p:txBody>
      </p:sp>
      <p:cxnSp>
        <p:nvCxnSpPr>
          <p:cNvPr id="27" name="arrow.input-to-encoder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77896" y="3430524"/>
            <a:ext cx="3108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28" name="arrow.encoder-to-fusion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53000" y="3430524"/>
            <a:ext cx="3108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29" name="arrow.fusion-to-decoder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28104" y="3430524"/>
            <a:ext cx="3108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30" name="arrow.decoder-to-output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903208" y="3430524"/>
            <a:ext cx="3108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2"/>
            </a:solidFill>
            <a:prstDash val="solid"/>
            <a:tailEnd type="arrow" w="med" len="med"/>
          </a:ln>
        </p:spPr>
      </p:cxnSp>
      <p:sp>
        <p:nvSpPr>
          <p:cNvPr id="14" name="module.prompt">
            <a:extLst xmlns:a="http://schemas.openxmlformats.org/drawingml/2006/main">
              <a:ext uri="{FF2B5EF4-FFF2-40B4-BE49-F238E27FC236}">
                <a16:creationId xmlns:a16="http://schemas.microsoft.com/office/drawing/2014/main" id="{C25A623C-16C5-4344-B80E-E7CF7E7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396" y="1952625"/>
            <a:ext cx="1283208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CE8DC"/>
          </a:solidFill>
          <a:ln xmlns:a="http://schemas.openxmlformats.org/drawingml/2006/main" w="16193">
            <a:solidFill>
              <a:srgbClr val="B768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042"/>
                </a:solidFill>
              </a:defRPr>
            </a:pPr>
            <a:r>
              <a:rPr sz="1350" b="1">
                <a:solidFill>
                  <a:srgbClr val="173042"/>
                </a:solidFill>
              </a:rPr>
              <a:t>Text prompt</a:t>
            </a:r>
          </a:p>
        </p:txBody>
      </p:sp>
      <p:cxnSp>
        <p:nvCxnSpPr>
          <p:cNvPr id="32" name="arrow.prompt-to-fusion"/>
          <p:cNvCxnSpPr>
            <a:stCxn xmlns:a="http://schemas.openxmlformats.org/drawingml/2006/main" id="1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5812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83A"/>
            </a:solidFill>
            <a:prstDash val="dash"/>
            <a:tailEnd type="arrow" w="med" len="med"/>
          </a:ln>
        </p:spPr>
      </p:cxnSp>
      <p:sp>
        <p:nvSpPr>
          <p:cNvPr id="16" name="callout.structure-confirmed">
            <a:extLst xmlns:a="http://schemas.openxmlformats.org/drawingml/2006/main">
              <a:ext uri="{FF2B5EF4-FFF2-40B4-BE49-F238E27FC236}">
                <a16:creationId xmlns:a16="http://schemas.microsoft.com/office/drawing/2014/main" id="{AB70FE57-41DC-4359-B331-DA3E8F1F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14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E8064"/>
                </a:solidFill>
              </a:defRPr>
            </a:pPr>
            <a:r>
              <a:rPr sz="1275" b="1">
                <a:solidFill>
                  <a:srgbClr val="2E8064"/>
                </a:solidFill>
              </a:rPr>
              <a:t>Structure confirmed</a:t>
            </a:r>
          </a:p>
        </p:txBody>
      </p:sp>
      <p:sp>
        <p:nvSpPr>
          <p:cNvPr id="17" name="callout.next">
            <a:extLst xmlns:a="http://schemas.openxmlformats.org/drawingml/2006/main">
              <a:ext uri="{FF2B5EF4-FFF2-40B4-BE49-F238E27FC236}">
                <a16:creationId xmlns:a16="http://schemas.microsoft.com/office/drawing/2014/main" id="{F648F875-AE3E-450E-B728-A5A58EC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768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Next: fill internal modules and visual semantics</a:t>
            </a:r>
          </a:p>
        </p:txBody>
      </p:sp>
    </p:spTree>
    <p:extLst>
      <p:ext uri="{BB962C8B-B14F-4D97-AF65-F5344CB8AC3E}">
        <p14:creationId xmlns:p14="http://schemas.microsoft.com/office/powerpoint/2010/main" val="1992187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abel.role.final figure">
            <a:extLst xmlns:a="http://schemas.openxmlformats.org/drawingml/2006/main">
              <a:ext uri="{FF2B5EF4-FFF2-40B4-BE49-F238E27FC236}">
                <a16:creationId xmlns:a16="http://schemas.microsoft.com/office/drawing/2014/main" id="{5A06BAB6-8031-4158-99F0-7CE6888F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064"/>
                </a:solidFill>
              </a:defRPr>
            </a:pPr>
            <a:r>
              <a:rPr sz="975" b="1">
                <a:solidFill>
                  <a:srgbClr val="2E8064"/>
                </a:solidFill>
              </a:rPr>
              <a:t>FINAL FIGURE</a:t>
            </a:r>
          </a:p>
        </p:txBody>
      </p:sp>
      <p:sp>
        <p:nvSpPr>
          <p:cNvPr id="2" name="label.title.final figure">
            <a:extLst xmlns:a="http://schemas.openxmlformats.org/drawingml/2006/main">
              <a:ext uri="{FF2B5EF4-FFF2-40B4-BE49-F238E27FC236}">
                <a16:creationId xmlns:a16="http://schemas.microsoft.com/office/drawing/2014/main" id="{F7D81B33-E2FA-4A05-924B-22EC3A5A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042"/>
                </a:solidFill>
              </a:defRPr>
            </a:pPr>
            <a:r>
              <a:rPr sz="2700" b="1">
                <a:solidFill>
                  <a:srgbClr val="173042"/>
                </a:solidFill>
              </a:rPr>
              <a:t>Multi-scale Prompt Fusion Network</a:t>
            </a:r>
          </a:p>
        </p:txBody>
      </p:sp>
      <p:sp>
        <p:nvSpPr>
          <p:cNvPr id="3" name="label.subtitle.final figure">
            <a:extLst xmlns:a="http://schemas.openxmlformats.org/drawingml/2006/main">
              <a:ext uri="{FF2B5EF4-FFF2-40B4-BE49-F238E27FC236}">
                <a16:creationId xmlns:a16="http://schemas.microsoft.com/office/drawing/2014/main" id="{FE522F57-76D6-4396-BBBB-28FF1491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2"/>
                </a:solidFill>
              </a:defRPr>
            </a:pPr>
            <a:r>
              <a:rPr sz="1275" b="0">
                <a:solidFill>
                  <a:srgbClr val="647482"/>
                </a:solidFill>
              </a:rPr>
              <a:t>Editable native objects · restrained academic palette · double-column composition</a:t>
            </a:r>
          </a:p>
        </p:txBody>
      </p:sp>
      <p:sp>
        <p:nvSpPr>
          <p:cNvPr id="4" name="rule.final figure">
            <a:extLst xmlns:a="http://schemas.openxmlformats.org/drawingml/2006/main">
              <a:ext uri="{FF2B5EF4-FFF2-40B4-BE49-F238E27FC236}">
                <a16:creationId xmlns:a16="http://schemas.microsoft.com/office/drawing/2014/main" id="{B67B57D3-7333-4671-9EBD-DD0E414B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" name="module.input">
            <a:extLst xmlns:a="http://schemas.openxmlformats.org/drawingml/2006/main">
              <a:ext uri="{FF2B5EF4-FFF2-40B4-BE49-F238E27FC236}">
                <a16:creationId xmlns:a16="http://schemas.microsoft.com/office/drawing/2014/main" id="{E15C077C-9C5B-4E20-BC7C-AB04990C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3028950"/>
            <a:ext cx="1664208" cy="1078992"/>
          </a:xfrm>
          <a:prstGeom xmlns:a="http://schemas.openxmlformats.org/drawingml/2006/main" prst="roundRect">
            <a:avLst>
              <a:gd name="adj" fmla="val 1235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6193">
            <a:solidFill>
              <a:srgbClr val="6872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label.module.input">
            <a:extLst xmlns:a="http://schemas.openxmlformats.org/drawingml/2006/main">
              <a:ext uri="{FF2B5EF4-FFF2-40B4-BE49-F238E27FC236}">
                <a16:creationId xmlns:a16="http://schemas.microsoft.com/office/drawing/2014/main" id="{69234673-539A-4681-B1E1-841FCCFA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988" y="3133725"/>
            <a:ext cx="143560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Input image</a:t>
            </a:r>
          </a:p>
        </p:txBody>
      </p:sp>
      <p:sp>
        <p:nvSpPr>
          <p:cNvPr id="7" name="label.detail.input">
            <a:extLst xmlns:a="http://schemas.openxmlformats.org/drawingml/2006/main">
              <a:ext uri="{FF2B5EF4-FFF2-40B4-BE49-F238E27FC236}">
                <a16:creationId xmlns:a16="http://schemas.microsoft.com/office/drawing/2014/main" id="{A8376FC4-8D97-4BDA-B2A3-094AE919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988" y="3495675"/>
            <a:ext cx="14356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2"/>
                </a:solidFill>
              </a:defRPr>
            </a:pPr>
            <a:r>
              <a:rPr sz="900" b="0">
                <a:solidFill>
                  <a:srgbClr val="647482"/>
                </a:solidFill>
              </a:rPr>
              <a:t>RGB / source data</a:t>
            </a:r>
          </a:p>
        </p:txBody>
      </p:sp>
      <p:sp>
        <p:nvSpPr>
          <p:cNvPr id="8" name="module.encoder">
            <a:extLst xmlns:a="http://schemas.openxmlformats.org/drawingml/2006/main">
              <a:ext uri="{FF2B5EF4-FFF2-40B4-BE49-F238E27FC236}">
                <a16:creationId xmlns:a16="http://schemas.microsoft.com/office/drawing/2014/main" id="{10B511A3-F463-4381-9AF9-71C04F22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3028950"/>
            <a:ext cx="1664208" cy="1078992"/>
          </a:xfrm>
          <a:prstGeom xmlns:a="http://schemas.openxmlformats.org/drawingml/2006/main" prst="roundRect">
            <a:avLst>
              <a:gd name="adj" fmla="val 12359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6193">
            <a:solidFill>
              <a:srgbClr val="3979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abel.module.encoder">
            <a:extLst xmlns:a="http://schemas.openxmlformats.org/drawingml/2006/main">
              <a:ext uri="{FF2B5EF4-FFF2-40B4-BE49-F238E27FC236}">
                <a16:creationId xmlns:a16="http://schemas.microsoft.com/office/drawing/2014/main" id="{2FCBBB52-B538-4D88-B252-C7DFB79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092" y="3133725"/>
            <a:ext cx="143560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Multi-scale encoder</a:t>
            </a:r>
          </a:p>
        </p:txBody>
      </p:sp>
      <p:sp>
        <p:nvSpPr>
          <p:cNvPr id="10" name="label.detail.encoder">
            <a:extLst xmlns:a="http://schemas.openxmlformats.org/drawingml/2006/main">
              <a:ext uri="{FF2B5EF4-FFF2-40B4-BE49-F238E27FC236}">
                <a16:creationId xmlns:a16="http://schemas.microsoft.com/office/drawing/2014/main" id="{C7F5577C-8633-41C4-A267-9A46514A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092" y="3495675"/>
            <a:ext cx="14356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2"/>
                </a:solidFill>
              </a:defRPr>
            </a:pPr>
            <a:r>
              <a:rPr sz="900" b="0">
                <a:solidFill>
                  <a:srgbClr val="647482"/>
                </a:solidFill>
              </a:rPr>
              <a:t>Hierarchical features</a:t>
            </a:r>
          </a:p>
        </p:txBody>
      </p:sp>
      <p:sp>
        <p:nvSpPr>
          <p:cNvPr id="11" name="module.fusion">
            <a:extLst xmlns:a="http://schemas.openxmlformats.org/drawingml/2006/main">
              <a:ext uri="{FF2B5EF4-FFF2-40B4-BE49-F238E27FC236}">
                <a16:creationId xmlns:a16="http://schemas.microsoft.com/office/drawing/2014/main" id="{4F123989-7A29-46D6-A07E-9405ADC0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896" y="3028950"/>
            <a:ext cx="1664208" cy="1078992"/>
          </a:xfrm>
          <a:prstGeom xmlns:a="http://schemas.openxmlformats.org/drawingml/2006/main" prst="roundRect">
            <a:avLst>
              <a:gd name="adj" fmla="val 12359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23813">
            <a:solidFill>
              <a:srgbClr val="2E80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label.module.fusion">
            <a:extLst xmlns:a="http://schemas.openxmlformats.org/drawingml/2006/main">
              <a:ext uri="{FF2B5EF4-FFF2-40B4-BE49-F238E27FC236}">
                <a16:creationId xmlns:a16="http://schemas.microsoft.com/office/drawing/2014/main" id="{D1C9F860-EBBB-48DE-B090-407E544A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196" y="3133725"/>
            <a:ext cx="143560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Prompt-guided fusion</a:t>
            </a:r>
          </a:p>
        </p:txBody>
      </p:sp>
      <p:sp>
        <p:nvSpPr>
          <p:cNvPr id="13" name="label.detail.fusion">
            <a:extLst xmlns:a="http://schemas.openxmlformats.org/drawingml/2006/main">
              <a:ext uri="{FF2B5EF4-FFF2-40B4-BE49-F238E27FC236}">
                <a16:creationId xmlns:a16="http://schemas.microsoft.com/office/drawing/2014/main" id="{847C2635-5350-435A-9947-FF0A681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196" y="3495675"/>
            <a:ext cx="14356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2"/>
                </a:solidFill>
              </a:defRPr>
            </a:pPr>
            <a:r>
              <a:rPr sz="900" b="0">
                <a:solidFill>
                  <a:srgbClr val="647482"/>
                </a:solidFill>
              </a:rPr>
              <a:t>Cross-modal attention</a:t>
            </a:r>
          </a:p>
        </p:txBody>
      </p:sp>
      <p:sp>
        <p:nvSpPr>
          <p:cNvPr id="14" name="module.decoder">
            <a:extLst xmlns:a="http://schemas.openxmlformats.org/drawingml/2006/main">
              <a:ext uri="{FF2B5EF4-FFF2-40B4-BE49-F238E27FC236}">
                <a16:creationId xmlns:a16="http://schemas.microsoft.com/office/drawing/2014/main" id="{43B47D41-83E8-4925-9801-7FDCCD1E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664208" cy="1078992"/>
          </a:xfrm>
          <a:prstGeom xmlns:a="http://schemas.openxmlformats.org/drawingml/2006/main" prst="roundRect">
            <a:avLst>
              <a:gd name="adj" fmla="val 1235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6193">
            <a:solidFill>
              <a:srgbClr val="68727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label.module.decoder">
            <a:extLst xmlns:a="http://schemas.openxmlformats.org/drawingml/2006/main">
              <a:ext uri="{FF2B5EF4-FFF2-40B4-BE49-F238E27FC236}">
                <a16:creationId xmlns:a16="http://schemas.microsoft.com/office/drawing/2014/main" id="{8D51E95F-2CF6-4322-BBDB-0CF62D1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33725"/>
            <a:ext cx="143560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Task decoder</a:t>
            </a:r>
          </a:p>
        </p:txBody>
      </p:sp>
      <p:sp>
        <p:nvSpPr>
          <p:cNvPr id="16" name="label.detail.decoder">
            <a:extLst xmlns:a="http://schemas.openxmlformats.org/drawingml/2006/main">
              <a:ext uri="{FF2B5EF4-FFF2-40B4-BE49-F238E27FC236}">
                <a16:creationId xmlns:a16="http://schemas.microsoft.com/office/drawing/2014/main" id="{D7C4F25F-3D59-4C8D-9ED8-F1558188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95675"/>
            <a:ext cx="14356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2"/>
                </a:solidFill>
              </a:defRPr>
            </a:pPr>
            <a:r>
              <a:rPr sz="900" b="0">
                <a:solidFill>
                  <a:srgbClr val="647482"/>
                </a:solidFill>
              </a:rPr>
              <a:t>Feature refinement</a:t>
            </a:r>
          </a:p>
        </p:txBody>
      </p:sp>
      <p:sp>
        <p:nvSpPr>
          <p:cNvPr id="17" name="module.output">
            <a:extLst xmlns:a="http://schemas.openxmlformats.org/drawingml/2006/main">
              <a:ext uri="{FF2B5EF4-FFF2-40B4-BE49-F238E27FC236}">
                <a16:creationId xmlns:a16="http://schemas.microsoft.com/office/drawing/2014/main" id="{4F0702AF-5862-4865-9333-B584CA05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104" y="3028950"/>
            <a:ext cx="1664208" cy="1078992"/>
          </a:xfrm>
          <a:prstGeom xmlns:a="http://schemas.openxmlformats.org/drawingml/2006/main" prst="roundRect">
            <a:avLst>
              <a:gd name="adj" fmla="val 12359"/>
            </a:avLst>
          </a:prstGeom>
          <a:solidFill xmlns:a="http://schemas.openxmlformats.org/drawingml/2006/main">
            <a:srgbClr val="EEE7F7"/>
          </a:solidFill>
          <a:ln xmlns:a="http://schemas.openxmlformats.org/drawingml/2006/main" w="16193">
            <a:solidFill>
              <a:srgbClr val="7253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label.module.output">
            <a:extLst xmlns:a="http://schemas.openxmlformats.org/drawingml/2006/main">
              <a:ext uri="{FF2B5EF4-FFF2-40B4-BE49-F238E27FC236}">
                <a16:creationId xmlns:a16="http://schemas.microsoft.com/office/drawing/2014/main" id="{73453C47-5D1E-4363-9A2E-4A8B3686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404" y="3133725"/>
            <a:ext cx="143560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042"/>
                </a:solidFill>
              </a:defRPr>
            </a:pPr>
            <a:r>
              <a:rPr sz="1200" b="1">
                <a:solidFill>
                  <a:srgbClr val="173042"/>
                </a:solidFill>
              </a:rPr>
              <a:t>Prediction map</a:t>
            </a:r>
          </a:p>
        </p:txBody>
      </p:sp>
      <p:sp>
        <p:nvSpPr>
          <p:cNvPr id="19" name="label.detail.output">
            <a:extLst xmlns:a="http://schemas.openxmlformats.org/drawingml/2006/main">
              <a:ext uri="{FF2B5EF4-FFF2-40B4-BE49-F238E27FC236}">
                <a16:creationId xmlns:a16="http://schemas.microsoft.com/office/drawing/2014/main" id="{A6C0BA91-F286-43CC-9156-B4099229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404" y="3495675"/>
            <a:ext cx="14356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2"/>
                </a:solidFill>
              </a:defRPr>
            </a:pPr>
            <a:r>
              <a:rPr sz="900" b="0">
                <a:solidFill>
                  <a:srgbClr val="647482"/>
                </a:solidFill>
              </a:rPr>
              <a:t>Dense task output</a:t>
            </a:r>
          </a:p>
        </p:txBody>
      </p:sp>
      <p:cxnSp>
        <p:nvCxnSpPr>
          <p:cNvPr id="59" name="arrow.input-to-encoder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7896" y="3568446"/>
            <a:ext cx="3108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60" name="arrow.encoder-to-fusion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953000" y="3568446"/>
            <a:ext cx="3108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61" name="arrow.fusion-to-decoder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28104" y="3568446"/>
            <a:ext cx="3108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2"/>
            </a:solidFill>
            <a:prstDash val="solid"/>
            <a:tailEnd type="arrow" w="med" len="med"/>
          </a:ln>
        </p:spPr>
      </p:cxnSp>
      <p:cxnSp>
        <p:nvCxnSpPr>
          <p:cNvPr id="62" name="arrow.decoder-to-output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03208" y="3568446"/>
            <a:ext cx="31089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2"/>
            </a:solidFill>
            <a:prstDash val="solid"/>
            <a:tailEnd type="arrow" w="med" len="med"/>
          </a:ln>
        </p:spPr>
      </p:cxnSp>
      <p:sp>
        <p:nvSpPr>
          <p:cNvPr id="24" name="feature.scale.1">
            <a:extLst xmlns:a="http://schemas.openxmlformats.org/drawingml/2006/main">
              <a:ext uri="{FF2B5EF4-FFF2-40B4-BE49-F238E27FC236}">
                <a16:creationId xmlns:a16="http://schemas.microsoft.com/office/drawing/2014/main" id="{30B6FD1F-5CEF-4E18-9ED4-FAC718A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167" y="3867150"/>
            <a:ext cx="247650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CCE5"/>
          </a:solidFill>
          <a:ln xmlns:a="http://schemas.openxmlformats.org/drawingml/2006/main" w="9525">
            <a:solidFill>
              <a:srgbClr val="3979A8"/>
            </a:solidFill>
            <a:prstDash val="solid"/>
          </a:ln>
        </p:spPr>
      </p:sp>
      <p:sp>
        <p:nvSpPr>
          <p:cNvPr id="25" name="feature.scale.2">
            <a:extLst xmlns:a="http://schemas.openxmlformats.org/drawingml/2006/main">
              <a:ext uri="{FF2B5EF4-FFF2-40B4-BE49-F238E27FC236}">
                <a16:creationId xmlns:a16="http://schemas.microsoft.com/office/drawing/2014/main" id="{FECE8674-C241-4221-97A1-07CB942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592" y="3819525"/>
            <a:ext cx="2476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FB4D6"/>
          </a:solidFill>
          <a:ln xmlns:a="http://schemas.openxmlformats.org/drawingml/2006/main" w="9525">
            <a:solidFill>
              <a:srgbClr val="3979A8"/>
            </a:solidFill>
            <a:prstDash val="solid"/>
          </a:ln>
        </p:spPr>
      </p:sp>
      <p:sp>
        <p:nvSpPr>
          <p:cNvPr id="26" name="feature.scale.3">
            <a:extLst xmlns:a="http://schemas.openxmlformats.org/drawingml/2006/main">
              <a:ext uri="{FF2B5EF4-FFF2-40B4-BE49-F238E27FC236}">
                <a16:creationId xmlns:a16="http://schemas.microsoft.com/office/drawing/2014/main" id="{6C57C6B2-35EE-403B-9105-CC2E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017" y="3771900"/>
            <a:ext cx="247650" cy="2571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A9AC4"/>
          </a:solidFill>
          <a:ln xmlns:a="http://schemas.openxmlformats.org/drawingml/2006/main" w="9525">
            <a:solidFill>
              <a:srgbClr val="3979A8"/>
            </a:solidFill>
            <a:prstDash val="solid"/>
          </a:ln>
        </p:spPr>
      </p:sp>
      <p:sp>
        <p:nvSpPr>
          <p:cNvPr id="27" name="token.fusion.1">
            <a:extLst xmlns:a="http://schemas.openxmlformats.org/drawingml/2006/main">
              <a:ext uri="{FF2B5EF4-FFF2-40B4-BE49-F238E27FC236}">
                <a16:creationId xmlns:a16="http://schemas.microsoft.com/office/drawing/2014/main" id="{B667AF51-B4C2-4A2A-B5A8-4F464023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671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7C5"/>
          </a:solidFill>
          <a:ln xmlns:a="http://schemas.openxmlformats.org/drawingml/2006/main" w="9525">
            <a:solidFill>
              <a:srgbClr val="2E8064"/>
            </a:solidFill>
            <a:prstDash val="solid"/>
          </a:ln>
        </p:spPr>
      </p:sp>
      <p:sp>
        <p:nvSpPr>
          <p:cNvPr id="28" name="token.fusion.2">
            <a:extLst xmlns:a="http://schemas.openxmlformats.org/drawingml/2006/main">
              <a:ext uri="{FF2B5EF4-FFF2-40B4-BE49-F238E27FC236}">
                <a16:creationId xmlns:a16="http://schemas.microsoft.com/office/drawing/2014/main" id="{2E3D2B7E-5E7A-4760-8EB9-22F7F81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421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B395"/>
          </a:solidFill>
          <a:ln xmlns:a="http://schemas.openxmlformats.org/drawingml/2006/main" w="9525">
            <a:solidFill>
              <a:srgbClr val="2E8064"/>
            </a:solidFill>
            <a:prstDash val="solid"/>
          </a:ln>
        </p:spPr>
      </p:sp>
      <p:sp>
        <p:nvSpPr>
          <p:cNvPr id="29" name="token.fusion.3">
            <a:extLst xmlns:a="http://schemas.openxmlformats.org/drawingml/2006/main">
              <a:ext uri="{FF2B5EF4-FFF2-40B4-BE49-F238E27FC236}">
                <a16:creationId xmlns:a16="http://schemas.microsoft.com/office/drawing/2014/main" id="{AFF3C748-BB82-449E-B568-206E31D7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171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7C5"/>
          </a:solidFill>
          <a:ln xmlns:a="http://schemas.openxmlformats.org/drawingml/2006/main" w="9525">
            <a:solidFill>
              <a:srgbClr val="2E8064"/>
            </a:solidFill>
            <a:prstDash val="solid"/>
          </a:ln>
        </p:spPr>
      </p:sp>
      <p:sp>
        <p:nvSpPr>
          <p:cNvPr id="30" name="module.prompt">
            <a:extLst xmlns:a="http://schemas.openxmlformats.org/drawingml/2006/main">
              <a:ext uri="{FF2B5EF4-FFF2-40B4-BE49-F238E27FC236}">
                <a16:creationId xmlns:a16="http://schemas.microsoft.com/office/drawing/2014/main" id="{632E9BD8-FAB3-4567-98BA-52E417E4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246" y="1924050"/>
            <a:ext cx="1397508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CE8DC"/>
          </a:solidFill>
          <a:ln xmlns:a="http://schemas.openxmlformats.org/drawingml/2006/main" w="16193">
            <a:solidFill>
              <a:srgbClr val="B768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Text prompt</a:t>
            </a:r>
          </a:p>
          <a:p xmlns:a="http://schemas.openxmlformats.org/drawingml/2006/main">
            <a:pPr algn="ctr"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Semantic guidance</a:t>
            </a:r>
          </a:p>
        </p:txBody>
      </p:sp>
      <p:cxnSp>
        <p:nvCxnSpPr>
          <p:cNvPr id="70" name="arrow.prompt-to-fusion"/>
          <p:cNvCxnSpPr>
            <a:stCxn xmlns:a="http://schemas.openxmlformats.org/drawingml/2006/main" id="3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6098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83A"/>
            </a:solidFill>
            <a:prstDash val="dash"/>
            <a:tailEnd type="arrow" w="med" len="med"/>
          </a:ln>
        </p:spPr>
      </p:cxnSp>
      <p:sp>
        <p:nvSpPr>
          <p:cNvPr id="32" name="callout.proposed">
            <a:extLst xmlns:a="http://schemas.openxmlformats.org/drawingml/2006/main">
              <a:ext uri="{FF2B5EF4-FFF2-40B4-BE49-F238E27FC236}">
                <a16:creationId xmlns:a16="http://schemas.microsoft.com/office/drawing/2014/main" id="{7BFCCFD0-F198-401D-8916-1E9AD8D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846" y="2724150"/>
            <a:ext cx="94030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8064"/>
                </a:solidFill>
              </a:defRPr>
            </a:pPr>
            <a:r>
              <a:rPr sz="900" b="1">
                <a:solidFill>
                  <a:srgbClr val="2E8064"/>
                </a:solidFill>
              </a:rPr>
              <a:t>PROPOSED</a:t>
            </a:r>
          </a:p>
        </p:txBody>
      </p:sp>
      <p:sp>
        <p:nvSpPr>
          <p:cNvPr id="33" name="legend.line.0">
            <a:extLst xmlns:a="http://schemas.openxmlformats.org/drawingml/2006/main">
              <a:ext uri="{FF2B5EF4-FFF2-40B4-BE49-F238E27FC236}">
                <a16:creationId xmlns:a16="http://schemas.microsoft.com/office/drawing/2014/main" id="{3C694457-FCF9-405C-8A08-6B560E0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482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2"/>
            </a:solidFill>
            <a:prstDash val="solid"/>
          </a:ln>
        </p:spPr>
      </p:sp>
      <p:sp>
        <p:nvSpPr>
          <p:cNvPr id="34" name="legend.label.0">
            <a:extLst xmlns:a="http://schemas.openxmlformats.org/drawingml/2006/main">
              <a:ext uri="{FF2B5EF4-FFF2-40B4-BE49-F238E27FC236}">
                <a16:creationId xmlns:a16="http://schemas.microsoft.com/office/drawing/2014/main" id="{6B87B049-2982-4DCB-8059-39B3746F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43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Main data path</a:t>
            </a:r>
          </a:p>
        </p:txBody>
      </p:sp>
      <p:sp>
        <p:nvSpPr>
          <p:cNvPr id="35" name="legend.line.1">
            <a:extLst xmlns:a="http://schemas.openxmlformats.org/drawingml/2006/main">
              <a:ext uri="{FF2B5EF4-FFF2-40B4-BE49-F238E27FC236}">
                <a16:creationId xmlns:a16="http://schemas.microsoft.com/office/drawing/2014/main" id="{1125C386-6F40-4328-9C34-62697CB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482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683A"/>
            </a:solidFill>
            <a:prstDash val="dash"/>
          </a:ln>
        </p:spPr>
      </p:sp>
      <p:sp>
        <p:nvSpPr>
          <p:cNvPr id="36" name="legend.label.1">
            <a:extLst xmlns:a="http://schemas.openxmlformats.org/drawingml/2006/main">
              <a:ext uri="{FF2B5EF4-FFF2-40B4-BE49-F238E27FC236}">
                <a16:creationId xmlns:a16="http://schemas.microsoft.com/office/drawing/2014/main" id="{7181CD23-7E36-4B38-B7A5-1D031F7A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43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Auxiliary guidance</a:t>
            </a:r>
          </a:p>
        </p:txBody>
      </p:sp>
      <p:sp>
        <p:nvSpPr>
          <p:cNvPr id="37" name="legend.line.2">
            <a:extLst xmlns:a="http://schemas.openxmlformats.org/drawingml/2006/main">
              <a:ext uri="{FF2B5EF4-FFF2-40B4-BE49-F238E27FC236}">
                <a16:creationId xmlns:a16="http://schemas.microsoft.com/office/drawing/2014/main" id="{6F421A58-1003-4ED5-B28C-38D5E07B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482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064"/>
            </a:solidFill>
            <a:prstDash val="solid"/>
          </a:ln>
        </p:spPr>
      </p:sp>
      <p:sp>
        <p:nvSpPr>
          <p:cNvPr id="38" name="legend.label.2">
            <a:extLst xmlns:a="http://schemas.openxmlformats.org/drawingml/2006/main">
              <a:ext uri="{FF2B5EF4-FFF2-40B4-BE49-F238E27FC236}">
                <a16:creationId xmlns:a16="http://schemas.microsoft.com/office/drawing/2014/main" id="{6C545B50-728C-422A-9FE6-B986E68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Proposed module</a:t>
            </a:r>
          </a:p>
        </p:txBody>
      </p:sp>
      <p:sp>
        <p:nvSpPr>
          <p:cNvPr id="39" name="figure.caption">
            <a:extLst xmlns:a="http://schemas.openxmlformats.org/drawingml/2006/main">
              <a:ext uri="{FF2B5EF4-FFF2-40B4-BE49-F238E27FC236}">
                <a16:creationId xmlns:a16="http://schemas.microsoft.com/office/drawing/2014/main" id="{4F815224-ABFF-449F-85F8-94044352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62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2"/>
                </a:solidFill>
              </a:defRPr>
            </a:pPr>
            <a:r>
              <a:rPr sz="1125" b="0">
                <a:solidFill>
                  <a:srgbClr val="647482"/>
                </a:solidFill>
              </a:rPr>
              <a:t>Figure concept: hierarchical visual features are aligned with a text prompt before task-specific decoding.</a:t>
            </a:r>
          </a:p>
        </p:txBody>
      </p:sp>
    </p:spTree>
    <p:extLst>
      <p:ext uri="{BB962C8B-B14F-4D97-AF65-F5344CB8AC3E}">
        <p14:creationId xmlns:p14="http://schemas.microsoft.com/office/powerpoint/2010/main" val="1702978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abel.role.components">
            <a:extLst xmlns:a="http://schemas.openxmlformats.org/drawingml/2006/main">
              <a:ext uri="{FF2B5EF4-FFF2-40B4-BE49-F238E27FC236}">
                <a16:creationId xmlns:a16="http://schemas.microsoft.com/office/drawing/2014/main" id="{1D371038-6FDF-4F1F-922B-22B8428F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064"/>
                </a:solidFill>
              </a:defRPr>
            </a:pPr>
            <a:r>
              <a:rPr sz="975" b="1">
                <a:solidFill>
                  <a:srgbClr val="2E8064"/>
                </a:solidFill>
              </a:rPr>
              <a:t>COMPONENTS</a:t>
            </a:r>
          </a:p>
        </p:txBody>
      </p:sp>
      <p:sp>
        <p:nvSpPr>
          <p:cNvPr id="2" name="label.title.components">
            <a:extLst xmlns:a="http://schemas.openxmlformats.org/drawingml/2006/main">
              <a:ext uri="{FF2B5EF4-FFF2-40B4-BE49-F238E27FC236}">
                <a16:creationId xmlns:a16="http://schemas.microsoft.com/office/drawing/2014/main" id="{04C70689-0D60-4291-A0DF-0DB17EED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042"/>
                </a:solidFill>
              </a:defRPr>
            </a:pPr>
            <a:r>
              <a:rPr sz="2700" b="1">
                <a:solidFill>
                  <a:srgbClr val="173042"/>
                </a:solidFill>
              </a:rPr>
              <a:t>Reusable elements stay editable on a dedicated page</a:t>
            </a:r>
          </a:p>
        </p:txBody>
      </p:sp>
      <p:sp>
        <p:nvSpPr>
          <p:cNvPr id="3" name="label.subtitle.components">
            <a:extLst xmlns:a="http://schemas.openxmlformats.org/drawingml/2006/main">
              <a:ext uri="{FF2B5EF4-FFF2-40B4-BE49-F238E27FC236}">
                <a16:creationId xmlns:a16="http://schemas.microsoft.com/office/drawing/2014/main" id="{40D85AFC-4EBD-4C32-83A9-CF6CCE72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2"/>
                </a:solidFill>
              </a:defRPr>
            </a:pPr>
            <a:r>
              <a:rPr sz="1275" b="0">
                <a:solidFill>
                  <a:srgbClr val="647482"/>
                </a:solidFill>
              </a:rPr>
              <a:t>Copy these native shapes into future figures and keep their semantic object names.</a:t>
            </a:r>
          </a:p>
        </p:txBody>
      </p:sp>
      <p:sp>
        <p:nvSpPr>
          <p:cNvPr id="4" name="rule.components">
            <a:extLst xmlns:a="http://schemas.openxmlformats.org/drawingml/2006/main">
              <a:ext uri="{FF2B5EF4-FFF2-40B4-BE49-F238E27FC236}">
                <a16:creationId xmlns:a16="http://schemas.microsoft.com/office/drawing/2014/main" id="{243B5A00-404A-46A1-9CA3-8112EC26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" name="module.component-0">
            <a:extLst xmlns:a="http://schemas.openxmlformats.org/drawingml/2006/main">
              <a:ext uri="{FF2B5EF4-FFF2-40B4-BE49-F238E27FC236}">
                <a16:creationId xmlns:a16="http://schemas.microsoft.com/office/drawing/2014/main" id="{EFBFB2E3-1F58-414F-BA0B-FFCC6122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6193">
            <a:solidFill>
              <a:srgbClr val="3979A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</a:defRPr>
            </a:pPr>
            <a:r>
              <a:rPr sz="1500" b="1">
                <a:solidFill>
                  <a:srgbClr val="173042"/>
                </a:solidFill>
              </a:rPr>
              <a:t>Feature pyramid</a:t>
            </a:r>
          </a:p>
        </p:txBody>
      </p:sp>
      <p:sp>
        <p:nvSpPr>
          <p:cNvPr id="6" name="component.feature.0">
            <a:extLst xmlns:a="http://schemas.openxmlformats.org/drawingml/2006/main">
              <a:ext uri="{FF2B5EF4-FFF2-40B4-BE49-F238E27FC236}">
                <a16:creationId xmlns:a16="http://schemas.microsoft.com/office/drawing/2014/main" id="{8B99113A-9AA3-47EF-8C3F-88CF4AC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43250"/>
            <a:ext cx="266700" cy="323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FB4D6"/>
          </a:solidFill>
          <a:ln xmlns:a="http://schemas.openxmlformats.org/drawingml/2006/main" w="9525">
            <a:solidFill>
              <a:srgbClr val="3979A8"/>
            </a:solidFill>
            <a:prstDash val="solid"/>
          </a:ln>
        </p:spPr>
      </p:sp>
      <p:sp>
        <p:nvSpPr>
          <p:cNvPr id="7" name="component.feature.1">
            <a:extLst xmlns:a="http://schemas.openxmlformats.org/drawingml/2006/main">
              <a:ext uri="{FF2B5EF4-FFF2-40B4-BE49-F238E27FC236}">
                <a16:creationId xmlns:a16="http://schemas.microsoft.com/office/drawing/2014/main" id="{431F2015-B413-4579-BE45-1E65E8B6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28950"/>
            <a:ext cx="266700" cy="438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FB4D6"/>
          </a:solidFill>
          <a:ln xmlns:a="http://schemas.openxmlformats.org/drawingml/2006/main" w="9525">
            <a:solidFill>
              <a:srgbClr val="3979A8"/>
            </a:solidFill>
            <a:prstDash val="solid"/>
          </a:ln>
        </p:spPr>
      </p:sp>
      <p:sp>
        <p:nvSpPr>
          <p:cNvPr id="8" name="component.feature.2">
            <a:extLst xmlns:a="http://schemas.openxmlformats.org/drawingml/2006/main">
              <a:ext uri="{FF2B5EF4-FFF2-40B4-BE49-F238E27FC236}">
                <a16:creationId xmlns:a16="http://schemas.microsoft.com/office/drawing/2014/main" id="{828EE865-7F79-4B46-B26E-8FE14F5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914650"/>
            <a:ext cx="266700" cy="552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FB4D6"/>
          </a:solidFill>
          <a:ln xmlns:a="http://schemas.openxmlformats.org/drawingml/2006/main" w="9525">
            <a:solidFill>
              <a:srgbClr val="3979A8"/>
            </a:solidFill>
            <a:prstDash val="solid"/>
          </a:ln>
        </p:spPr>
      </p:sp>
      <p:sp>
        <p:nvSpPr>
          <p:cNvPr id="9" name="component.feature.3">
            <a:extLst xmlns:a="http://schemas.openxmlformats.org/drawingml/2006/main">
              <a:ext uri="{FF2B5EF4-FFF2-40B4-BE49-F238E27FC236}">
                <a16:creationId xmlns:a16="http://schemas.microsoft.com/office/drawing/2014/main" id="{2BC3F8A3-AB3E-44D0-BCB7-CFE35B53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00350"/>
            <a:ext cx="2667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FB4D6"/>
          </a:solidFill>
          <a:ln xmlns:a="http://schemas.openxmlformats.org/drawingml/2006/main" w="9525">
            <a:solidFill>
              <a:srgbClr val="3979A8"/>
            </a:solidFill>
            <a:prstDash val="solid"/>
          </a:ln>
        </p:spPr>
      </p:sp>
      <p:sp>
        <p:nvSpPr>
          <p:cNvPr id="10" name="component.0.hint">
            <a:extLst xmlns:a="http://schemas.openxmlformats.org/drawingml/2006/main">
              <a:ext uri="{FF2B5EF4-FFF2-40B4-BE49-F238E27FC236}">
                <a16:creationId xmlns:a16="http://schemas.microsoft.com/office/drawing/2014/main" id="{6883C3F6-96CF-418E-B1FB-8C965332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repeated scales</a:t>
            </a:r>
          </a:p>
        </p:txBody>
      </p:sp>
      <p:sp>
        <p:nvSpPr>
          <p:cNvPr id="11" name="module.component-1">
            <a:extLst xmlns:a="http://schemas.openxmlformats.org/drawingml/2006/main">
              <a:ext uri="{FF2B5EF4-FFF2-40B4-BE49-F238E27FC236}">
                <a16:creationId xmlns:a16="http://schemas.microsoft.com/office/drawing/2014/main" id="{CA8C31A5-BF65-4C6D-93AB-28A5C0B6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23813">
            <a:solidFill>
              <a:srgbClr val="2E806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</a:defRPr>
            </a:pPr>
            <a:r>
              <a:rPr sz="1500" b="1">
                <a:solidFill>
                  <a:srgbClr val="173042"/>
                </a:solidFill>
              </a:rPr>
              <a:t>Attention fusion</a:t>
            </a:r>
          </a:p>
        </p:txBody>
      </p:sp>
      <p:sp>
        <p:nvSpPr>
          <p:cNvPr id="12" name="component.token.0">
            <a:extLst xmlns:a="http://schemas.openxmlformats.org/drawingml/2006/main">
              <a:ext uri="{FF2B5EF4-FFF2-40B4-BE49-F238E27FC236}">
                <a16:creationId xmlns:a16="http://schemas.microsoft.com/office/drawing/2014/main" id="{B50B0A55-E576-49AA-98E8-6A92E0BB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D0"/>
          </a:solidFill>
          <a:ln xmlns:a="http://schemas.openxmlformats.org/drawingml/2006/main" w="9525">
            <a:solidFill>
              <a:srgbClr val="2E8064"/>
            </a:solidFill>
            <a:prstDash val="solid"/>
          </a:ln>
        </p:spPr>
      </p:sp>
      <p:sp>
        <p:nvSpPr>
          <p:cNvPr id="13" name="component.token.1">
            <a:extLst xmlns:a="http://schemas.openxmlformats.org/drawingml/2006/main">
              <a:ext uri="{FF2B5EF4-FFF2-40B4-BE49-F238E27FC236}">
                <a16:creationId xmlns:a16="http://schemas.microsoft.com/office/drawing/2014/main" id="{CBBD22E6-228D-4483-AD45-DC4AEB8E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D0"/>
          </a:solidFill>
          <a:ln xmlns:a="http://schemas.openxmlformats.org/drawingml/2006/main" w="9525">
            <a:solidFill>
              <a:srgbClr val="2E8064"/>
            </a:solidFill>
            <a:prstDash val="solid"/>
          </a:ln>
        </p:spPr>
      </p:sp>
      <p:sp>
        <p:nvSpPr>
          <p:cNvPr id="14" name="component.token.2">
            <a:extLst xmlns:a="http://schemas.openxmlformats.org/drawingml/2006/main">
              <a:ext uri="{FF2B5EF4-FFF2-40B4-BE49-F238E27FC236}">
                <a16:creationId xmlns:a16="http://schemas.microsoft.com/office/drawing/2014/main" id="{196B195B-8486-409F-8CC0-E4C5DF2A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A88C"/>
          </a:solidFill>
          <a:ln xmlns:a="http://schemas.openxmlformats.org/drawingml/2006/main" w="9525">
            <a:solidFill>
              <a:srgbClr val="2E8064"/>
            </a:solidFill>
            <a:prstDash val="solid"/>
          </a:ln>
        </p:spPr>
      </p:sp>
      <p:sp>
        <p:nvSpPr>
          <p:cNvPr id="15" name="component.token.3">
            <a:extLst xmlns:a="http://schemas.openxmlformats.org/drawingml/2006/main">
              <a:ext uri="{FF2B5EF4-FFF2-40B4-BE49-F238E27FC236}">
                <a16:creationId xmlns:a16="http://schemas.microsoft.com/office/drawing/2014/main" id="{CC448B18-7B3A-440F-AF48-9CBBE143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D0"/>
          </a:solidFill>
          <a:ln xmlns:a="http://schemas.openxmlformats.org/drawingml/2006/main" w="9525">
            <a:solidFill>
              <a:srgbClr val="2E8064"/>
            </a:solidFill>
            <a:prstDash val="solid"/>
          </a:ln>
        </p:spPr>
      </p:sp>
      <p:sp>
        <p:nvSpPr>
          <p:cNvPr id="16" name="component.token.4">
            <a:extLst xmlns:a="http://schemas.openxmlformats.org/drawingml/2006/main">
              <a:ext uri="{FF2B5EF4-FFF2-40B4-BE49-F238E27FC236}">
                <a16:creationId xmlns:a16="http://schemas.microsoft.com/office/drawing/2014/main" id="{A167EEB6-BFB5-4915-926E-572E43AA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D0"/>
          </a:solidFill>
          <a:ln xmlns:a="http://schemas.openxmlformats.org/drawingml/2006/main" w="9525">
            <a:solidFill>
              <a:srgbClr val="2E8064"/>
            </a:solidFill>
            <a:prstDash val="solid"/>
          </a:ln>
        </p:spPr>
      </p:sp>
      <p:sp>
        <p:nvSpPr>
          <p:cNvPr id="17" name="component.1.hint">
            <a:extLst xmlns:a="http://schemas.openxmlformats.org/drawingml/2006/main">
              <a:ext uri="{FF2B5EF4-FFF2-40B4-BE49-F238E27FC236}">
                <a16:creationId xmlns:a16="http://schemas.microsoft.com/office/drawing/2014/main" id="{F232566E-F2DE-4725-975A-A2712E95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481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token interaction</a:t>
            </a:r>
          </a:p>
        </p:txBody>
      </p:sp>
      <p:sp>
        <p:nvSpPr>
          <p:cNvPr id="18" name="module.component-2">
            <a:extLst xmlns:a="http://schemas.openxmlformats.org/drawingml/2006/main">
              <a:ext uri="{FF2B5EF4-FFF2-40B4-BE49-F238E27FC236}">
                <a16:creationId xmlns:a16="http://schemas.microsoft.com/office/drawing/2014/main" id="{CC4DC660-5332-40C3-AE12-8464796E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CE8DC"/>
          </a:solidFill>
          <a:ln xmlns:a="http://schemas.openxmlformats.org/drawingml/2006/main" w="16193">
            <a:solidFill>
              <a:srgbClr val="B768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</a:defRPr>
            </a:pPr>
            <a:r>
              <a:rPr sz="1500" b="1">
                <a:solidFill>
                  <a:srgbClr val="173042"/>
                </a:solidFill>
              </a:rPr>
              <a:t>Auxiliary prompt</a:t>
            </a:r>
          </a:p>
        </p:txBody>
      </p:sp>
      <p:sp>
        <p:nvSpPr>
          <p:cNvPr id="19" name="component.prompt.text">
            <a:extLst xmlns:a="http://schemas.openxmlformats.org/drawingml/2006/main">
              <a:ext uri="{FF2B5EF4-FFF2-40B4-BE49-F238E27FC236}">
                <a16:creationId xmlns:a16="http://schemas.microsoft.com/office/drawing/2014/main" id="{4B084B8F-F6F7-47D9-8CFE-0B1C3510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48000"/>
            <a:ext cx="72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7683A"/>
                </a:solidFill>
              </a:defRPr>
            </a:pPr>
            <a:r>
              <a:rPr sz="3300" b="1">
                <a:solidFill>
                  <a:srgbClr val="B7683A"/>
                </a:solidFill>
              </a:rPr>
              <a:t>T</a:t>
            </a:r>
          </a:p>
        </p:txBody>
      </p:sp>
      <p:sp>
        <p:nvSpPr>
          <p:cNvPr id="20" name="component.2.hint">
            <a:extLst xmlns:a="http://schemas.openxmlformats.org/drawingml/2006/main">
              <a:ext uri="{FF2B5EF4-FFF2-40B4-BE49-F238E27FC236}">
                <a16:creationId xmlns:a16="http://schemas.microsoft.com/office/drawing/2014/main" id="{21213A65-23D8-4A53-AB10-2FFF081B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semantic signal</a:t>
            </a:r>
          </a:p>
        </p:txBody>
      </p:sp>
      <p:sp>
        <p:nvSpPr>
          <p:cNvPr id="21" name="module.component-3">
            <a:extLst xmlns:a="http://schemas.openxmlformats.org/drawingml/2006/main">
              <a:ext uri="{FF2B5EF4-FFF2-40B4-BE49-F238E27FC236}">
                <a16:creationId xmlns:a16="http://schemas.microsoft.com/office/drawing/2014/main" id="{2F89D70A-6CAF-4716-A1D0-B93AABEA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EEE7F7"/>
          </a:solidFill>
          <a:ln xmlns:a="http://schemas.openxmlformats.org/drawingml/2006/main" w="16193">
            <a:solidFill>
              <a:srgbClr val="72539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42"/>
                </a:solidFill>
              </a:defRPr>
            </a:pPr>
            <a:r>
              <a:rPr sz="1500" b="1">
                <a:solidFill>
                  <a:srgbClr val="173042"/>
                </a:solidFill>
              </a:rPr>
              <a:t>Dense output</a:t>
            </a:r>
          </a:p>
        </p:txBody>
      </p:sp>
      <p:sp>
        <p:nvSpPr>
          <p:cNvPr id="22" name="component.output.0.0">
            <a:extLst xmlns:a="http://schemas.openxmlformats.org/drawingml/2006/main">
              <a:ext uri="{FF2B5EF4-FFF2-40B4-BE49-F238E27FC236}">
                <a16:creationId xmlns:a16="http://schemas.microsoft.com/office/drawing/2014/main" id="{61FCB48F-52D1-4D8E-BB1D-179060AC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241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B82BA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23" name="component.output.0.1">
            <a:extLst xmlns:a="http://schemas.openxmlformats.org/drawingml/2006/main">
              <a:ext uri="{FF2B5EF4-FFF2-40B4-BE49-F238E27FC236}">
                <a16:creationId xmlns:a16="http://schemas.microsoft.com/office/drawing/2014/main" id="{6F0147D0-1F33-445F-9A3C-B429CB6F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241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24" name="component.output.0.2">
            <a:extLst xmlns:a="http://schemas.openxmlformats.org/drawingml/2006/main">
              <a:ext uri="{FF2B5EF4-FFF2-40B4-BE49-F238E27FC236}">
                <a16:creationId xmlns:a16="http://schemas.microsoft.com/office/drawing/2014/main" id="{149CDEBC-DC21-4E8E-B677-09F0311F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241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25" name="component.output.0.3">
            <a:extLst xmlns:a="http://schemas.openxmlformats.org/drawingml/2006/main">
              <a:ext uri="{FF2B5EF4-FFF2-40B4-BE49-F238E27FC236}">
                <a16:creationId xmlns:a16="http://schemas.microsoft.com/office/drawing/2014/main" id="{A11CF8B6-BA1B-4B6E-8856-8AB25332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241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B82BA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26" name="component.output.1.0">
            <a:extLst xmlns:a="http://schemas.openxmlformats.org/drawingml/2006/main">
              <a:ext uri="{FF2B5EF4-FFF2-40B4-BE49-F238E27FC236}">
                <a16:creationId xmlns:a16="http://schemas.microsoft.com/office/drawing/2014/main" id="{5AA33BCD-0A68-44B4-B9D9-5D6708B3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908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27" name="component.output.1.1">
            <a:extLst xmlns:a="http://schemas.openxmlformats.org/drawingml/2006/main">
              <a:ext uri="{FF2B5EF4-FFF2-40B4-BE49-F238E27FC236}">
                <a16:creationId xmlns:a16="http://schemas.microsoft.com/office/drawing/2014/main" id="{4EB19BCA-86B6-422A-8187-12E7E9F1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908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28" name="component.output.1.2">
            <a:extLst xmlns:a="http://schemas.openxmlformats.org/drawingml/2006/main">
              <a:ext uri="{FF2B5EF4-FFF2-40B4-BE49-F238E27FC236}">
                <a16:creationId xmlns:a16="http://schemas.microsoft.com/office/drawing/2014/main" id="{15070B35-B3A5-4C50-BED4-1021CA4A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908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B82BA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29" name="component.output.1.3">
            <a:extLst xmlns:a="http://schemas.openxmlformats.org/drawingml/2006/main">
              <a:ext uri="{FF2B5EF4-FFF2-40B4-BE49-F238E27FC236}">
                <a16:creationId xmlns:a16="http://schemas.microsoft.com/office/drawing/2014/main" id="{56B40FCC-FB22-46FE-91CD-69F9B135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1908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0" name="component.output.2.0">
            <a:extLst xmlns:a="http://schemas.openxmlformats.org/drawingml/2006/main">
              <a:ext uri="{FF2B5EF4-FFF2-40B4-BE49-F238E27FC236}">
                <a16:creationId xmlns:a16="http://schemas.microsoft.com/office/drawing/2014/main" id="{4D005962-A9A9-4DDC-B3F8-7D28495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4575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1" name="component.output.2.1">
            <a:extLst xmlns:a="http://schemas.openxmlformats.org/drawingml/2006/main">
              <a:ext uri="{FF2B5EF4-FFF2-40B4-BE49-F238E27FC236}">
                <a16:creationId xmlns:a16="http://schemas.microsoft.com/office/drawing/2014/main" id="{F58DC467-92CC-4B34-8915-225868CE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575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B82BA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2" name="component.output.2.2">
            <a:extLst xmlns:a="http://schemas.openxmlformats.org/drawingml/2006/main">
              <a:ext uri="{FF2B5EF4-FFF2-40B4-BE49-F238E27FC236}">
                <a16:creationId xmlns:a16="http://schemas.microsoft.com/office/drawing/2014/main" id="{E2238F9F-6806-406D-A6C8-C88D3079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4575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3" name="component.output.2.3">
            <a:extLst xmlns:a="http://schemas.openxmlformats.org/drawingml/2006/main">
              <a:ext uri="{FF2B5EF4-FFF2-40B4-BE49-F238E27FC236}">
                <a16:creationId xmlns:a16="http://schemas.microsoft.com/office/drawing/2014/main" id="{837B5613-6B50-4EA7-A84A-65870B01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4575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4" name="component.output.3.0">
            <a:extLst xmlns:a="http://schemas.openxmlformats.org/drawingml/2006/main">
              <a:ext uri="{FF2B5EF4-FFF2-40B4-BE49-F238E27FC236}">
                <a16:creationId xmlns:a16="http://schemas.microsoft.com/office/drawing/2014/main" id="{95A44802-8680-43D1-8F68-E41BC154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242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B82BA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5" name="component.output.3.1">
            <a:extLst xmlns:a="http://schemas.openxmlformats.org/drawingml/2006/main">
              <a:ext uri="{FF2B5EF4-FFF2-40B4-BE49-F238E27FC236}">
                <a16:creationId xmlns:a16="http://schemas.microsoft.com/office/drawing/2014/main" id="{23EC1091-0918-498F-A705-D3C6D10A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7242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6" name="component.output.3.2">
            <a:extLst xmlns:a="http://schemas.openxmlformats.org/drawingml/2006/main">
              <a:ext uri="{FF2B5EF4-FFF2-40B4-BE49-F238E27FC236}">
                <a16:creationId xmlns:a16="http://schemas.microsoft.com/office/drawing/2014/main" id="{72C3CC95-9C46-4861-9F19-4A36AD01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7242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CAE7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7" name="component.output.3.3">
            <a:extLst xmlns:a="http://schemas.openxmlformats.org/drawingml/2006/main">
              <a:ext uri="{FF2B5EF4-FFF2-40B4-BE49-F238E27FC236}">
                <a16:creationId xmlns:a16="http://schemas.microsoft.com/office/drawing/2014/main" id="{E41F451E-7371-49C2-94E4-49F5A4E6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724275"/>
            <a:ext cx="2286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B82BA"/>
          </a:solidFill>
          <a:ln xmlns:a="http://schemas.openxmlformats.org/drawingml/2006/main" w="5715">
            <a:solidFill>
              <a:srgbClr val="72539A"/>
            </a:solidFill>
            <a:prstDash val="solid"/>
          </a:ln>
        </p:spPr>
      </p:sp>
      <p:sp>
        <p:nvSpPr>
          <p:cNvPr id="38" name="component.3.hint">
            <a:extLst xmlns:a="http://schemas.openxmlformats.org/drawingml/2006/main">
              <a:ext uri="{FF2B5EF4-FFF2-40B4-BE49-F238E27FC236}">
                <a16:creationId xmlns:a16="http://schemas.microsoft.com/office/drawing/2014/main" id="{23DF6D4C-0A9C-4AAA-A461-FA52532F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481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2"/>
                </a:solidFill>
              </a:defRPr>
            </a:pPr>
            <a:r>
              <a:rPr sz="1050" b="0">
                <a:solidFill>
                  <a:srgbClr val="647482"/>
                </a:solidFill>
              </a:rPr>
              <a:t>pixel-wise result</a:t>
            </a:r>
          </a:p>
        </p:txBody>
      </p:sp>
      <p:sp>
        <p:nvSpPr>
          <p:cNvPr id="39" name="component.footer">
            <a:extLst xmlns:a="http://schemas.openxmlformats.org/drawingml/2006/main">
              <a:ext uri="{FF2B5EF4-FFF2-40B4-BE49-F238E27FC236}">
                <a16:creationId xmlns:a16="http://schemas.microsoft.com/office/drawing/2014/main" id="{AC0000BB-0C47-4268-BBAD-623BA5DA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2"/>
                </a:solidFill>
              </a:defRPr>
            </a:pPr>
            <a:r>
              <a:rPr sz="1200" b="0">
                <a:solidFill>
                  <a:srgbClr val="647482"/>
                </a:solidFill>
              </a:rPr>
              <a:t>Component pages are working material; only the FINAL or EXPORT page should enter the paper.</a:t>
            </a:r>
          </a:p>
        </p:txBody>
      </p:sp>
    </p:spTree>
    <p:extLst>
      <p:ext uri="{BB962C8B-B14F-4D97-AF65-F5344CB8AC3E}">
        <p14:creationId xmlns:p14="http://schemas.microsoft.com/office/powerpoint/2010/main" val="1154268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2026-07-19T03:09:30.4470000Z</dcterms:created>
  <dcterms:modified xsi:type="dcterms:W3CDTF">2026-07-19T03:09:30.4480000Z</dcterms:modified>
</coreProperties>
</file>